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98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D365"/>
    <a:srgbClr val="AFE4FF"/>
    <a:srgbClr val="9FD6EF"/>
    <a:srgbClr val="3A19FF"/>
    <a:srgbClr val="907DFF"/>
    <a:srgbClr val="FFFF00"/>
    <a:srgbClr val="FFE38B"/>
    <a:srgbClr val="F9B859"/>
    <a:srgbClr val="166284"/>
    <a:srgbClr val="FFD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EF9922-BC24-4B77-854D-4ECDA931EC02}" v="40" dt="2025-08-05T04:56:35.7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43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11422-0C2E-42D7-924E-F365B5A34ABC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F34F1-DEEA-42FB-94CF-D519BE2E3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8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29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955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114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024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370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923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0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119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959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10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460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103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12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11" Type="http://schemas.openxmlformats.org/officeDocument/2006/relationships/oleObject" Target="../embeddings/oleObject2.bin"/><Relationship Id="rId10" Type="http://schemas.openxmlformats.org/officeDocument/2006/relationships/image" Target="../media/image21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DBDD4-CBC6-200E-1584-D4168B12F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B07179D-A794-D432-1AF5-D5CFEBAC5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854764"/>
              </p:ext>
            </p:extLst>
          </p:nvPr>
        </p:nvGraphicFramePr>
        <p:xfrm>
          <a:off x="2266217" y="4045272"/>
          <a:ext cx="1104369" cy="929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7459">
                  <a:extLst>
                    <a:ext uri="{9D8B030D-6E8A-4147-A177-3AD203B41FA5}">
                      <a16:colId xmlns:a16="http://schemas.microsoft.com/office/drawing/2014/main" val="1036565899"/>
                    </a:ext>
                  </a:extLst>
                </a:gridCol>
                <a:gridCol w="350317">
                  <a:extLst>
                    <a:ext uri="{9D8B030D-6E8A-4147-A177-3AD203B41FA5}">
                      <a16:colId xmlns:a16="http://schemas.microsoft.com/office/drawing/2014/main" val="1832300329"/>
                    </a:ext>
                  </a:extLst>
                </a:gridCol>
                <a:gridCol w="326593">
                  <a:extLst>
                    <a:ext uri="{9D8B030D-6E8A-4147-A177-3AD203B41FA5}">
                      <a16:colId xmlns:a16="http://schemas.microsoft.com/office/drawing/2014/main" val="1373664809"/>
                    </a:ext>
                  </a:extLst>
                </a:gridCol>
              </a:tblGrid>
              <a:tr h="175806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Trap profile [6], [9]</a:t>
                      </a:r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3176738"/>
                  </a:ext>
                </a:extLst>
              </a:tr>
              <a:tr h="1758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t, shallow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[eV]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166257"/>
                  </a:ext>
                </a:extLst>
              </a:tr>
              <a:tr h="1758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σ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shallow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[eV]</a:t>
                      </a:r>
                      <a:endParaRPr lang="ko-KR" altLang="en-US" sz="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089072"/>
                  </a:ext>
                </a:extLst>
              </a:tr>
              <a:tr h="1758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t, deep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[eV]</a:t>
                      </a:r>
                      <a:endParaRPr lang="ko-KR" altLang="en-US" sz="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031779"/>
                  </a:ext>
                </a:extLst>
              </a:tr>
              <a:tr h="1758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σ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deep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[eV]</a:t>
                      </a:r>
                      <a:endParaRPr lang="ko-KR" altLang="en-US" sz="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8129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C378BE0-AB87-BF55-F88E-896A136FAD82}"/>
              </a:ext>
            </a:extLst>
          </p:cNvPr>
          <p:cNvSpPr txBox="1"/>
          <p:nvPr/>
        </p:nvSpPr>
        <p:spPr>
          <a:xfrm>
            <a:off x="537719" y="1954523"/>
            <a:ext cx="3604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ko-KR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6" name="개체 65">
            <a:extLst>
              <a:ext uri="{FF2B5EF4-FFF2-40B4-BE49-F238E27FC236}">
                <a16:creationId xmlns:a16="http://schemas.microsoft.com/office/drawing/2014/main" id="{53425263-3E34-2652-799F-E0AC3F4F1E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808345"/>
              </p:ext>
            </p:extLst>
          </p:nvPr>
        </p:nvGraphicFramePr>
        <p:xfrm>
          <a:off x="665582" y="2132255"/>
          <a:ext cx="2740025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012550" imgH="2335684" progId="Origin50.Graph">
                  <p:embed/>
                </p:oleObj>
              </mc:Choice>
              <mc:Fallback>
                <p:oleObj name="Graph" r:id="rId2" imgW="6012550" imgH="2335684" progId="Origin50.Graph">
                  <p:embed/>
                  <p:pic>
                    <p:nvPicPr>
                      <p:cNvPr id="66" name="개체 65">
                        <a:extLst>
                          <a:ext uri="{FF2B5EF4-FFF2-40B4-BE49-F238E27FC236}">
                            <a16:creationId xmlns:a16="http://schemas.microsoft.com/office/drawing/2014/main" id="{53425263-3E34-2652-799F-E0AC3F4F1E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5582" y="2132255"/>
                        <a:ext cx="2740025" cy="1063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A2325B-9B44-51DF-304A-DB0DF2126C5A}"/>
                  </a:ext>
                </a:extLst>
              </p:cNvPr>
              <p:cNvSpPr txBox="1"/>
              <p:nvPr/>
            </p:nvSpPr>
            <p:spPr>
              <a:xfrm>
                <a:off x="1095523" y="2546011"/>
                <a:ext cx="1065102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  <m:r>
                      <a:rPr lang="en-US" altLang="ko-KR" sz="7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  <m:r>
                      <a:rPr lang="en-US" altLang="ko-KR" sz="7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7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7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e>
                        </m:d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</m:oMath>
                </a14:m>
                <a:r>
                  <a:rPr lang="ko-KR" altLang="en-US" sz="7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 panose="02020603050405020304" pitchFamily="18" charset="0"/>
                    <a:ea typeface="맑은 고딕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A2325B-9B44-51DF-304A-DB0DF2126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523" y="2546011"/>
                <a:ext cx="1065102" cy="20005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EF9A05-DF28-807E-52E7-393860474F16}"/>
                  </a:ext>
                </a:extLst>
              </p:cNvPr>
              <p:cNvSpPr txBox="1"/>
              <p:nvPr/>
            </p:nvSpPr>
            <p:spPr>
              <a:xfrm>
                <a:off x="2017744" y="2540322"/>
                <a:ext cx="110645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𝑊𝐿</m:t>
                        </m:r>
                      </m:sub>
                    </m:sSub>
                    <m:r>
                      <a:rPr lang="en-US" altLang="ko-KR" sz="7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𝑊𝐿</m:t>
                        </m:r>
                      </m:sub>
                    </m:sSub>
                    <m:r>
                      <a:rPr lang="en-US" altLang="ko-KR" sz="7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7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7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e>
                        </m:d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𝑊𝐿</m:t>
                        </m:r>
                      </m:sub>
                    </m:sSub>
                  </m:oMath>
                </a14:m>
                <a:r>
                  <a:rPr lang="ko-KR" altLang="en-US" sz="7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 panose="02020603050405020304" pitchFamily="18" charset="0"/>
                    <a:ea typeface="맑은 고딕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EF9A05-DF28-807E-52E7-393860474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744" y="2540322"/>
                <a:ext cx="1106459" cy="20005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곱하기 기호 11">
            <a:extLst>
              <a:ext uri="{FF2B5EF4-FFF2-40B4-BE49-F238E27FC236}">
                <a16:creationId xmlns:a16="http://schemas.microsoft.com/office/drawing/2014/main" id="{6E9F9247-568F-76BC-2660-6EFD3C8BAEA3}"/>
              </a:ext>
            </a:extLst>
          </p:cNvPr>
          <p:cNvSpPr/>
          <p:nvPr/>
        </p:nvSpPr>
        <p:spPr>
          <a:xfrm>
            <a:off x="1815675" y="2503836"/>
            <a:ext cx="108857" cy="108857"/>
          </a:xfrm>
          <a:prstGeom prst="mathMultiply">
            <a:avLst>
              <a:gd name="adj1" fmla="val 63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79F0D7C-4733-8E5B-F0E5-404856AC1543}"/>
              </a:ext>
            </a:extLst>
          </p:cNvPr>
          <p:cNvCxnSpPr>
            <a:cxnSpLocks/>
          </p:cNvCxnSpPr>
          <p:nvPr/>
        </p:nvCxnSpPr>
        <p:spPr>
          <a:xfrm flipH="1">
            <a:off x="1082974" y="2558264"/>
            <a:ext cx="732701" cy="0"/>
          </a:xfrm>
          <a:prstGeom prst="straightConnector1">
            <a:avLst/>
          </a:prstGeom>
          <a:ln w="9525">
            <a:solidFill>
              <a:schemeClr val="tx1"/>
            </a:solidFill>
            <a:prstDash val="sysDash"/>
            <a:headEnd w="sm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DC054B0-48B8-5D71-AABB-A023CF866E98}"/>
              </a:ext>
            </a:extLst>
          </p:cNvPr>
          <p:cNvCxnSpPr>
            <a:cxnSpLocks/>
          </p:cNvCxnSpPr>
          <p:nvPr/>
        </p:nvCxnSpPr>
        <p:spPr>
          <a:xfrm>
            <a:off x="1924532" y="2558264"/>
            <a:ext cx="1142516" cy="0"/>
          </a:xfrm>
          <a:prstGeom prst="straightConnector1">
            <a:avLst/>
          </a:prstGeom>
          <a:ln w="9525">
            <a:solidFill>
              <a:schemeClr val="tx1"/>
            </a:solidFill>
            <a:prstDash val="sysDash"/>
            <a:headEnd w="sm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C379FFB-9D70-842C-D59F-669976DC5C58}"/>
              </a:ext>
            </a:extLst>
          </p:cNvPr>
          <p:cNvSpPr txBox="1"/>
          <p:nvPr/>
        </p:nvSpPr>
        <p:spPr>
          <a:xfrm>
            <a:off x="537719" y="3113950"/>
            <a:ext cx="3604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ko-KR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26C588-7931-6050-311F-BE73C1337BB8}"/>
              </a:ext>
            </a:extLst>
          </p:cNvPr>
          <p:cNvSpPr txBox="1"/>
          <p:nvPr/>
        </p:nvSpPr>
        <p:spPr>
          <a:xfrm>
            <a:off x="537719" y="3829828"/>
            <a:ext cx="3604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ko-KR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ACF45BC-BADE-6AA3-27B0-1ADDD0B2D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365911"/>
              </p:ext>
            </p:extLst>
          </p:nvPr>
        </p:nvGraphicFramePr>
        <p:xfrm>
          <a:off x="684634" y="4048576"/>
          <a:ext cx="1489020" cy="929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3811">
                  <a:extLst>
                    <a:ext uri="{9D8B030D-6E8A-4147-A177-3AD203B41FA5}">
                      <a16:colId xmlns:a16="http://schemas.microsoft.com/office/drawing/2014/main" val="1036565899"/>
                    </a:ext>
                  </a:extLst>
                </a:gridCol>
                <a:gridCol w="656071">
                  <a:extLst>
                    <a:ext uri="{9D8B030D-6E8A-4147-A177-3AD203B41FA5}">
                      <a16:colId xmlns:a16="http://schemas.microsoft.com/office/drawing/2014/main" val="1832300329"/>
                    </a:ext>
                  </a:extLst>
                </a:gridCol>
                <a:gridCol w="479138">
                  <a:extLst>
                    <a:ext uri="{9D8B030D-6E8A-4147-A177-3AD203B41FA5}">
                      <a16:colId xmlns:a16="http://schemas.microsoft.com/office/drawing/2014/main" val="1373664809"/>
                    </a:ext>
                  </a:extLst>
                </a:gridCol>
              </a:tblGrid>
              <a:tr h="157897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TCAD parameter deck</a:t>
                      </a:r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443854"/>
                  </a:ext>
                </a:extLst>
              </a:tr>
              <a:tr h="1578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CTN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 [8]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[cm</a:t>
                      </a:r>
                      <a:r>
                        <a:rPr lang="en-US" altLang="ko-KR" sz="6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/V·s]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166257"/>
                  </a:ext>
                </a:extLst>
              </a:tr>
              <a:tr h="1578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σ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1e-16 [8]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</a:t>
                      </a:r>
                      <a:r>
                        <a:rPr lang="en-US" altLang="ko-KR" sz="6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ko-KR" sz="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ko-KR" altLang="en-US" sz="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089072"/>
                  </a:ext>
                </a:extLst>
              </a:tr>
              <a:tr h="1578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/N/O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3.9/7.5/3.9ε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ko-KR" sz="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[9]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[F/cm]</a:t>
                      </a:r>
                      <a:endParaRPr lang="ko-KR" altLang="en-US" sz="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031779"/>
                  </a:ext>
                </a:extLst>
              </a:tr>
              <a:tr h="1578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/N/O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3/6/8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[nm]</a:t>
                      </a:r>
                      <a:endParaRPr lang="ko-KR" altLang="en-US" sz="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812994"/>
                  </a:ext>
                </a:extLst>
              </a:tr>
            </a:tbl>
          </a:graphicData>
        </a:graphic>
      </p:graphicFrame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E2A6348E-CC66-FD55-6822-45DFE19DF298}"/>
              </a:ext>
            </a:extLst>
          </p:cNvPr>
          <p:cNvCxnSpPr>
            <a:cxnSpLocks/>
          </p:cNvCxnSpPr>
          <p:nvPr/>
        </p:nvCxnSpPr>
        <p:spPr>
          <a:xfrm>
            <a:off x="1063649" y="2351620"/>
            <a:ext cx="0" cy="382939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8FD74A8-D3CD-2A79-AD7D-E87064AD8C20}"/>
              </a:ext>
            </a:extLst>
          </p:cNvPr>
          <p:cNvCxnSpPr>
            <a:cxnSpLocks/>
          </p:cNvCxnSpPr>
          <p:nvPr/>
        </p:nvCxnSpPr>
        <p:spPr>
          <a:xfrm>
            <a:off x="3106612" y="2405065"/>
            <a:ext cx="0" cy="434870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4DB7892-606B-23B0-25E8-E57A8215B213}"/>
              </a:ext>
            </a:extLst>
          </p:cNvPr>
          <p:cNvCxnSpPr>
            <a:cxnSpLocks/>
          </p:cNvCxnSpPr>
          <p:nvPr/>
        </p:nvCxnSpPr>
        <p:spPr>
          <a:xfrm>
            <a:off x="1505637" y="2307433"/>
            <a:ext cx="0" cy="148963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9A03444-22CB-4B90-A6E7-22F01708330C}"/>
              </a:ext>
            </a:extLst>
          </p:cNvPr>
          <p:cNvSpPr txBox="1"/>
          <p:nvPr/>
        </p:nvSpPr>
        <p:spPr>
          <a:xfrm rot="16200000">
            <a:off x="733194" y="2398086"/>
            <a:ext cx="5031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3.1 eV</a:t>
            </a:r>
            <a:endParaRPr lang="ko-KR" altLang="en-US" sz="800" baseline="-25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0A344F-31CB-1F32-D3DE-B161F56FC8F9}"/>
              </a:ext>
            </a:extLst>
          </p:cNvPr>
          <p:cNvSpPr txBox="1"/>
          <p:nvPr/>
        </p:nvSpPr>
        <p:spPr>
          <a:xfrm>
            <a:off x="1454008" y="2260422"/>
            <a:ext cx="5031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1.0 eV</a:t>
            </a:r>
            <a:endParaRPr lang="ko-KR" altLang="en-US" sz="800" baseline="-25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09DF42-9093-A1A1-9D3A-322A34369849}"/>
              </a:ext>
            </a:extLst>
          </p:cNvPr>
          <p:cNvSpPr txBox="1"/>
          <p:nvPr/>
        </p:nvSpPr>
        <p:spPr>
          <a:xfrm rot="16200000">
            <a:off x="2914342" y="2506678"/>
            <a:ext cx="5709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3.65 eV</a:t>
            </a:r>
            <a:endParaRPr lang="ko-KR" altLang="en-US" sz="800" baseline="-25000" dirty="0"/>
          </a:p>
        </p:txBody>
      </p:sp>
      <p:graphicFrame>
        <p:nvGraphicFramePr>
          <p:cNvPr id="34" name="개체 33">
            <a:extLst>
              <a:ext uri="{FF2B5EF4-FFF2-40B4-BE49-F238E27FC236}">
                <a16:creationId xmlns:a16="http://schemas.microsoft.com/office/drawing/2014/main" id="{32DB6798-4516-1212-D064-B5BCCDF489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8533916"/>
              </p:ext>
            </p:extLst>
          </p:nvPr>
        </p:nvGraphicFramePr>
        <p:xfrm>
          <a:off x="676202" y="3105282"/>
          <a:ext cx="939996" cy="838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1" imgW="2032395" imgH="1812415" progId="Origin50.Graph">
                  <p:embed/>
                </p:oleObj>
              </mc:Choice>
              <mc:Fallback>
                <p:oleObj name="Graph" r:id="rId11" imgW="2032395" imgH="1812415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6202" y="3105282"/>
                        <a:ext cx="939996" cy="8386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D7A2743-1EB3-7279-A55E-50E052EECFF4}"/>
              </a:ext>
            </a:extLst>
          </p:cNvPr>
          <p:cNvCxnSpPr>
            <a:cxnSpLocks/>
          </p:cNvCxnSpPr>
          <p:nvPr/>
        </p:nvCxnSpPr>
        <p:spPr>
          <a:xfrm>
            <a:off x="684634" y="3801330"/>
            <a:ext cx="8210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23994BD-F94A-7C41-450E-EBDF18DFB03C}"/>
              </a:ext>
            </a:extLst>
          </p:cNvPr>
          <p:cNvSpPr txBox="1"/>
          <p:nvPr/>
        </p:nvSpPr>
        <p:spPr>
          <a:xfrm>
            <a:off x="1254634" y="3660781"/>
            <a:ext cx="721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700" b="1" dirty="0" err="1"/>
              <a:t>n</a:t>
            </a:r>
            <a:r>
              <a:rPr lang="en-US" altLang="ko-KR" sz="700" b="1" baseline="-25000" dirty="0" err="1"/>
              <a:t>t</a:t>
            </a:r>
            <a:endParaRPr lang="ko-KR" altLang="en-US" sz="700" b="1" baseline="-25000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A2D6978-618F-27AB-667E-497F46FCFAD5}"/>
              </a:ext>
            </a:extLst>
          </p:cNvPr>
          <p:cNvCxnSpPr>
            <a:cxnSpLocks/>
          </p:cNvCxnSpPr>
          <p:nvPr/>
        </p:nvCxnSpPr>
        <p:spPr>
          <a:xfrm>
            <a:off x="746316" y="3597328"/>
            <a:ext cx="629486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7C00377-887B-7B53-5E7A-C388903212D4}"/>
              </a:ext>
            </a:extLst>
          </p:cNvPr>
          <p:cNvSpPr txBox="1"/>
          <p:nvPr/>
        </p:nvSpPr>
        <p:spPr>
          <a:xfrm>
            <a:off x="879325" y="3427837"/>
            <a:ext cx="4072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/>
              <a:t>t</a:t>
            </a:r>
            <a:r>
              <a:rPr lang="en-US" altLang="ko-KR" sz="800" baseline="-25000" dirty="0" err="1"/>
              <a:t>CTN</a:t>
            </a:r>
            <a:endParaRPr lang="ko-KR" altLang="en-US" sz="800" baseline="-25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8E551C-DAE5-A5D6-47E5-878529F87F2E}"/>
              </a:ext>
            </a:extLst>
          </p:cNvPr>
          <p:cNvSpPr txBox="1"/>
          <p:nvPr/>
        </p:nvSpPr>
        <p:spPr>
          <a:xfrm>
            <a:off x="1364141" y="3187716"/>
            <a:ext cx="67056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Arial" panose="020B0604020202020204" pitchFamily="34" charset="0"/>
                <a:cs typeface="Arial" panose="020B0604020202020204" pitchFamily="34" charset="0"/>
              </a:rPr>
              <a:t>TCAD-aligned model consistent with [6], [7]</a:t>
            </a:r>
            <a:endParaRPr lang="ko-KR" alt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74AC430-D25F-8BCD-984F-F8AAC25DE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58159"/>
              </p:ext>
            </p:extLst>
          </p:nvPr>
        </p:nvGraphicFramePr>
        <p:xfrm>
          <a:off x="2034801" y="3303268"/>
          <a:ext cx="1335785" cy="563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7459">
                  <a:extLst>
                    <a:ext uri="{9D8B030D-6E8A-4147-A177-3AD203B41FA5}">
                      <a16:colId xmlns:a16="http://schemas.microsoft.com/office/drawing/2014/main" val="1036565899"/>
                    </a:ext>
                  </a:extLst>
                </a:gridCol>
                <a:gridCol w="534946">
                  <a:extLst>
                    <a:ext uri="{9D8B030D-6E8A-4147-A177-3AD203B41FA5}">
                      <a16:colId xmlns:a16="http://schemas.microsoft.com/office/drawing/2014/main" val="1832300329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1373664809"/>
                    </a:ext>
                  </a:extLst>
                </a:gridCol>
              </a:tblGrid>
              <a:tr h="181679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Trap density [6], [9]</a:t>
                      </a:r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3176738"/>
                  </a:ext>
                </a:extLst>
              </a:tr>
              <a:tr h="1739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shallow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1.15e19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[cm</a:t>
                      </a:r>
                      <a:r>
                        <a:rPr lang="en-US" altLang="ko-KR" sz="6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166257"/>
                  </a:ext>
                </a:extLst>
              </a:tr>
              <a:tr h="1739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deep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3.5e19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[cm</a:t>
                      </a:r>
                      <a:r>
                        <a:rPr lang="en-US" altLang="ko-KR" sz="6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031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560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2">
      <a:majorFont>
        <a:latin typeface="Arial Nova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4152</TotalTime>
  <Words>141</Words>
  <Application>Microsoft Office PowerPoint</Application>
  <PresentationFormat>A4 용지(210x297mm)</PresentationFormat>
  <Paragraphs>44</Paragraphs>
  <Slides>1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맑은 고딕</vt:lpstr>
      <vt:lpstr>Arial</vt:lpstr>
      <vt:lpstr>Arial Nova</vt:lpstr>
      <vt:lpstr>Cambria Math</vt:lpstr>
      <vt:lpstr>Times New Roman</vt:lpstr>
      <vt:lpstr>Office 테마</vt:lpstr>
      <vt:lpstr>Graph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MYUNG JIN</dc:creator>
  <cp:lastModifiedBy>MYUNG JIN</cp:lastModifiedBy>
  <cp:revision>45</cp:revision>
  <dcterms:created xsi:type="dcterms:W3CDTF">2024-12-18T11:05:27Z</dcterms:created>
  <dcterms:modified xsi:type="dcterms:W3CDTF">2026-07-02T22:49:56Z</dcterms:modified>
</cp:coreProperties>
</file>