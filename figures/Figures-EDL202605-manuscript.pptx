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sldIdLst>
    <p:sldId id="256" r:id="rId2"/>
    <p:sldId id="294" r:id="rId3"/>
    <p:sldId id="298" r:id="rId4"/>
    <p:sldId id="297" r:id="rId5"/>
    <p:sldId id="299" r:id="rId6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1D365"/>
    <a:srgbClr val="AFE4FF"/>
    <a:srgbClr val="9FD6EF"/>
    <a:srgbClr val="3A19FF"/>
    <a:srgbClr val="907DFF"/>
    <a:srgbClr val="FFFF00"/>
    <a:srgbClr val="FFE38B"/>
    <a:srgbClr val="F9B859"/>
    <a:srgbClr val="166284"/>
    <a:srgbClr val="FFD8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7EF9922-BC24-4B77-854D-4ECDA931EC02}" v="40" dt="2025-08-05T04:56:35.79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200" d="100"/>
          <a:sy n="200" d="100"/>
        </p:scale>
        <p:origin x="474" y="-24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311422-0C2E-42D7-924E-F365B5A34ABC}" type="datetimeFigureOut">
              <a:rPr lang="ko-KR" altLang="en-US" smtClean="0"/>
              <a:t>2026-06-10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2F34F1-DEEA-42FB-94CF-D519BE2E39B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68705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2026-06-10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32936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2026-06-10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69550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120" userDrawn="1">
          <p15:clr>
            <a:srgbClr val="FBAE40"/>
          </p15:clr>
        </p15:guide>
        <p15:guide id="2" pos="216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2026-06-10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91147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2026-06-10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40244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2026-06-10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2370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2026-06-10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49236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2026-06-10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37051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2026-06-10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81191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2026-06-10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69595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2026-06-10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11093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2026-06-10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74604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8C53AF-CD6D-418E-B451-BA3CFECC6915}" type="datetimeFigureOut">
              <a:rPr lang="ko-KR" altLang="en-US" smtClean="0"/>
              <a:t>2026-06-10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61038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png"/><Relationship Id="rId18" Type="http://schemas.openxmlformats.org/officeDocument/2006/relationships/image" Target="../media/image3.png"/><Relationship Id="rId3" Type="http://schemas.openxmlformats.org/officeDocument/2006/relationships/image" Target="../media/image1.emf"/><Relationship Id="rId21" Type="http://schemas.openxmlformats.org/officeDocument/2006/relationships/image" Target="../media/image5.png"/><Relationship Id="rId12" Type="http://schemas.openxmlformats.org/officeDocument/2006/relationships/image" Target="../media/image11.png"/><Relationship Id="rId17" Type="http://schemas.openxmlformats.org/officeDocument/2006/relationships/image" Target="../media/image2.png"/><Relationship Id="rId2" Type="http://schemas.openxmlformats.org/officeDocument/2006/relationships/oleObject" Target="../embeddings/oleObject1.bin"/><Relationship Id="rId16" Type="http://schemas.openxmlformats.org/officeDocument/2006/relationships/image" Target="../media/image15.png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10.png"/><Relationship Id="rId24" Type="http://schemas.openxmlformats.org/officeDocument/2006/relationships/image" Target="../media/image8.png"/><Relationship Id="rId15" Type="http://schemas.openxmlformats.org/officeDocument/2006/relationships/image" Target="../media/image14.png"/><Relationship Id="rId23" Type="http://schemas.openxmlformats.org/officeDocument/2006/relationships/image" Target="../media/image7.png"/><Relationship Id="rId10" Type="http://schemas.openxmlformats.org/officeDocument/2006/relationships/image" Target="../media/image9.png"/><Relationship Id="rId19" Type="http://schemas.openxmlformats.org/officeDocument/2006/relationships/image" Target="../media/image30.png"/><Relationship Id="rId14" Type="http://schemas.openxmlformats.org/officeDocument/2006/relationships/image" Target="../media/image13.png"/><Relationship Id="rId22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emf"/><Relationship Id="rId3" Type="http://schemas.openxmlformats.org/officeDocument/2006/relationships/oleObject" Target="../embeddings/oleObject2.bin"/><Relationship Id="rId7" Type="http://schemas.openxmlformats.org/officeDocument/2006/relationships/oleObject" Target="../embeddings/oleObject4.bin"/><Relationship Id="rId12" Type="http://schemas.openxmlformats.org/officeDocument/2006/relationships/image" Target="../media/image20.emf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emf"/><Relationship Id="rId11" Type="http://schemas.openxmlformats.org/officeDocument/2006/relationships/oleObject" Target="../embeddings/oleObject5.bin"/><Relationship Id="rId5" Type="http://schemas.openxmlformats.org/officeDocument/2006/relationships/oleObject" Target="../embeddings/oleObject3.bin"/><Relationship Id="rId10" Type="http://schemas.openxmlformats.org/officeDocument/2006/relationships/image" Target="../media/image21.png"/><Relationship Id="rId4" Type="http://schemas.openxmlformats.org/officeDocument/2006/relationships/image" Target="../media/image17.emf"/><Relationship Id="rId9" Type="http://schemas.openxmlformats.org/officeDocument/2006/relationships/image" Target="../media/image2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8.bin"/><Relationship Id="rId3" Type="http://schemas.openxmlformats.org/officeDocument/2006/relationships/image" Target="../media/image21.emf"/><Relationship Id="rId7" Type="http://schemas.openxmlformats.org/officeDocument/2006/relationships/image" Target="../media/image23.png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11" Type="http://schemas.openxmlformats.org/officeDocument/2006/relationships/image" Target="../media/image25.emf"/><Relationship Id="rId5" Type="http://schemas.openxmlformats.org/officeDocument/2006/relationships/image" Target="../media/image22.emf"/><Relationship Id="rId10" Type="http://schemas.openxmlformats.org/officeDocument/2006/relationships/oleObject" Target="../embeddings/oleObject9.bin"/><Relationship Id="rId4" Type="http://schemas.openxmlformats.org/officeDocument/2006/relationships/oleObject" Target="../embeddings/oleObject7.bin"/><Relationship Id="rId9" Type="http://schemas.openxmlformats.org/officeDocument/2006/relationships/image" Target="../media/image24.em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3.bin"/><Relationship Id="rId13" Type="http://schemas.openxmlformats.org/officeDocument/2006/relationships/image" Target="../media/image34.png"/><Relationship Id="rId3" Type="http://schemas.openxmlformats.org/officeDocument/2006/relationships/image" Target="../media/image26.emf"/><Relationship Id="rId7" Type="http://schemas.openxmlformats.org/officeDocument/2006/relationships/image" Target="../media/image28.emf"/><Relationship Id="rId12" Type="http://schemas.openxmlformats.org/officeDocument/2006/relationships/image" Target="../media/image33.png"/><Relationship Id="rId2" Type="http://schemas.openxmlformats.org/officeDocument/2006/relationships/oleObject" Target="../embeddings/oleObject10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2.bin"/><Relationship Id="rId11" Type="http://schemas.openxmlformats.org/officeDocument/2006/relationships/image" Target="../media/image32.png"/><Relationship Id="rId5" Type="http://schemas.openxmlformats.org/officeDocument/2006/relationships/image" Target="../media/image27.emf"/><Relationship Id="rId15" Type="http://schemas.openxmlformats.org/officeDocument/2006/relationships/image" Target="../media/image36.png"/><Relationship Id="rId10" Type="http://schemas.openxmlformats.org/officeDocument/2006/relationships/image" Target="../media/image31.png"/><Relationship Id="rId4" Type="http://schemas.openxmlformats.org/officeDocument/2006/relationships/oleObject" Target="../embeddings/oleObject11.bin"/><Relationship Id="rId9" Type="http://schemas.openxmlformats.org/officeDocument/2006/relationships/image" Target="../media/image29.emf"/><Relationship Id="rId14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2B441C-EB3D-D198-7F1A-AA1B343062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5600" y="1621191"/>
            <a:ext cx="6146800" cy="3448756"/>
          </a:xfrm>
        </p:spPr>
        <p:txBody>
          <a:bodyPr>
            <a:noAutofit/>
          </a:bodyPr>
          <a:lstStyle/>
          <a:p>
            <a:r>
              <a:rPr lang="en-US" altLang="ko-KR" sz="2400" dirty="0">
                <a:latin typeface="Arial" panose="020B0604020202020204" pitchFamily="34" charset="0"/>
                <a:cs typeface="Arial" panose="020B0604020202020204" pitchFamily="34" charset="0"/>
              </a:rPr>
              <a:t>Modeling of Attempt-to-Escape Frequency:</a:t>
            </a:r>
            <a:br>
              <a:rPr lang="en-US" altLang="ko-KR" sz="2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2400" dirty="0">
                <a:latin typeface="Arial" panose="020B0604020202020204" pitchFamily="34" charset="0"/>
                <a:cs typeface="Arial" panose="020B0604020202020204" pitchFamily="34" charset="0"/>
              </a:rPr>
              <a:t>Tunneling Emission of Trapped Electrons in Tunneling Oxides of 3-D NAND</a:t>
            </a:r>
            <a:br>
              <a:rPr lang="en-US" altLang="ko-KR" sz="2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2400" dirty="0">
                <a:latin typeface="Arial" panose="020B0604020202020204" pitchFamily="34" charset="0"/>
                <a:cs typeface="Arial" panose="020B0604020202020204" pitchFamily="34" charset="0"/>
              </a:rPr>
              <a:t>Flash Memory</a:t>
            </a:r>
            <a:endParaRPr lang="ko-KR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9FBF8F0-9172-93FB-4457-171A7A0741C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>
                <a:latin typeface="Arial" panose="020B0604020202020204" pitchFamily="34" charset="0"/>
                <a:cs typeface="Arial" panose="020B0604020202020204" pitchFamily="34" charset="0"/>
              </a:rPr>
              <a:t>Myung</a:t>
            </a:r>
            <a:r>
              <a:rPr lang="ko-KR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dirty="0">
                <a:latin typeface="Arial" panose="020B0604020202020204" pitchFamily="34" charset="0"/>
                <a:cs typeface="Arial" panose="020B0604020202020204" pitchFamily="34" charset="0"/>
              </a:rPr>
              <a:t>Jin</a:t>
            </a:r>
            <a:r>
              <a:rPr lang="ko-KR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dirty="0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lang="ko-KR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dirty="0" err="1">
                <a:latin typeface="Arial" panose="020B0604020202020204" pitchFamily="34" charset="0"/>
                <a:cs typeface="Arial" panose="020B0604020202020204" pitchFamily="34" charset="0"/>
              </a:rPr>
              <a:t>Hyuncheol</a:t>
            </a:r>
            <a:r>
              <a:rPr lang="ko-KR" alt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dirty="0">
                <a:latin typeface="Arial" panose="020B0604020202020204" pitchFamily="34" charset="0"/>
                <a:cs typeface="Arial" panose="020B0604020202020204" pitchFamily="34" charset="0"/>
              </a:rPr>
              <a:t>Shin</a:t>
            </a:r>
          </a:p>
          <a:p>
            <a:endParaRPr lang="en-US" altLang="ko-KR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ko-KR" dirty="0">
                <a:latin typeface="Arial" panose="020B0604020202020204" pitchFamily="34" charset="0"/>
                <a:cs typeface="Arial" panose="020B0604020202020204" pitchFamily="34" charset="0"/>
              </a:rPr>
              <a:t>10.1109/TED.2025.3589340</a:t>
            </a:r>
            <a:endParaRPr lang="ko-KR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FDCFDF-7BB2-7AC7-2581-D855A1CA53BB}"/>
              </a:ext>
            </a:extLst>
          </p:cNvPr>
          <p:cNvSpPr txBox="1"/>
          <p:nvPr/>
        </p:nvSpPr>
        <p:spPr>
          <a:xfrm>
            <a:off x="1082675" y="1377950"/>
            <a:ext cx="46926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Font : Arial</a:t>
            </a:r>
            <a:endParaRPr lang="ko-KR" altLang="en-US"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23748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60389-0286-AD07-3578-27EE8F936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>
            <a:extLst>
              <a:ext uri="{FF2B5EF4-FFF2-40B4-BE49-F238E27FC236}">
                <a16:creationId xmlns:a16="http://schemas.microsoft.com/office/drawing/2014/main" id="{059A9E34-AACA-66D2-4637-275D40D28FC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03365916"/>
              </p:ext>
            </p:extLst>
          </p:nvPr>
        </p:nvGraphicFramePr>
        <p:xfrm>
          <a:off x="2048591" y="2007559"/>
          <a:ext cx="1147442" cy="55466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2" imgW="1817568" imgH="1244237" progId="Origin50.Graph">
                  <p:embed/>
                </p:oleObj>
              </mc:Choice>
              <mc:Fallback>
                <p:oleObj name="Graph" r:id="rId2" imgW="1817568" imgH="1244237" progId="Origin50.Graph">
                  <p:embed/>
                  <p:pic>
                    <p:nvPicPr>
                      <p:cNvPr id="34" name="개체 33">
                        <a:extLst>
                          <a:ext uri="{FF2B5EF4-FFF2-40B4-BE49-F238E27FC236}">
                            <a16:creationId xmlns:a16="http://schemas.microsoft.com/office/drawing/2014/main" id="{32DB6798-4516-1212-D064-B5BCCDF489E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048591" y="2007559"/>
                        <a:ext cx="1147442" cy="55466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제목 1">
            <a:extLst>
              <a:ext uri="{FF2B5EF4-FFF2-40B4-BE49-F238E27FC236}">
                <a16:creationId xmlns:a16="http://schemas.microsoft.com/office/drawing/2014/main" id="{F953CD45-F358-AAAB-F74B-4F63C66E94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9" y="527405"/>
            <a:ext cx="1425892" cy="775615"/>
          </a:xfrm>
        </p:spPr>
        <p:txBody>
          <a:bodyPr/>
          <a:lstStyle/>
          <a:p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Fig. 1</a:t>
            </a:r>
            <a:endParaRPr lang="ko-KR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584" name="그룹 583">
            <a:extLst>
              <a:ext uri="{FF2B5EF4-FFF2-40B4-BE49-F238E27FC236}">
                <a16:creationId xmlns:a16="http://schemas.microsoft.com/office/drawing/2014/main" id="{13BAB7FF-14AF-413C-3453-C51142874F93}"/>
              </a:ext>
            </a:extLst>
          </p:cNvPr>
          <p:cNvGrpSpPr/>
          <p:nvPr/>
        </p:nvGrpSpPr>
        <p:grpSpPr>
          <a:xfrm>
            <a:off x="1100330" y="2383018"/>
            <a:ext cx="2642995" cy="919688"/>
            <a:chOff x="1100330" y="2383018"/>
            <a:chExt cx="2642995" cy="919688"/>
          </a:xfrm>
        </p:grpSpPr>
        <p:grpSp>
          <p:nvGrpSpPr>
            <p:cNvPr id="376" name="그룹 375">
              <a:extLst>
                <a:ext uri="{FF2B5EF4-FFF2-40B4-BE49-F238E27FC236}">
                  <a16:creationId xmlns:a16="http://schemas.microsoft.com/office/drawing/2014/main" id="{C3BE488E-1CC4-F4DC-7EF2-46DCD19FBD15}"/>
                </a:ext>
              </a:extLst>
            </p:cNvPr>
            <p:cNvGrpSpPr/>
            <p:nvPr/>
          </p:nvGrpSpPr>
          <p:grpSpPr>
            <a:xfrm>
              <a:off x="1100330" y="2383018"/>
              <a:ext cx="2642995" cy="919688"/>
              <a:chOff x="1100330" y="2445789"/>
              <a:chExt cx="2642995" cy="919688"/>
            </a:xfrm>
          </p:grpSpPr>
          <p:sp>
            <p:nvSpPr>
              <p:cNvPr id="106" name="원호 105">
                <a:extLst>
                  <a:ext uri="{FF2B5EF4-FFF2-40B4-BE49-F238E27FC236}">
                    <a16:creationId xmlns:a16="http://schemas.microsoft.com/office/drawing/2014/main" id="{16B01734-5DEF-98A7-B0E8-BCA92FECB895}"/>
                  </a:ext>
                </a:extLst>
              </p:cNvPr>
              <p:cNvSpPr/>
              <p:nvPr/>
            </p:nvSpPr>
            <p:spPr>
              <a:xfrm rot="2677778">
                <a:off x="1327519" y="2820815"/>
                <a:ext cx="488029" cy="488029"/>
              </a:xfrm>
              <a:prstGeom prst="arc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8" name="원호 107">
                <a:extLst>
                  <a:ext uri="{FF2B5EF4-FFF2-40B4-BE49-F238E27FC236}">
                    <a16:creationId xmlns:a16="http://schemas.microsoft.com/office/drawing/2014/main" id="{6BE72316-64B4-B955-891D-31D0D7852911}"/>
                  </a:ext>
                </a:extLst>
              </p:cNvPr>
              <p:cNvSpPr/>
              <p:nvPr/>
            </p:nvSpPr>
            <p:spPr>
              <a:xfrm rot="2677778">
                <a:off x="1638731" y="2820815"/>
                <a:ext cx="488029" cy="488029"/>
              </a:xfrm>
              <a:prstGeom prst="arc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9" name="원호 108">
                <a:extLst>
                  <a:ext uri="{FF2B5EF4-FFF2-40B4-BE49-F238E27FC236}">
                    <a16:creationId xmlns:a16="http://schemas.microsoft.com/office/drawing/2014/main" id="{06A32E60-D779-439A-2584-FE9797F2C892}"/>
                  </a:ext>
                </a:extLst>
              </p:cNvPr>
              <p:cNvSpPr/>
              <p:nvPr/>
            </p:nvSpPr>
            <p:spPr>
              <a:xfrm rot="2677778">
                <a:off x="2403943" y="2820815"/>
                <a:ext cx="488029" cy="488029"/>
              </a:xfrm>
              <a:prstGeom prst="arc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1" name="원호 110">
                <a:extLst>
                  <a:ext uri="{FF2B5EF4-FFF2-40B4-BE49-F238E27FC236}">
                    <a16:creationId xmlns:a16="http://schemas.microsoft.com/office/drawing/2014/main" id="{D15A1AFD-69CA-E666-E4C1-DAF8AC10D8DB}"/>
                  </a:ext>
                </a:extLst>
              </p:cNvPr>
              <p:cNvSpPr/>
              <p:nvPr/>
            </p:nvSpPr>
            <p:spPr>
              <a:xfrm rot="2677778">
                <a:off x="2749025" y="2820816"/>
                <a:ext cx="488029" cy="488029"/>
              </a:xfrm>
              <a:prstGeom prst="arc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BB1FB9B4-C128-18AF-A7A2-012790D133F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10775" y="3062098"/>
                <a:ext cx="1990301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6" name="원호 115">
                <a:extLst>
                  <a:ext uri="{FF2B5EF4-FFF2-40B4-BE49-F238E27FC236}">
                    <a16:creationId xmlns:a16="http://schemas.microsoft.com/office/drawing/2014/main" id="{4D102B16-0963-803B-140D-246B67B2138F}"/>
                  </a:ext>
                </a:extLst>
              </p:cNvPr>
              <p:cNvSpPr/>
              <p:nvPr/>
            </p:nvSpPr>
            <p:spPr>
              <a:xfrm rot="2677778">
                <a:off x="1891259" y="2815519"/>
                <a:ext cx="488029" cy="488029"/>
              </a:xfrm>
              <a:prstGeom prst="arc">
                <a:avLst/>
              </a:prstGeom>
              <a:ln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7" name="원호 116">
                <a:extLst>
                  <a:ext uri="{FF2B5EF4-FFF2-40B4-BE49-F238E27FC236}">
                    <a16:creationId xmlns:a16="http://schemas.microsoft.com/office/drawing/2014/main" id="{E61463C4-7263-165D-92BA-2CF31A39E4A3}"/>
                  </a:ext>
                </a:extLst>
              </p:cNvPr>
              <p:cNvSpPr/>
              <p:nvPr/>
            </p:nvSpPr>
            <p:spPr>
              <a:xfrm rot="2677778">
                <a:off x="1764995" y="2815519"/>
                <a:ext cx="488029" cy="488029"/>
              </a:xfrm>
              <a:prstGeom prst="arc">
                <a:avLst/>
              </a:prstGeom>
              <a:ln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8" name="원호 117">
                <a:extLst>
                  <a:ext uri="{FF2B5EF4-FFF2-40B4-BE49-F238E27FC236}">
                    <a16:creationId xmlns:a16="http://schemas.microsoft.com/office/drawing/2014/main" id="{590D0408-594B-AE85-EB8E-132E95346469}"/>
                  </a:ext>
                </a:extLst>
              </p:cNvPr>
              <p:cNvSpPr/>
              <p:nvPr/>
            </p:nvSpPr>
            <p:spPr>
              <a:xfrm rot="2677778">
                <a:off x="2017523" y="2815519"/>
                <a:ext cx="488029" cy="488029"/>
              </a:xfrm>
              <a:prstGeom prst="arc">
                <a:avLst/>
              </a:prstGeom>
              <a:ln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3" name="원호 122">
                <a:extLst>
                  <a:ext uri="{FF2B5EF4-FFF2-40B4-BE49-F238E27FC236}">
                    <a16:creationId xmlns:a16="http://schemas.microsoft.com/office/drawing/2014/main" id="{E16EFC02-4A72-9064-F362-CC5CB3A8C761}"/>
                  </a:ext>
                </a:extLst>
              </p:cNvPr>
              <p:cNvSpPr/>
              <p:nvPr/>
            </p:nvSpPr>
            <p:spPr>
              <a:xfrm rot="2677778">
                <a:off x="2275848" y="2815519"/>
                <a:ext cx="488029" cy="488029"/>
              </a:xfrm>
              <a:prstGeom prst="arc">
                <a:avLst/>
              </a:prstGeom>
              <a:ln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6" name="TextBox 235">
                    <a:extLst>
                      <a:ext uri="{FF2B5EF4-FFF2-40B4-BE49-F238E27FC236}">
                        <a16:creationId xmlns:a16="http://schemas.microsoft.com/office/drawing/2014/main" id="{433868C9-1F95-7970-7843-30B71BD81EDE}"/>
                      </a:ext>
                    </a:extLst>
                  </p:cNvPr>
                  <p:cNvSpPr txBox="1"/>
                  <p:nvPr/>
                </p:nvSpPr>
                <p:spPr>
                  <a:xfrm>
                    <a:off x="2022732" y="2929229"/>
                    <a:ext cx="97783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altLang="ko-KR" sz="800" b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r</m:t>
                          </m:r>
                          <m:r>
                            <m:rPr>
                              <m:nor/>
                            </m:rPr>
                            <a:rPr lang="en-US" altLang="ko-KR" sz="800" b="1" baseline="-2500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0</m:t>
                          </m:r>
                        </m:oMath>
                      </m:oMathPara>
                    </a14:m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36" name="TextBox 235">
                    <a:extLst>
                      <a:ext uri="{FF2B5EF4-FFF2-40B4-BE49-F238E27FC236}">
                        <a16:creationId xmlns:a16="http://schemas.microsoft.com/office/drawing/2014/main" id="{433868C9-1F95-7970-7843-30B71BD81ED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22732" y="2929229"/>
                    <a:ext cx="97783" cy="12028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31250" r="-1250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4EA6AAAD-A574-18EB-7BE1-0D375FCA1C71}"/>
                  </a:ext>
                </a:extLst>
              </p:cNvPr>
              <p:cNvSpPr txBox="1"/>
              <p:nvPr/>
            </p:nvSpPr>
            <p:spPr>
              <a:xfrm>
                <a:off x="1100330" y="3057700"/>
                <a:ext cx="70917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  <a:t>Si - Channel</a:t>
                </a:r>
                <a:b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  <a:t>(Ch)</a:t>
                </a:r>
                <a:endParaRPr lang="ko-KR" altLang="en-US" sz="7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42" name="TextBox 241">
                <a:extLst>
                  <a:ext uri="{FF2B5EF4-FFF2-40B4-BE49-F238E27FC236}">
                    <a16:creationId xmlns:a16="http://schemas.microsoft.com/office/drawing/2014/main" id="{ADFA6492-8EC7-611E-E3A4-B264B7B6BE00}"/>
                  </a:ext>
                </a:extLst>
              </p:cNvPr>
              <p:cNvSpPr txBox="1"/>
              <p:nvPr/>
            </p:nvSpPr>
            <p:spPr>
              <a:xfrm>
                <a:off x="3196633" y="3050405"/>
                <a:ext cx="54669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Wordline</a:t>
                </a:r>
                <a:br>
                  <a:rPr lang="en-US" altLang="ko-KR" sz="700" dirty="0"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en-US" altLang="ko-KR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(WL)</a:t>
                </a:r>
                <a:endParaRPr lang="ko-KR" altLang="en-US" sz="7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2" name="TextBox 331">
                    <a:extLst>
                      <a:ext uri="{FF2B5EF4-FFF2-40B4-BE49-F238E27FC236}">
                        <a16:creationId xmlns:a16="http://schemas.microsoft.com/office/drawing/2014/main" id="{88DD9990-4809-8552-9422-931D8CDEDF58}"/>
                      </a:ext>
                    </a:extLst>
                  </p:cNvPr>
                  <p:cNvSpPr txBox="1"/>
                  <p:nvPr/>
                </p:nvSpPr>
                <p:spPr>
                  <a:xfrm>
                    <a:off x="2153983" y="2929229"/>
                    <a:ext cx="97783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altLang="ko-KR" sz="800" b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r</m:t>
                          </m:r>
                          <m:r>
                            <m:rPr>
                              <m:nor/>
                            </m:rPr>
                            <a:rPr lang="en-US" altLang="ko-KR" sz="800" b="1" i="0" baseline="-25000" smtClean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1</m:t>
                          </m:r>
                        </m:oMath>
                      </m:oMathPara>
                    </a14:m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2" name="TextBox 331">
                    <a:extLst>
                      <a:ext uri="{FF2B5EF4-FFF2-40B4-BE49-F238E27FC236}">
                        <a16:creationId xmlns:a16="http://schemas.microsoft.com/office/drawing/2014/main" id="{88DD9990-4809-8552-9422-931D8CDEDF5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53983" y="2929229"/>
                    <a:ext cx="97783" cy="120289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25000" r="-1250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3" name="TextBox 332">
                    <a:extLst>
                      <a:ext uri="{FF2B5EF4-FFF2-40B4-BE49-F238E27FC236}">
                        <a16:creationId xmlns:a16="http://schemas.microsoft.com/office/drawing/2014/main" id="{3BAACD08-C421-1A35-E6A6-8B78DECDC898}"/>
                      </a:ext>
                    </a:extLst>
                  </p:cNvPr>
                  <p:cNvSpPr txBox="1"/>
                  <p:nvPr/>
                </p:nvSpPr>
                <p:spPr>
                  <a:xfrm>
                    <a:off x="2283639" y="2929229"/>
                    <a:ext cx="97783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altLang="ko-KR" sz="800" b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r</m:t>
                          </m:r>
                          <m:r>
                            <m:rPr>
                              <m:nor/>
                            </m:rPr>
                            <a:rPr lang="en-US" altLang="ko-KR" sz="800" b="1" i="0" baseline="-25000" smtClean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2</m:t>
                          </m:r>
                        </m:oMath>
                      </m:oMathPara>
                    </a14:m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3" name="TextBox 332">
                    <a:extLst>
                      <a:ext uri="{FF2B5EF4-FFF2-40B4-BE49-F238E27FC236}">
                        <a16:creationId xmlns:a16="http://schemas.microsoft.com/office/drawing/2014/main" id="{3BAACD08-C421-1A35-E6A6-8B78DECDC89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83639" y="2929229"/>
                    <a:ext cx="97783" cy="12028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31250" r="-1250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4" name="TextBox 333">
                    <a:extLst>
                      <a:ext uri="{FF2B5EF4-FFF2-40B4-BE49-F238E27FC236}">
                        <a16:creationId xmlns:a16="http://schemas.microsoft.com/office/drawing/2014/main" id="{20E39FAB-6FA9-0527-6914-A87BBCE1B76C}"/>
                      </a:ext>
                    </a:extLst>
                  </p:cNvPr>
                  <p:cNvSpPr txBox="1"/>
                  <p:nvPr/>
                </p:nvSpPr>
                <p:spPr>
                  <a:xfrm>
                    <a:off x="2412793" y="2929229"/>
                    <a:ext cx="97783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altLang="ko-KR" sz="800" b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r</m:t>
                          </m:r>
                          <m:r>
                            <m:rPr>
                              <m:nor/>
                            </m:rPr>
                            <a:rPr lang="en-US" altLang="ko-KR" sz="800" b="1" i="0" baseline="-25000" smtClean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3</m:t>
                          </m:r>
                        </m:oMath>
                      </m:oMathPara>
                    </a14:m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4" name="TextBox 333">
                    <a:extLst>
                      <a:ext uri="{FF2B5EF4-FFF2-40B4-BE49-F238E27FC236}">
                        <a16:creationId xmlns:a16="http://schemas.microsoft.com/office/drawing/2014/main" id="{20E39FAB-6FA9-0527-6914-A87BBCE1B76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12793" y="2929229"/>
                    <a:ext cx="97783" cy="12028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31250" r="-1250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5" name="TextBox 334">
                    <a:extLst>
                      <a:ext uri="{FF2B5EF4-FFF2-40B4-BE49-F238E27FC236}">
                        <a16:creationId xmlns:a16="http://schemas.microsoft.com/office/drawing/2014/main" id="{59CFC7D8-CAB7-4308-96D9-3C64A4C867C9}"/>
                      </a:ext>
                    </a:extLst>
                  </p:cNvPr>
                  <p:cNvSpPr txBox="1"/>
                  <p:nvPr/>
                </p:nvSpPr>
                <p:spPr>
                  <a:xfrm>
                    <a:off x="2780438" y="2929229"/>
                    <a:ext cx="89768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altLang="ko-KR" sz="800" b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r</m:t>
                        </m:r>
                      </m:oMath>
                    </a14:m>
                    <a:r>
                      <a:rPr lang="en-US" altLang="ko-KR" sz="800" b="1" baseline="-250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N</a:t>
                    </a:r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5" name="TextBox 334">
                    <a:extLst>
                      <a:ext uri="{FF2B5EF4-FFF2-40B4-BE49-F238E27FC236}">
                        <a16:creationId xmlns:a16="http://schemas.microsoft.com/office/drawing/2014/main" id="{59CFC7D8-CAB7-4308-96D9-3C64A4C867C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80438" y="2929229"/>
                    <a:ext cx="89768" cy="12028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33333" r="-40000" b="-4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6" name="TextBox 335">
                    <a:extLst>
                      <a:ext uri="{FF2B5EF4-FFF2-40B4-BE49-F238E27FC236}">
                        <a16:creationId xmlns:a16="http://schemas.microsoft.com/office/drawing/2014/main" id="{71511585-A780-79D0-0BBE-E9902B914B71}"/>
                      </a:ext>
                    </a:extLst>
                  </p:cNvPr>
                  <p:cNvSpPr txBox="1"/>
                  <p:nvPr/>
                </p:nvSpPr>
                <p:spPr>
                  <a:xfrm>
                    <a:off x="3085111" y="2929229"/>
                    <a:ext cx="145873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altLang="ko-KR" sz="800" b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r</m:t>
                        </m:r>
                      </m:oMath>
                    </a14:m>
                    <a:r>
                      <a:rPr lang="en-US" altLang="ko-KR" sz="800" b="1" baseline="-250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WL</a:t>
                    </a:r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6" name="TextBox 335">
                    <a:extLst>
                      <a:ext uri="{FF2B5EF4-FFF2-40B4-BE49-F238E27FC236}">
                        <a16:creationId xmlns:a16="http://schemas.microsoft.com/office/drawing/2014/main" id="{71511585-A780-79D0-0BBE-E9902B914B7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85111" y="2929229"/>
                    <a:ext cx="145873" cy="120289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20833" r="-29167" b="-4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7" name="TextBox 336">
                    <a:extLst>
                      <a:ext uri="{FF2B5EF4-FFF2-40B4-BE49-F238E27FC236}">
                        <a16:creationId xmlns:a16="http://schemas.microsoft.com/office/drawing/2014/main" id="{E292FC31-0E07-B868-FE78-2F6D3D2D832C}"/>
                      </a:ext>
                    </a:extLst>
                  </p:cNvPr>
                  <p:cNvSpPr txBox="1"/>
                  <p:nvPr/>
                </p:nvSpPr>
                <p:spPr>
                  <a:xfrm>
                    <a:off x="1662841" y="2924360"/>
                    <a:ext cx="131446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altLang="ko-KR" sz="800" b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r</m:t>
                        </m:r>
                      </m:oMath>
                    </a14:m>
                    <a:r>
                      <a:rPr lang="en-US" altLang="ko-KR" sz="800" b="1" baseline="-250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Ch</a:t>
                    </a:r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7" name="TextBox 336">
                    <a:extLst>
                      <a:ext uri="{FF2B5EF4-FFF2-40B4-BE49-F238E27FC236}">
                        <a16:creationId xmlns:a16="http://schemas.microsoft.com/office/drawing/2014/main" id="{E292FC31-0E07-B868-FE78-2F6D3D2D832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62841" y="2924360"/>
                    <a:ext cx="131446" cy="120289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23810" r="-38095" b="-4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62" name="TextBox 361">
                <a:extLst>
                  <a:ext uri="{FF2B5EF4-FFF2-40B4-BE49-F238E27FC236}">
                    <a16:creationId xmlns:a16="http://schemas.microsoft.com/office/drawing/2014/main" id="{DA5803B3-CC2E-5430-5100-74DF5A70A8DE}"/>
                  </a:ext>
                </a:extLst>
              </p:cNvPr>
              <p:cNvSpPr txBox="1"/>
              <p:nvPr/>
            </p:nvSpPr>
            <p:spPr>
              <a:xfrm>
                <a:off x="1337549" y="2445789"/>
                <a:ext cx="36049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 b="1">
                    <a:latin typeface="Arial" panose="020B0604020202020204" pitchFamily="34" charset="0"/>
                    <a:cs typeface="Arial" panose="020B0604020202020204" pitchFamily="34" charset="0"/>
                  </a:rPr>
                  <a:t>(c)</a:t>
                </a:r>
                <a:endParaRPr lang="ko-KR" altLang="en-US" sz="700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569" name="TextBox 568">
              <a:extLst>
                <a:ext uri="{FF2B5EF4-FFF2-40B4-BE49-F238E27FC236}">
                  <a16:creationId xmlns:a16="http://schemas.microsoft.com/office/drawing/2014/main" id="{B706F012-FF07-5060-D450-1E1B1E1701B5}"/>
                </a:ext>
              </a:extLst>
            </p:cNvPr>
            <p:cNvSpPr txBox="1"/>
            <p:nvPr/>
          </p:nvSpPr>
          <p:spPr>
            <a:xfrm>
              <a:off x="2373140" y="2758062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pic>
        <p:nvPicPr>
          <p:cNvPr id="2" name="그림 1" descr="다채로움, 스크린샷, 그린, 노랑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A1CAF9D-6B6A-9F18-6A69-7163AAAD9C61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 t="19521" b="24931"/>
          <a:stretch>
            <a:fillRect/>
          </a:stretch>
        </p:blipFill>
        <p:spPr>
          <a:xfrm rot="16200000">
            <a:off x="317065" y="2984000"/>
            <a:ext cx="1252920" cy="63383"/>
          </a:xfrm>
          <a:prstGeom prst="rect">
            <a:avLst/>
          </a:prstGeom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0EE53E30-3C7D-C6EA-4661-9633E6715C21}"/>
              </a:ext>
            </a:extLst>
          </p:cNvPr>
          <p:cNvGrpSpPr/>
          <p:nvPr/>
        </p:nvGrpSpPr>
        <p:grpSpPr>
          <a:xfrm>
            <a:off x="1337549" y="1906859"/>
            <a:ext cx="1731170" cy="1167341"/>
            <a:chOff x="1337549" y="1906859"/>
            <a:chExt cx="1731170" cy="1167341"/>
          </a:xfrm>
        </p:grpSpPr>
        <p:cxnSp>
          <p:nvCxnSpPr>
            <p:cNvPr id="300" name="직선 연결선 299">
              <a:extLst>
                <a:ext uri="{FF2B5EF4-FFF2-40B4-BE49-F238E27FC236}">
                  <a16:creationId xmlns:a16="http://schemas.microsoft.com/office/drawing/2014/main" id="{774A86F0-C443-DA34-8985-53F1D3C638BB}"/>
                </a:ext>
              </a:extLst>
            </p:cNvPr>
            <p:cNvCxnSpPr>
              <a:cxnSpLocks/>
            </p:cNvCxnSpPr>
            <p:nvPr/>
          </p:nvCxnSpPr>
          <p:spPr>
            <a:xfrm>
              <a:off x="2126659" y="2092625"/>
              <a:ext cx="0" cy="98157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직선 연결선 300">
              <a:extLst>
                <a:ext uri="{FF2B5EF4-FFF2-40B4-BE49-F238E27FC236}">
                  <a16:creationId xmlns:a16="http://schemas.microsoft.com/office/drawing/2014/main" id="{AE1A7C84-B0B6-9860-FA27-6C833DB2F93A}"/>
                </a:ext>
              </a:extLst>
            </p:cNvPr>
            <p:cNvCxnSpPr>
              <a:cxnSpLocks/>
            </p:cNvCxnSpPr>
            <p:nvPr/>
          </p:nvCxnSpPr>
          <p:spPr>
            <a:xfrm>
              <a:off x="2895007" y="2057400"/>
              <a:ext cx="0" cy="1008751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직선 화살표 연결선 15">
              <a:extLst>
                <a:ext uri="{FF2B5EF4-FFF2-40B4-BE49-F238E27FC236}">
                  <a16:creationId xmlns:a16="http://schemas.microsoft.com/office/drawing/2014/main" id="{819B03E9-80AF-7243-754C-5E0F2216C4DD}"/>
                </a:ext>
              </a:extLst>
            </p:cNvPr>
            <p:cNvCxnSpPr>
              <a:cxnSpLocks/>
            </p:cNvCxnSpPr>
            <p:nvPr/>
          </p:nvCxnSpPr>
          <p:spPr>
            <a:xfrm>
              <a:off x="2004533" y="2403460"/>
              <a:ext cx="1064186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3" name="TextBox 282">
              <a:extLst>
                <a:ext uri="{FF2B5EF4-FFF2-40B4-BE49-F238E27FC236}">
                  <a16:creationId xmlns:a16="http://schemas.microsoft.com/office/drawing/2014/main" id="{2EF5FDA5-D0D5-4482-17FF-7298970615AE}"/>
                </a:ext>
              </a:extLst>
            </p:cNvPr>
            <p:cNvSpPr txBox="1"/>
            <p:nvPr/>
          </p:nvSpPr>
          <p:spPr>
            <a:xfrm>
              <a:off x="2463548" y="2223089"/>
              <a:ext cx="72136" cy="10772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en-US" altLang="ko-KR" sz="700" b="1" dirty="0" err="1"/>
                <a:t>n</a:t>
              </a:r>
              <a:r>
                <a:rPr lang="en-US" altLang="ko-KR" sz="700" b="1" baseline="-25000" dirty="0" err="1"/>
                <a:t>t</a:t>
              </a:r>
              <a:endParaRPr lang="ko-KR" altLang="en-US" sz="700" b="1" baseline="-25000" dirty="0"/>
            </a:p>
          </p:txBody>
        </p:sp>
        <p:sp>
          <p:nvSpPr>
            <p:cNvPr id="340" name="TextBox 339">
              <a:extLst>
                <a:ext uri="{FF2B5EF4-FFF2-40B4-BE49-F238E27FC236}">
                  <a16:creationId xmlns:a16="http://schemas.microsoft.com/office/drawing/2014/main" id="{A092FB95-3CFD-EA9D-410B-F92547721757}"/>
                </a:ext>
              </a:extLst>
            </p:cNvPr>
            <p:cNvSpPr txBox="1"/>
            <p:nvPr/>
          </p:nvSpPr>
          <p:spPr>
            <a:xfrm>
              <a:off x="1337549" y="1906859"/>
              <a:ext cx="36049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700" b="1" dirty="0">
                  <a:latin typeface="Arial" panose="020B0604020202020204" pitchFamily="34" charset="0"/>
                  <a:cs typeface="Arial" panose="020B0604020202020204" pitchFamily="34" charset="0"/>
                </a:rPr>
                <a:t>(b)</a:t>
              </a:r>
              <a:endParaRPr lang="ko-KR" altLang="en-US" sz="7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289" name="직선 화살표 연결선 288">
              <a:extLst>
                <a:ext uri="{FF2B5EF4-FFF2-40B4-BE49-F238E27FC236}">
                  <a16:creationId xmlns:a16="http://schemas.microsoft.com/office/drawing/2014/main" id="{BF7303CF-4083-ABBE-6FCF-C2DABD2F6544}"/>
                </a:ext>
              </a:extLst>
            </p:cNvPr>
            <p:cNvCxnSpPr>
              <a:cxnSpLocks/>
            </p:cNvCxnSpPr>
            <p:nvPr/>
          </p:nvCxnSpPr>
          <p:spPr>
            <a:xfrm>
              <a:off x="2135189" y="2166866"/>
              <a:ext cx="760771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5" name="TextBox 304">
              <a:extLst>
                <a:ext uri="{FF2B5EF4-FFF2-40B4-BE49-F238E27FC236}">
                  <a16:creationId xmlns:a16="http://schemas.microsoft.com/office/drawing/2014/main" id="{EC124455-F295-98AF-7E49-DFD62B80281D}"/>
                </a:ext>
              </a:extLst>
            </p:cNvPr>
            <p:cNvSpPr txBox="1"/>
            <p:nvPr/>
          </p:nvSpPr>
          <p:spPr>
            <a:xfrm>
              <a:off x="2311925" y="1997375"/>
              <a:ext cx="40729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/>
                <a:t>t</a:t>
              </a:r>
              <a:r>
                <a:rPr lang="en-US" altLang="ko-KR" sz="800" baseline="-25000"/>
                <a:t>CTN</a:t>
              </a:r>
              <a:endParaRPr lang="ko-KR" altLang="en-US" sz="800" baseline="-25000"/>
            </a:p>
          </p:txBody>
        </p:sp>
        <p:cxnSp>
          <p:nvCxnSpPr>
            <p:cNvPr id="541" name="직선 연결선 540">
              <a:extLst>
                <a:ext uri="{FF2B5EF4-FFF2-40B4-BE49-F238E27FC236}">
                  <a16:creationId xmlns:a16="http://schemas.microsoft.com/office/drawing/2014/main" id="{B56972B8-31DD-C20F-602D-A49D0AAD5A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69702" y="2196967"/>
              <a:ext cx="0" cy="324000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2" name="직선 연결선 541">
              <a:extLst>
                <a:ext uri="{FF2B5EF4-FFF2-40B4-BE49-F238E27FC236}">
                  <a16:creationId xmlns:a16="http://schemas.microsoft.com/office/drawing/2014/main" id="{6D248263-98BD-D746-842D-E51F3DDDA3F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15705" y="2196967"/>
              <a:ext cx="0" cy="324000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6" name="직선 연결선 545">
              <a:extLst>
                <a:ext uri="{FF2B5EF4-FFF2-40B4-BE49-F238E27FC236}">
                  <a16:creationId xmlns:a16="http://schemas.microsoft.com/office/drawing/2014/main" id="{8B0B6F77-0AA7-642D-AE13-C4441142C94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61708" y="2196967"/>
              <a:ext cx="0" cy="324000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9" name="직선 연결선 548">
              <a:extLst>
                <a:ext uri="{FF2B5EF4-FFF2-40B4-BE49-F238E27FC236}">
                  <a16:creationId xmlns:a16="http://schemas.microsoft.com/office/drawing/2014/main" id="{96BB6338-B3BA-D9DF-7D39-0503C83479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52337" y="2044700"/>
              <a:ext cx="0" cy="460392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2" name="직선 연결선 581">
              <a:extLst>
                <a:ext uri="{FF2B5EF4-FFF2-40B4-BE49-F238E27FC236}">
                  <a16:creationId xmlns:a16="http://schemas.microsoft.com/office/drawing/2014/main" id="{8C26E27A-63D4-A7D4-55CC-FDFA523EC57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07609" y="2041525"/>
              <a:ext cx="0" cy="463567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2" name="그룹 601">
            <a:extLst>
              <a:ext uri="{FF2B5EF4-FFF2-40B4-BE49-F238E27FC236}">
                <a16:creationId xmlns:a16="http://schemas.microsoft.com/office/drawing/2014/main" id="{25232DB7-889A-3A06-F43F-E5A6A3570C2E}"/>
              </a:ext>
            </a:extLst>
          </p:cNvPr>
          <p:cNvGrpSpPr/>
          <p:nvPr/>
        </p:nvGrpSpPr>
        <p:grpSpPr>
          <a:xfrm>
            <a:off x="444954" y="3746901"/>
            <a:ext cx="2931952" cy="1267612"/>
            <a:chOff x="444954" y="3914309"/>
            <a:chExt cx="2931952" cy="1267612"/>
          </a:xfrm>
        </p:grpSpPr>
        <p:sp>
          <p:nvSpPr>
            <p:cNvPr id="276" name="타원 275">
              <a:extLst>
                <a:ext uri="{FF2B5EF4-FFF2-40B4-BE49-F238E27FC236}">
                  <a16:creationId xmlns:a16="http://schemas.microsoft.com/office/drawing/2014/main" id="{8DD8B11A-3628-657D-A200-C7A5981CAA2E}"/>
                </a:ext>
              </a:extLst>
            </p:cNvPr>
            <p:cNvSpPr/>
            <p:nvPr/>
          </p:nvSpPr>
          <p:spPr>
            <a:xfrm>
              <a:off x="710049" y="4215920"/>
              <a:ext cx="571304" cy="571304"/>
            </a:xfrm>
            <a:prstGeom prst="ellipse">
              <a:avLst/>
            </a:prstGeom>
            <a:gradFill flip="none" rotWithShape="1">
              <a:gsLst>
                <a:gs pos="0">
                  <a:srgbClr val="FFFF00"/>
                </a:gs>
                <a:gs pos="68000">
                  <a:schemeClr val="bg1">
                    <a:lumMod val="87000"/>
                  </a:schemeClr>
                </a:gs>
                <a:gs pos="100000">
                  <a:schemeClr val="accent1">
                    <a:lumMod val="10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5" name="TextBox 274">
              <a:extLst>
                <a:ext uri="{FF2B5EF4-FFF2-40B4-BE49-F238E27FC236}">
                  <a16:creationId xmlns:a16="http://schemas.microsoft.com/office/drawing/2014/main" id="{D6BE220E-EFF7-B5AD-AA55-12AFA12A2D80}"/>
                </a:ext>
              </a:extLst>
            </p:cNvPr>
            <p:cNvSpPr txBox="1"/>
            <p:nvPr/>
          </p:nvSpPr>
          <p:spPr>
            <a:xfrm>
              <a:off x="444954" y="3914309"/>
              <a:ext cx="36049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700" b="1">
                  <a:latin typeface="Arial" panose="020B0604020202020204" pitchFamily="34" charset="0"/>
                  <a:cs typeface="Arial" panose="020B0604020202020204" pitchFamily="34" charset="0"/>
                </a:rPr>
                <a:t>(d)</a:t>
              </a:r>
              <a:endParaRPr lang="ko-KR" altLang="en-US" sz="700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7" name="타원 276">
              <a:extLst>
                <a:ext uri="{FF2B5EF4-FFF2-40B4-BE49-F238E27FC236}">
                  <a16:creationId xmlns:a16="http://schemas.microsoft.com/office/drawing/2014/main" id="{6EA85C1C-BCE6-A806-9B72-4BA03ECF4AA3}"/>
                </a:ext>
              </a:extLst>
            </p:cNvPr>
            <p:cNvSpPr/>
            <p:nvPr/>
          </p:nvSpPr>
          <p:spPr>
            <a:xfrm>
              <a:off x="859275" y="4365146"/>
              <a:ext cx="272853" cy="272853"/>
            </a:xfrm>
            <a:prstGeom prst="ellipse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8" name="타원 277">
              <a:extLst>
                <a:ext uri="{FF2B5EF4-FFF2-40B4-BE49-F238E27FC236}">
                  <a16:creationId xmlns:a16="http://schemas.microsoft.com/office/drawing/2014/main" id="{10D31041-C1B7-2C10-B59C-30CC0DC08E13}"/>
                </a:ext>
              </a:extLst>
            </p:cNvPr>
            <p:cNvSpPr/>
            <p:nvPr/>
          </p:nvSpPr>
          <p:spPr>
            <a:xfrm>
              <a:off x="1595454" y="4360656"/>
              <a:ext cx="272853" cy="272853"/>
            </a:xfrm>
            <a:prstGeom prst="ellipse">
              <a:avLst/>
            </a:prstGeom>
            <a:solidFill>
              <a:srgbClr val="FFE38B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9" name="타원 278">
              <a:extLst>
                <a:ext uri="{FF2B5EF4-FFF2-40B4-BE49-F238E27FC236}">
                  <a16:creationId xmlns:a16="http://schemas.microsoft.com/office/drawing/2014/main" id="{369CEBC2-247C-C210-A5C2-C0FB15DAADEB}"/>
                </a:ext>
              </a:extLst>
            </p:cNvPr>
            <p:cNvSpPr/>
            <p:nvPr/>
          </p:nvSpPr>
          <p:spPr>
            <a:xfrm>
              <a:off x="2009950" y="4350409"/>
              <a:ext cx="309600" cy="309600"/>
            </a:xfrm>
            <a:prstGeom prst="ellipse">
              <a:avLst/>
            </a:prstGeom>
            <a:solidFill>
              <a:srgbClr val="FFD85B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1" name="타원 280">
              <a:extLst>
                <a:ext uri="{FF2B5EF4-FFF2-40B4-BE49-F238E27FC236}">
                  <a16:creationId xmlns:a16="http://schemas.microsoft.com/office/drawing/2014/main" id="{21A3D865-1926-E1EA-8EC0-5ECCBBB71C3A}"/>
                </a:ext>
              </a:extLst>
            </p:cNvPr>
            <p:cNvSpPr/>
            <p:nvPr/>
          </p:nvSpPr>
          <p:spPr>
            <a:xfrm>
              <a:off x="2796877" y="4219557"/>
              <a:ext cx="571304" cy="571304"/>
            </a:xfrm>
            <a:prstGeom prst="ellipse">
              <a:avLst/>
            </a:prstGeom>
            <a:solidFill>
              <a:srgbClr val="9FD6EF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9" name="TextBox 308">
              <a:extLst>
                <a:ext uri="{FF2B5EF4-FFF2-40B4-BE49-F238E27FC236}">
                  <a16:creationId xmlns:a16="http://schemas.microsoft.com/office/drawing/2014/main" id="{E2154164-6EB4-BBC2-83BB-9807BA8A0FAD}"/>
                </a:ext>
              </a:extLst>
            </p:cNvPr>
            <p:cNvSpPr txBox="1"/>
            <p:nvPr/>
          </p:nvSpPr>
          <p:spPr>
            <a:xfrm>
              <a:off x="756460" y="3999966"/>
              <a:ext cx="49470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>
                  <a:latin typeface="Arial" panose="020B0604020202020204" pitchFamily="34" charset="0"/>
                  <a:cs typeface="Arial" panose="020B0604020202020204" pitchFamily="34" charset="0"/>
                </a:rPr>
                <a:t>Q</a:t>
              </a:r>
              <a:endParaRPr lang="ko-KR" altLang="en-US" sz="1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0" name="TextBox 309">
              <a:extLst>
                <a:ext uri="{FF2B5EF4-FFF2-40B4-BE49-F238E27FC236}">
                  <a16:creationId xmlns:a16="http://schemas.microsoft.com/office/drawing/2014/main" id="{47B0BF86-A75A-D967-A3DE-666CC86B0DA2}"/>
                </a:ext>
              </a:extLst>
            </p:cNvPr>
            <p:cNvSpPr txBox="1"/>
            <p:nvPr/>
          </p:nvSpPr>
          <p:spPr>
            <a:xfrm>
              <a:off x="1437503" y="4017428"/>
              <a:ext cx="58875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900" baseline="-2500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sz="9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1" name="TextBox 310">
              <a:extLst>
                <a:ext uri="{FF2B5EF4-FFF2-40B4-BE49-F238E27FC236}">
                  <a16:creationId xmlns:a16="http://schemas.microsoft.com/office/drawing/2014/main" id="{EBF81BA2-5982-C7CB-35FA-BD3114423799}"/>
                </a:ext>
              </a:extLst>
            </p:cNvPr>
            <p:cNvSpPr txBox="1"/>
            <p:nvPr/>
          </p:nvSpPr>
          <p:spPr>
            <a:xfrm>
              <a:off x="1870373" y="4017428"/>
              <a:ext cx="58875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dirty="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9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ko-KR" altLang="en-US" sz="900" baseline="-25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2" name="TextBox 311">
              <a:extLst>
                <a:ext uri="{FF2B5EF4-FFF2-40B4-BE49-F238E27FC236}">
                  <a16:creationId xmlns:a16="http://schemas.microsoft.com/office/drawing/2014/main" id="{F8589EA8-0247-F490-E19A-1BF214FFBE31}"/>
                </a:ext>
              </a:extLst>
            </p:cNvPr>
            <p:cNvSpPr txBox="1"/>
            <p:nvPr/>
          </p:nvSpPr>
          <p:spPr>
            <a:xfrm>
              <a:off x="2788152" y="4017428"/>
              <a:ext cx="58875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900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sz="9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3" name="TextBox 312">
              <a:extLst>
                <a:ext uri="{FF2B5EF4-FFF2-40B4-BE49-F238E27FC236}">
                  <a16:creationId xmlns:a16="http://schemas.microsoft.com/office/drawing/2014/main" id="{D0DAF6B8-35C0-2270-9B8A-E2FCB2E73D84}"/>
                </a:ext>
              </a:extLst>
            </p:cNvPr>
            <p:cNvSpPr txBox="1"/>
            <p:nvPr/>
          </p:nvSpPr>
          <p:spPr>
            <a:xfrm>
              <a:off x="1134091" y="3999966"/>
              <a:ext cx="49470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  <a:endParaRPr lang="ko-KR" altLang="en-US" sz="1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4" name="TextBox 313">
              <a:extLst>
                <a:ext uri="{FF2B5EF4-FFF2-40B4-BE49-F238E27FC236}">
                  <a16:creationId xmlns:a16="http://schemas.microsoft.com/office/drawing/2014/main" id="{F0993BB5-1391-F8E1-F8FD-807A6063E5CC}"/>
                </a:ext>
              </a:extLst>
            </p:cNvPr>
            <p:cNvSpPr txBox="1"/>
            <p:nvPr/>
          </p:nvSpPr>
          <p:spPr>
            <a:xfrm>
              <a:off x="1700963" y="4032817"/>
              <a:ext cx="49470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8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5" name="TextBox 314">
              <a:extLst>
                <a:ext uri="{FF2B5EF4-FFF2-40B4-BE49-F238E27FC236}">
                  <a16:creationId xmlns:a16="http://schemas.microsoft.com/office/drawing/2014/main" id="{8D42F718-2BBB-5E53-016F-5F6FACB2A8C3}"/>
                </a:ext>
              </a:extLst>
            </p:cNvPr>
            <p:cNvSpPr txBox="1"/>
            <p:nvPr/>
          </p:nvSpPr>
          <p:spPr>
            <a:xfrm>
              <a:off x="2124311" y="4033302"/>
              <a:ext cx="49470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8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6" name="TextBox 315">
              <a:extLst>
                <a:ext uri="{FF2B5EF4-FFF2-40B4-BE49-F238E27FC236}">
                  <a16:creationId xmlns:a16="http://schemas.microsoft.com/office/drawing/2014/main" id="{96FF35B4-D844-C815-986C-3283B9CE6941}"/>
                </a:ext>
              </a:extLst>
            </p:cNvPr>
            <p:cNvSpPr txBox="1"/>
            <p:nvPr/>
          </p:nvSpPr>
          <p:spPr>
            <a:xfrm>
              <a:off x="2625737" y="4032817"/>
              <a:ext cx="49470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8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7" name="TextBox 316">
              <a:extLst>
                <a:ext uri="{FF2B5EF4-FFF2-40B4-BE49-F238E27FC236}">
                  <a16:creationId xmlns:a16="http://schemas.microsoft.com/office/drawing/2014/main" id="{350DA11A-2C1A-00A0-559F-BDD25ABADD55}"/>
                </a:ext>
              </a:extLst>
            </p:cNvPr>
            <p:cNvSpPr txBox="1"/>
            <p:nvPr/>
          </p:nvSpPr>
          <p:spPr>
            <a:xfrm>
              <a:off x="2375024" y="3967866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8" name="TextBox 317">
              <a:extLst>
                <a:ext uri="{FF2B5EF4-FFF2-40B4-BE49-F238E27FC236}">
                  <a16:creationId xmlns:a16="http://schemas.microsoft.com/office/drawing/2014/main" id="{98E64D4E-E985-1B5C-69F1-298289E8F7F8}"/>
                </a:ext>
              </a:extLst>
            </p:cNvPr>
            <p:cNvSpPr txBox="1"/>
            <p:nvPr/>
          </p:nvSpPr>
          <p:spPr>
            <a:xfrm>
              <a:off x="1187590" y="4303226"/>
              <a:ext cx="49470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  <a:endParaRPr lang="ko-KR" altLang="en-US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9" name="TextBox 318">
              <a:extLst>
                <a:ext uri="{FF2B5EF4-FFF2-40B4-BE49-F238E27FC236}">
                  <a16:creationId xmlns:a16="http://schemas.microsoft.com/office/drawing/2014/main" id="{8628BE59-42D0-0D0A-7AE7-E58237A99F7D}"/>
                </a:ext>
              </a:extLst>
            </p:cNvPr>
            <p:cNvSpPr txBox="1"/>
            <p:nvPr/>
          </p:nvSpPr>
          <p:spPr>
            <a:xfrm>
              <a:off x="1688837" y="4368783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0" name="TextBox 319">
              <a:extLst>
                <a:ext uri="{FF2B5EF4-FFF2-40B4-BE49-F238E27FC236}">
                  <a16:creationId xmlns:a16="http://schemas.microsoft.com/office/drawing/2014/main" id="{1D95085C-622D-D872-4528-AFB638BFE7A8}"/>
                </a:ext>
              </a:extLst>
            </p:cNvPr>
            <p:cNvSpPr txBox="1"/>
            <p:nvPr/>
          </p:nvSpPr>
          <p:spPr>
            <a:xfrm>
              <a:off x="2143363" y="4366710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1" name="TextBox 320">
              <a:extLst>
                <a:ext uri="{FF2B5EF4-FFF2-40B4-BE49-F238E27FC236}">
                  <a16:creationId xmlns:a16="http://schemas.microsoft.com/office/drawing/2014/main" id="{CD6AB1EC-5A1A-47B0-0349-672876F53776}"/>
                </a:ext>
              </a:extLst>
            </p:cNvPr>
            <p:cNvSpPr txBox="1"/>
            <p:nvPr/>
          </p:nvSpPr>
          <p:spPr>
            <a:xfrm>
              <a:off x="2478696" y="4366710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2" name="TextBox 321">
              <a:extLst>
                <a:ext uri="{FF2B5EF4-FFF2-40B4-BE49-F238E27FC236}">
                  <a16:creationId xmlns:a16="http://schemas.microsoft.com/office/drawing/2014/main" id="{9DA45D9D-DB55-5B11-1B12-4252CB9D9884}"/>
                </a:ext>
              </a:extLst>
            </p:cNvPr>
            <p:cNvSpPr txBox="1"/>
            <p:nvPr/>
          </p:nvSpPr>
          <p:spPr>
            <a:xfrm>
              <a:off x="2311029" y="4316981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3" name="TextBox 322">
              <a:extLst>
                <a:ext uri="{FF2B5EF4-FFF2-40B4-BE49-F238E27FC236}">
                  <a16:creationId xmlns:a16="http://schemas.microsoft.com/office/drawing/2014/main" id="{5651BC82-8789-3433-1EB8-D4CF4570327B}"/>
                </a:ext>
              </a:extLst>
            </p:cNvPr>
            <p:cNvSpPr txBox="1"/>
            <p:nvPr/>
          </p:nvSpPr>
          <p:spPr>
            <a:xfrm>
              <a:off x="1556649" y="4397055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700" b="1" baseline="-2500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sz="700" b="1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5" name="TextBox 324">
              <a:extLst>
                <a:ext uri="{FF2B5EF4-FFF2-40B4-BE49-F238E27FC236}">
                  <a16:creationId xmlns:a16="http://schemas.microsoft.com/office/drawing/2014/main" id="{FDEE149B-AF80-995F-364C-7B30804AC7FF}"/>
                </a:ext>
              </a:extLst>
            </p:cNvPr>
            <p:cNvSpPr txBox="1"/>
            <p:nvPr/>
          </p:nvSpPr>
          <p:spPr>
            <a:xfrm>
              <a:off x="1989519" y="4397055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700" b="1" baseline="-2500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ko-KR" altLang="en-US" sz="700" b="1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6" name="TextBox 325">
              <a:extLst>
                <a:ext uri="{FF2B5EF4-FFF2-40B4-BE49-F238E27FC236}">
                  <a16:creationId xmlns:a16="http://schemas.microsoft.com/office/drawing/2014/main" id="{61428639-B5CC-A1E6-6E44-E2F3756D6E2B}"/>
                </a:ext>
              </a:extLst>
            </p:cNvPr>
            <p:cNvSpPr txBox="1"/>
            <p:nvPr/>
          </p:nvSpPr>
          <p:spPr>
            <a:xfrm>
              <a:off x="2883383" y="4397055"/>
              <a:ext cx="39829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700" b="1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sz="700" b="1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7" name="타원 326">
              <a:extLst>
                <a:ext uri="{FF2B5EF4-FFF2-40B4-BE49-F238E27FC236}">
                  <a16:creationId xmlns:a16="http://schemas.microsoft.com/office/drawing/2014/main" id="{B181EBE0-6235-0BAD-FFA9-4EE0646CA76B}"/>
                </a:ext>
              </a:extLst>
            </p:cNvPr>
            <p:cNvSpPr/>
            <p:nvPr/>
          </p:nvSpPr>
          <p:spPr>
            <a:xfrm>
              <a:off x="859275" y="4365146"/>
              <a:ext cx="272853" cy="272853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8" name="타원 327">
              <a:extLst>
                <a:ext uri="{FF2B5EF4-FFF2-40B4-BE49-F238E27FC236}">
                  <a16:creationId xmlns:a16="http://schemas.microsoft.com/office/drawing/2014/main" id="{C31A5A68-F7BF-96CF-D861-A345DF9C7DB2}"/>
                </a:ext>
              </a:extLst>
            </p:cNvPr>
            <p:cNvSpPr/>
            <p:nvPr/>
          </p:nvSpPr>
          <p:spPr>
            <a:xfrm>
              <a:off x="840901" y="4346772"/>
              <a:ext cx="309600" cy="309600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9" name="타원 328">
              <a:extLst>
                <a:ext uri="{FF2B5EF4-FFF2-40B4-BE49-F238E27FC236}">
                  <a16:creationId xmlns:a16="http://schemas.microsoft.com/office/drawing/2014/main" id="{ED6D1C4E-8AA5-90B3-A252-703707B0C324}"/>
                </a:ext>
              </a:extLst>
            </p:cNvPr>
            <p:cNvSpPr/>
            <p:nvPr/>
          </p:nvSpPr>
          <p:spPr>
            <a:xfrm>
              <a:off x="710049" y="4221336"/>
              <a:ext cx="571304" cy="560472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0" name="타원 329">
              <a:extLst>
                <a:ext uri="{FF2B5EF4-FFF2-40B4-BE49-F238E27FC236}">
                  <a16:creationId xmlns:a16="http://schemas.microsoft.com/office/drawing/2014/main" id="{00BBD9C2-C889-3145-E219-08D367890D39}"/>
                </a:ext>
              </a:extLst>
            </p:cNvPr>
            <p:cNvSpPr/>
            <p:nvPr/>
          </p:nvSpPr>
          <p:spPr>
            <a:xfrm>
              <a:off x="822901" y="4328772"/>
              <a:ext cx="345600" cy="345600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1" name="TextBox 330">
              <a:extLst>
                <a:ext uri="{FF2B5EF4-FFF2-40B4-BE49-F238E27FC236}">
                  <a16:creationId xmlns:a16="http://schemas.microsoft.com/office/drawing/2014/main" id="{0307F82A-86E3-931D-DF13-E1E6809399DA}"/>
                </a:ext>
              </a:extLst>
            </p:cNvPr>
            <p:cNvSpPr txBox="1"/>
            <p:nvPr/>
          </p:nvSpPr>
          <p:spPr>
            <a:xfrm rot="19046009">
              <a:off x="1023784" y="4230902"/>
              <a:ext cx="25796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5" name="TextBox 384">
              <a:extLst>
                <a:ext uri="{FF2B5EF4-FFF2-40B4-BE49-F238E27FC236}">
                  <a16:creationId xmlns:a16="http://schemas.microsoft.com/office/drawing/2014/main" id="{D8F9601B-D021-F693-AB9E-3399E894C53D}"/>
                </a:ext>
              </a:extLst>
            </p:cNvPr>
            <p:cNvSpPr txBox="1"/>
            <p:nvPr/>
          </p:nvSpPr>
          <p:spPr>
            <a:xfrm>
              <a:off x="625200" y="4777741"/>
              <a:ext cx="756243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CTN charge</a:t>
              </a:r>
              <a:endParaRPr lang="ko-KR" altLang="en-US" sz="7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6" name="TextBox 385">
              <a:extLst>
                <a:ext uri="{FF2B5EF4-FFF2-40B4-BE49-F238E27FC236}">
                  <a16:creationId xmlns:a16="http://schemas.microsoft.com/office/drawing/2014/main" id="{09685877-1FB1-2AAA-7B52-D06BA18CE6A6}"/>
                </a:ext>
              </a:extLst>
            </p:cNvPr>
            <p:cNvSpPr txBox="1"/>
            <p:nvPr/>
          </p:nvSpPr>
          <p:spPr>
            <a:xfrm>
              <a:off x="1563412" y="4734879"/>
              <a:ext cx="97055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i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 = </a:t>
              </a:r>
              <a:r>
                <a:rPr lang="en-US" altLang="ko-KR" sz="800">
                  <a:latin typeface="Times New Roman" panose="02020603050405020304" pitchFamily="18" charset="0"/>
                  <a:cs typeface="Times New Roman" panose="02020603050405020304" pitchFamily="18" charset="0"/>
                </a:rPr>
                <a:t>π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i</a:t>
              </a:r>
              <a:r>
                <a:rPr lang="en-US" altLang="ko-KR" sz="800" baseline="3000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(n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t,i+1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-n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t,i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  <a:endParaRPr lang="ko-KR" altLang="en-US" sz="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99" name="TextBox 598">
              <a:extLst>
                <a:ext uri="{FF2B5EF4-FFF2-40B4-BE49-F238E27FC236}">
                  <a16:creationId xmlns:a16="http://schemas.microsoft.com/office/drawing/2014/main" id="{36BF4E26-0AB0-A0E6-45A8-D3FECD0F0D75}"/>
                </a:ext>
              </a:extLst>
            </p:cNvPr>
            <p:cNvSpPr txBox="1"/>
            <p:nvPr/>
          </p:nvSpPr>
          <p:spPr>
            <a:xfrm>
              <a:off x="2491079" y="4843367"/>
              <a:ext cx="62936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t,0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 = 0</a:t>
              </a:r>
            </a:p>
            <a:p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t,N+1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 = 0</a:t>
              </a:r>
              <a:endParaRPr lang="ko-KR" altLang="en-US" sz="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01" name="TextBox 600">
              <a:extLst>
                <a:ext uri="{FF2B5EF4-FFF2-40B4-BE49-F238E27FC236}">
                  <a16:creationId xmlns:a16="http://schemas.microsoft.com/office/drawing/2014/main" id="{122CFB43-F7D9-3B17-5B0D-F69694AD368F}"/>
                </a:ext>
              </a:extLst>
            </p:cNvPr>
            <p:cNvSpPr txBox="1"/>
            <p:nvPr/>
          </p:nvSpPr>
          <p:spPr>
            <a:xfrm>
              <a:off x="1690208" y="4920495"/>
              <a:ext cx="857565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where, i=1-N</a:t>
              </a:r>
              <a:endParaRPr lang="ko-KR" altLang="en-US" sz="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00" name="왼쪽 중괄호 599">
              <a:extLst>
                <a:ext uri="{FF2B5EF4-FFF2-40B4-BE49-F238E27FC236}">
                  <a16:creationId xmlns:a16="http://schemas.microsoft.com/office/drawing/2014/main" id="{0B06AF7A-5F21-E240-86AA-5AFE821B1850}"/>
                </a:ext>
              </a:extLst>
            </p:cNvPr>
            <p:cNvSpPr/>
            <p:nvPr/>
          </p:nvSpPr>
          <p:spPr>
            <a:xfrm>
              <a:off x="2504776" y="4937390"/>
              <a:ext cx="61691" cy="200055"/>
            </a:xfrm>
            <a:prstGeom prst="leftBrace">
              <a:avLst>
                <a:gd name="adj1" fmla="val 36719"/>
                <a:gd name="adj2" fmla="val 50000"/>
              </a:avLst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59BBE540-BF13-CF0B-2A8C-58D0D51BFF84}"/>
              </a:ext>
            </a:extLst>
          </p:cNvPr>
          <p:cNvGrpSpPr/>
          <p:nvPr/>
        </p:nvGrpSpPr>
        <p:grpSpPr>
          <a:xfrm>
            <a:off x="424534" y="1908234"/>
            <a:ext cx="996615" cy="1878162"/>
            <a:chOff x="424534" y="1834037"/>
            <a:chExt cx="996615" cy="1878162"/>
          </a:xfrm>
        </p:grpSpPr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101F3636-4174-80B0-043F-2FCE2F5AAA31}"/>
                </a:ext>
              </a:extLst>
            </p:cNvPr>
            <p:cNvGrpSpPr/>
            <p:nvPr/>
          </p:nvGrpSpPr>
          <p:grpSpPr>
            <a:xfrm>
              <a:off x="424534" y="1834037"/>
              <a:ext cx="996615" cy="1740582"/>
              <a:chOff x="424534" y="1834037"/>
              <a:chExt cx="996615" cy="1740582"/>
            </a:xfrm>
          </p:grpSpPr>
          <p:pic>
            <p:nvPicPr>
              <p:cNvPr id="3" name="그림 2" descr="직사각형, 스크린샷, 다채로움, 라인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815349AB-6D22-3FA0-F71E-BBA9F08AE6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/>
              <a:srcRect l="3428" t="5993" r="1651" b="26690"/>
              <a:stretch>
                <a:fillRect/>
              </a:stretch>
            </p:blipFill>
            <p:spPr>
              <a:xfrm rot="16200000">
                <a:off x="277617" y="2637021"/>
                <a:ext cx="1252919" cy="622278"/>
              </a:xfrm>
              <a:prstGeom prst="rect">
                <a:avLst/>
              </a:prstGeom>
            </p:spPr>
          </p:pic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D0F780A2-36A6-2D2E-078C-D8A480A1B324}"/>
                  </a:ext>
                </a:extLst>
              </p:cNvPr>
              <p:cNvSpPr txBox="1"/>
              <p:nvPr/>
            </p:nvSpPr>
            <p:spPr>
              <a:xfrm>
                <a:off x="424534" y="1834037"/>
                <a:ext cx="36049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(a)</a:t>
                </a:r>
                <a:endParaRPr lang="ko-KR" altLang="en-US" sz="7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367" name="직선 연결선 366">
                <a:extLst>
                  <a:ext uri="{FF2B5EF4-FFF2-40B4-BE49-F238E27FC236}">
                    <a16:creationId xmlns:a16="http://schemas.microsoft.com/office/drawing/2014/main" id="{5EE1AD37-D1C0-EF99-596B-E8BC49960E6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5731" y="2053588"/>
                <a:ext cx="0" cy="921734"/>
              </a:xfrm>
              <a:prstGeom prst="line">
                <a:avLst/>
              </a:prstGeom>
              <a:ln w="63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8" name="화살표: 오른쪽으로 구부러짐 367">
                <a:extLst>
                  <a:ext uri="{FF2B5EF4-FFF2-40B4-BE49-F238E27FC236}">
                    <a16:creationId xmlns:a16="http://schemas.microsoft.com/office/drawing/2014/main" id="{F3FCDA9C-A61C-6509-9EFA-85A141987B44}"/>
                  </a:ext>
                </a:extLst>
              </p:cNvPr>
              <p:cNvSpPr/>
              <p:nvPr/>
            </p:nvSpPr>
            <p:spPr>
              <a:xfrm flipH="1">
                <a:off x="557157" y="2071691"/>
                <a:ext cx="95246" cy="88007"/>
              </a:xfrm>
              <a:prstGeom prst="curvedRightArrow">
                <a:avLst>
                  <a:gd name="adj1" fmla="val 23009"/>
                  <a:gd name="adj2" fmla="val 50000"/>
                  <a:gd name="adj3" fmla="val 25000"/>
                </a:avLst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371" name="TextBox 370">
                <a:extLst>
                  <a:ext uri="{FF2B5EF4-FFF2-40B4-BE49-F238E27FC236}">
                    <a16:creationId xmlns:a16="http://schemas.microsoft.com/office/drawing/2014/main" id="{F057011A-587E-0EF3-A6ED-6A1D9EFA9842}"/>
                  </a:ext>
                </a:extLst>
              </p:cNvPr>
              <p:cNvSpPr txBox="1"/>
              <p:nvPr/>
            </p:nvSpPr>
            <p:spPr>
              <a:xfrm>
                <a:off x="591638" y="2001413"/>
                <a:ext cx="70917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Cylindrical</a:t>
                </a:r>
                <a:endParaRPr lang="ko-KR" altLang="en-US" sz="7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370" name="직선 연결선 369">
                <a:extLst>
                  <a:ext uri="{FF2B5EF4-FFF2-40B4-BE49-F238E27FC236}">
                    <a16:creationId xmlns:a16="http://schemas.microsoft.com/office/drawing/2014/main" id="{DE874BF3-ABE9-3A1F-075C-2F16D7AC32D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00010" y="2930382"/>
                <a:ext cx="921139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ACB668A-DC99-22CA-1C9F-1A44A8FA6713}"/>
                </a:ext>
              </a:extLst>
            </p:cNvPr>
            <p:cNvSpPr txBox="1"/>
            <p:nvPr/>
          </p:nvSpPr>
          <p:spPr>
            <a:xfrm rot="5400000">
              <a:off x="538189" y="3406290"/>
              <a:ext cx="335809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600">
                  <a:latin typeface="Arial" panose="020B0604020202020204" pitchFamily="34" charset="0"/>
                  <a:cs typeface="Arial" panose="020B0604020202020204" pitchFamily="34" charset="0"/>
                </a:rPr>
                <a:t>filler</a:t>
              </a:r>
              <a:endParaRPr lang="ko-KR" altLang="en-US" sz="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02CD1BE-121D-C9C1-6E5A-734EF365DAB9}"/>
                </a:ext>
              </a:extLst>
            </p:cNvPr>
            <p:cNvSpPr txBox="1"/>
            <p:nvPr/>
          </p:nvSpPr>
          <p:spPr>
            <a:xfrm rot="5400000">
              <a:off x="663221" y="3429126"/>
              <a:ext cx="335809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60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</a:t>
              </a:r>
              <a:endParaRPr lang="ko-KR" altLang="en-US" sz="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8803257-969C-10D0-3645-B5D67385FFA6}"/>
                </a:ext>
              </a:extLst>
            </p:cNvPr>
            <p:cNvSpPr txBox="1"/>
            <p:nvPr/>
          </p:nvSpPr>
          <p:spPr>
            <a:xfrm>
              <a:off x="767830" y="3527533"/>
              <a:ext cx="415044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600">
                  <a:latin typeface="Arial" panose="020B0604020202020204" pitchFamily="34" charset="0"/>
                  <a:cs typeface="Arial" panose="020B0604020202020204" pitchFamily="34" charset="0"/>
                </a:rPr>
                <a:t>O/N/O</a:t>
              </a:r>
              <a:endParaRPr lang="ko-KR" altLang="en-US" sz="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233" name="TextBox 232">
            <a:extLst>
              <a:ext uri="{FF2B5EF4-FFF2-40B4-BE49-F238E27FC236}">
                <a16:creationId xmlns:a16="http://schemas.microsoft.com/office/drawing/2014/main" id="{B5669FF4-8FE8-D49A-309F-D19A6356FB50}"/>
              </a:ext>
            </a:extLst>
          </p:cNvPr>
          <p:cNvSpPr txBox="1"/>
          <p:nvPr/>
        </p:nvSpPr>
        <p:spPr>
          <a:xfrm>
            <a:off x="1765101" y="2513031"/>
            <a:ext cx="4072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/>
              <a:t>t</a:t>
            </a:r>
            <a:r>
              <a:rPr lang="en-US" altLang="ko-KR" sz="800" baseline="-25000"/>
              <a:t>TOX</a:t>
            </a:r>
            <a:endParaRPr lang="ko-KR" altLang="en-US" sz="800" baseline="-25000"/>
          </a:p>
        </p:txBody>
      </p:sp>
      <p:cxnSp>
        <p:nvCxnSpPr>
          <p:cNvPr id="287" name="직선 화살표 연결선 286">
            <a:extLst>
              <a:ext uri="{FF2B5EF4-FFF2-40B4-BE49-F238E27FC236}">
                <a16:creationId xmlns:a16="http://schemas.microsoft.com/office/drawing/2014/main" id="{23AE9215-3390-736E-3B2A-0DF99148D69E}"/>
              </a:ext>
            </a:extLst>
          </p:cNvPr>
          <p:cNvCxnSpPr>
            <a:cxnSpLocks/>
          </p:cNvCxnSpPr>
          <p:nvPr/>
        </p:nvCxnSpPr>
        <p:spPr>
          <a:xfrm>
            <a:off x="1820513" y="2695017"/>
            <a:ext cx="305152" cy="0"/>
          </a:xfrm>
          <a:prstGeom prst="straightConnector1">
            <a:avLst/>
          </a:prstGeom>
          <a:ln w="9525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직선 화살표 연결선 290">
            <a:extLst>
              <a:ext uri="{FF2B5EF4-FFF2-40B4-BE49-F238E27FC236}">
                <a16:creationId xmlns:a16="http://schemas.microsoft.com/office/drawing/2014/main" id="{62A9125C-86CA-D44C-8A8D-45A950A35A69}"/>
              </a:ext>
            </a:extLst>
          </p:cNvPr>
          <p:cNvCxnSpPr>
            <a:cxnSpLocks/>
          </p:cNvCxnSpPr>
          <p:nvPr/>
        </p:nvCxnSpPr>
        <p:spPr>
          <a:xfrm>
            <a:off x="2890246" y="2695017"/>
            <a:ext cx="347424" cy="0"/>
          </a:xfrm>
          <a:prstGeom prst="straightConnector1">
            <a:avLst/>
          </a:prstGeom>
          <a:ln w="9525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직선 연결선 295">
            <a:extLst>
              <a:ext uri="{FF2B5EF4-FFF2-40B4-BE49-F238E27FC236}">
                <a16:creationId xmlns:a16="http://schemas.microsoft.com/office/drawing/2014/main" id="{7C914B9B-D90D-89E7-DD21-65FB665DFE9C}"/>
              </a:ext>
            </a:extLst>
          </p:cNvPr>
          <p:cNvCxnSpPr>
            <a:cxnSpLocks/>
          </p:cNvCxnSpPr>
          <p:nvPr/>
        </p:nvCxnSpPr>
        <p:spPr>
          <a:xfrm>
            <a:off x="1815602" y="2505600"/>
            <a:ext cx="0" cy="490013"/>
          </a:xfrm>
          <a:prstGeom prst="line">
            <a:avLst/>
          </a:prstGeom>
          <a:ln w="63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직선 연결선 301">
            <a:extLst>
              <a:ext uri="{FF2B5EF4-FFF2-40B4-BE49-F238E27FC236}">
                <a16:creationId xmlns:a16="http://schemas.microsoft.com/office/drawing/2014/main" id="{25614B1E-D924-FF59-2058-CE44C3AB085C}"/>
              </a:ext>
            </a:extLst>
          </p:cNvPr>
          <p:cNvCxnSpPr>
            <a:cxnSpLocks/>
          </p:cNvCxnSpPr>
          <p:nvPr/>
        </p:nvCxnSpPr>
        <p:spPr>
          <a:xfrm>
            <a:off x="3237670" y="2543350"/>
            <a:ext cx="0" cy="490013"/>
          </a:xfrm>
          <a:prstGeom prst="line">
            <a:avLst/>
          </a:prstGeom>
          <a:ln w="63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6" name="TextBox 305">
            <a:extLst>
              <a:ext uri="{FF2B5EF4-FFF2-40B4-BE49-F238E27FC236}">
                <a16:creationId xmlns:a16="http://schemas.microsoft.com/office/drawing/2014/main" id="{D4200685-AE27-08CE-461E-792236B2B752}"/>
              </a:ext>
            </a:extLst>
          </p:cNvPr>
          <p:cNvSpPr txBox="1"/>
          <p:nvPr/>
        </p:nvSpPr>
        <p:spPr>
          <a:xfrm>
            <a:off x="2860309" y="2513031"/>
            <a:ext cx="4072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/>
              <a:t>t</a:t>
            </a:r>
            <a:r>
              <a:rPr lang="en-US" altLang="ko-KR" sz="800" baseline="-25000"/>
              <a:t>BOX</a:t>
            </a:r>
            <a:endParaRPr lang="ko-KR" altLang="en-US" sz="800" baseline="-25000"/>
          </a:p>
        </p:txBody>
      </p:sp>
      <p:cxnSp>
        <p:nvCxnSpPr>
          <p:cNvPr id="387" name="직선 연결선 386">
            <a:extLst>
              <a:ext uri="{FF2B5EF4-FFF2-40B4-BE49-F238E27FC236}">
                <a16:creationId xmlns:a16="http://schemas.microsoft.com/office/drawing/2014/main" id="{C991E36E-97A7-AED4-A89A-9285F71505C4}"/>
              </a:ext>
            </a:extLst>
          </p:cNvPr>
          <p:cNvCxnSpPr>
            <a:cxnSpLocks/>
          </p:cNvCxnSpPr>
          <p:nvPr/>
        </p:nvCxnSpPr>
        <p:spPr>
          <a:xfrm flipV="1">
            <a:off x="1345435" y="3005139"/>
            <a:ext cx="473379" cy="388142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직선 연결선 389">
            <a:extLst>
              <a:ext uri="{FF2B5EF4-FFF2-40B4-BE49-F238E27FC236}">
                <a16:creationId xmlns:a16="http://schemas.microsoft.com/office/drawing/2014/main" id="{04D00524-3752-E0B4-8703-2D743D5364DA}"/>
              </a:ext>
            </a:extLst>
          </p:cNvPr>
          <p:cNvCxnSpPr>
            <a:cxnSpLocks/>
          </p:cNvCxnSpPr>
          <p:nvPr/>
        </p:nvCxnSpPr>
        <p:spPr>
          <a:xfrm flipV="1">
            <a:off x="1800738" y="2995613"/>
            <a:ext cx="323633" cy="409060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1" name="직선 연결선 440">
            <a:extLst>
              <a:ext uri="{FF2B5EF4-FFF2-40B4-BE49-F238E27FC236}">
                <a16:creationId xmlns:a16="http://schemas.microsoft.com/office/drawing/2014/main" id="{5DB5B61E-3F92-DB21-E033-AAD0E21211E4}"/>
              </a:ext>
            </a:extLst>
          </p:cNvPr>
          <p:cNvCxnSpPr>
            <a:cxnSpLocks/>
          </p:cNvCxnSpPr>
          <p:nvPr/>
        </p:nvCxnSpPr>
        <p:spPr>
          <a:xfrm flipV="1">
            <a:off x="1985318" y="3001177"/>
            <a:ext cx="270262" cy="406857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3" name="직선 연결선 442">
            <a:extLst>
              <a:ext uri="{FF2B5EF4-FFF2-40B4-BE49-F238E27FC236}">
                <a16:creationId xmlns:a16="http://schemas.microsoft.com/office/drawing/2014/main" id="{0467CDCB-4F43-40D8-7834-FA7BDD013BA0}"/>
              </a:ext>
            </a:extLst>
          </p:cNvPr>
          <p:cNvCxnSpPr>
            <a:cxnSpLocks/>
          </p:cNvCxnSpPr>
          <p:nvPr/>
        </p:nvCxnSpPr>
        <p:spPr>
          <a:xfrm flipV="1">
            <a:off x="2176741" y="3012281"/>
            <a:ext cx="198549" cy="392392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5" name="직선 연결선 444">
            <a:extLst>
              <a:ext uri="{FF2B5EF4-FFF2-40B4-BE49-F238E27FC236}">
                <a16:creationId xmlns:a16="http://schemas.microsoft.com/office/drawing/2014/main" id="{D7B892EC-7821-A165-A815-A2DD74ADCD86}"/>
              </a:ext>
            </a:extLst>
          </p:cNvPr>
          <p:cNvCxnSpPr>
            <a:cxnSpLocks/>
          </p:cNvCxnSpPr>
          <p:nvPr/>
        </p:nvCxnSpPr>
        <p:spPr>
          <a:xfrm flipV="1">
            <a:off x="2363404" y="3005139"/>
            <a:ext cx="136212" cy="404219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8" name="직선 연결선 497">
            <a:extLst>
              <a:ext uri="{FF2B5EF4-FFF2-40B4-BE49-F238E27FC236}">
                <a16:creationId xmlns:a16="http://schemas.microsoft.com/office/drawing/2014/main" id="{D8FE7AF9-D382-C723-0ECD-31328D60A895}"/>
              </a:ext>
            </a:extLst>
          </p:cNvPr>
          <p:cNvCxnSpPr>
            <a:cxnSpLocks/>
          </p:cNvCxnSpPr>
          <p:nvPr/>
        </p:nvCxnSpPr>
        <p:spPr>
          <a:xfrm flipV="1">
            <a:off x="2727735" y="3005139"/>
            <a:ext cx="31515" cy="399534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1" name="직선 연결선 500">
            <a:extLst>
              <a:ext uri="{FF2B5EF4-FFF2-40B4-BE49-F238E27FC236}">
                <a16:creationId xmlns:a16="http://schemas.microsoft.com/office/drawing/2014/main" id="{111C8609-A6A5-EFD0-98CA-9CCA80DEE7FB}"/>
              </a:ext>
            </a:extLst>
          </p:cNvPr>
          <p:cNvCxnSpPr>
            <a:cxnSpLocks/>
          </p:cNvCxnSpPr>
          <p:nvPr/>
        </p:nvCxnSpPr>
        <p:spPr>
          <a:xfrm flipH="1" flipV="1">
            <a:off x="2887703" y="3005139"/>
            <a:ext cx="28150" cy="399534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3" name="직선 연결선 502">
            <a:extLst>
              <a:ext uri="{FF2B5EF4-FFF2-40B4-BE49-F238E27FC236}">
                <a16:creationId xmlns:a16="http://schemas.microsoft.com/office/drawing/2014/main" id="{AA403EFF-F92A-93AE-2840-E4D7C929237D}"/>
              </a:ext>
            </a:extLst>
          </p:cNvPr>
          <p:cNvCxnSpPr>
            <a:cxnSpLocks/>
          </p:cNvCxnSpPr>
          <p:nvPr/>
        </p:nvCxnSpPr>
        <p:spPr>
          <a:xfrm flipH="1" flipV="1">
            <a:off x="3248025" y="3005139"/>
            <a:ext cx="180975" cy="399534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057FD028-4E47-CA4D-A4DA-211561636165}"/>
              </a:ext>
            </a:extLst>
          </p:cNvPr>
          <p:cNvGrpSpPr/>
          <p:nvPr/>
        </p:nvGrpSpPr>
        <p:grpSpPr>
          <a:xfrm>
            <a:off x="1337549" y="3388309"/>
            <a:ext cx="2091451" cy="486789"/>
            <a:chOff x="1337549" y="3529889"/>
            <a:chExt cx="2091451" cy="486789"/>
          </a:xfrm>
        </p:grpSpPr>
        <p:cxnSp>
          <p:nvCxnSpPr>
            <p:cNvPr id="154" name="직선 연결선 153">
              <a:extLst>
                <a:ext uri="{FF2B5EF4-FFF2-40B4-BE49-F238E27FC236}">
                  <a16:creationId xmlns:a16="http://schemas.microsoft.com/office/drawing/2014/main" id="{D67A80BB-2E99-FC41-02B9-16A6177891F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37549" y="3541573"/>
              <a:ext cx="0" cy="324000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직선 연결선 156">
              <a:extLst>
                <a:ext uri="{FF2B5EF4-FFF2-40B4-BE49-F238E27FC236}">
                  <a16:creationId xmlns:a16="http://schemas.microsoft.com/office/drawing/2014/main" id="{02602C43-FB43-09F7-BD28-1BEB6E8FA1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1101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직선 연결선 157">
              <a:extLst>
                <a:ext uri="{FF2B5EF4-FFF2-40B4-BE49-F238E27FC236}">
                  <a16:creationId xmlns:a16="http://schemas.microsoft.com/office/drawing/2014/main" id="{539F069C-82D8-6B60-A6EB-BDFD9D19A23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89294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직선 연결선 158">
              <a:extLst>
                <a:ext uri="{FF2B5EF4-FFF2-40B4-BE49-F238E27FC236}">
                  <a16:creationId xmlns:a16="http://schemas.microsoft.com/office/drawing/2014/main" id="{3BA686A7-CBED-C21F-DF8F-1E0FB810232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77487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직선 연결선 159">
              <a:extLst>
                <a:ext uri="{FF2B5EF4-FFF2-40B4-BE49-F238E27FC236}">
                  <a16:creationId xmlns:a16="http://schemas.microsoft.com/office/drawing/2014/main" id="{E7FE8A5C-7405-C7D8-A2E1-842B02F6DD4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65681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직선 연결선 160">
              <a:extLst>
                <a:ext uri="{FF2B5EF4-FFF2-40B4-BE49-F238E27FC236}">
                  <a16:creationId xmlns:a16="http://schemas.microsoft.com/office/drawing/2014/main" id="{A39757E9-04D2-2A2B-887E-4824C9160A6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729748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직선 연결선 161">
              <a:extLst>
                <a:ext uri="{FF2B5EF4-FFF2-40B4-BE49-F238E27FC236}">
                  <a16:creationId xmlns:a16="http://schemas.microsoft.com/office/drawing/2014/main" id="{DFFC7784-EBB0-A292-9F08-EC02DB24BC5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17200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직선 연결선 163">
              <a:extLst>
                <a:ext uri="{FF2B5EF4-FFF2-40B4-BE49-F238E27FC236}">
                  <a16:creationId xmlns:a16="http://schemas.microsoft.com/office/drawing/2014/main" id="{0DA502E0-853D-BDF0-C22C-3F0D34EAC85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28592" y="3541573"/>
              <a:ext cx="0" cy="324000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직선 연결선 167">
              <a:extLst>
                <a:ext uri="{FF2B5EF4-FFF2-40B4-BE49-F238E27FC236}">
                  <a16:creationId xmlns:a16="http://schemas.microsoft.com/office/drawing/2014/main" id="{1C924ED3-52C1-9B10-C93E-A832CD3F03F7}"/>
                </a:ext>
              </a:extLst>
            </p:cNvPr>
            <p:cNvCxnSpPr>
              <a:cxnSpLocks/>
            </p:cNvCxnSpPr>
            <p:nvPr/>
          </p:nvCxnSpPr>
          <p:spPr>
            <a:xfrm>
              <a:off x="1337549" y="3795784"/>
              <a:ext cx="207413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5" name="그룹 174">
              <a:extLst>
                <a:ext uri="{FF2B5EF4-FFF2-40B4-BE49-F238E27FC236}">
                  <a16:creationId xmlns:a16="http://schemas.microsoft.com/office/drawing/2014/main" id="{0A3913FC-2799-DF40-643E-145B3A1E6088}"/>
                </a:ext>
              </a:extLst>
            </p:cNvPr>
            <p:cNvGrpSpPr/>
            <p:nvPr/>
          </p:nvGrpSpPr>
          <p:grpSpPr>
            <a:xfrm>
              <a:off x="1544962" y="3716850"/>
              <a:ext cx="48725" cy="157867"/>
              <a:chOff x="1663538" y="2271752"/>
              <a:chExt cx="33334" cy="233443"/>
            </a:xfrm>
          </p:grpSpPr>
          <p:cxnSp>
            <p:nvCxnSpPr>
              <p:cNvPr id="169" name="직선 연결선 168">
                <a:extLst>
                  <a:ext uri="{FF2B5EF4-FFF2-40B4-BE49-F238E27FC236}">
                    <a16:creationId xmlns:a16="http://schemas.microsoft.com/office/drawing/2014/main" id="{858DDD00-D605-7EFC-46E6-EF72066FD00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직선 연결선 170">
                <a:extLst>
                  <a:ext uri="{FF2B5EF4-FFF2-40B4-BE49-F238E27FC236}">
                    <a16:creationId xmlns:a16="http://schemas.microsoft.com/office/drawing/2014/main" id="{5778B8AA-CC7C-8172-0A96-141FBEA2761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2" name="직선 연결선 171">
              <a:extLst>
                <a:ext uri="{FF2B5EF4-FFF2-40B4-BE49-F238E27FC236}">
                  <a16:creationId xmlns:a16="http://schemas.microsoft.com/office/drawing/2014/main" id="{D0111D35-C58D-DDD8-F39C-49B16F239927}"/>
                </a:ext>
              </a:extLst>
            </p:cNvPr>
            <p:cNvCxnSpPr>
              <a:cxnSpLocks/>
            </p:cNvCxnSpPr>
            <p:nvPr/>
          </p:nvCxnSpPr>
          <p:spPr>
            <a:xfrm>
              <a:off x="1593687" y="3795784"/>
              <a:ext cx="207413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6" name="그룹 175">
              <a:extLst>
                <a:ext uri="{FF2B5EF4-FFF2-40B4-BE49-F238E27FC236}">
                  <a16:creationId xmlns:a16="http://schemas.microsoft.com/office/drawing/2014/main" id="{B5FCB9B3-5F28-0904-7DEF-7567524B71CD}"/>
                </a:ext>
              </a:extLst>
            </p:cNvPr>
            <p:cNvGrpSpPr/>
            <p:nvPr/>
          </p:nvGrpSpPr>
          <p:grpSpPr>
            <a:xfrm>
              <a:off x="1871812" y="3717061"/>
              <a:ext cx="48725" cy="157867"/>
              <a:chOff x="1663538" y="2271752"/>
              <a:chExt cx="33334" cy="233443"/>
            </a:xfrm>
          </p:grpSpPr>
          <p:cxnSp>
            <p:nvCxnSpPr>
              <p:cNvPr id="177" name="직선 연결선 176">
                <a:extLst>
                  <a:ext uri="{FF2B5EF4-FFF2-40B4-BE49-F238E27FC236}">
                    <a16:creationId xmlns:a16="http://schemas.microsoft.com/office/drawing/2014/main" id="{362F527A-BC4A-A4E6-3C99-5FB92F08119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8" name="직선 연결선 177">
                <a:extLst>
                  <a:ext uri="{FF2B5EF4-FFF2-40B4-BE49-F238E27FC236}">
                    <a16:creationId xmlns:a16="http://schemas.microsoft.com/office/drawing/2014/main" id="{7F58D7F2-0566-7828-063D-FC20312258E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95" name="직선 연결선 194">
              <a:extLst>
                <a:ext uri="{FF2B5EF4-FFF2-40B4-BE49-F238E27FC236}">
                  <a16:creationId xmlns:a16="http://schemas.microsoft.com/office/drawing/2014/main" id="{99E4E3C9-4EC7-8A68-BA8D-035390FE2A42}"/>
                </a:ext>
              </a:extLst>
            </p:cNvPr>
            <p:cNvCxnSpPr>
              <a:cxnSpLocks/>
            </p:cNvCxnSpPr>
            <p:nvPr/>
          </p:nvCxnSpPr>
          <p:spPr>
            <a:xfrm>
              <a:off x="1803055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직선 연결선 245">
              <a:extLst>
                <a:ext uri="{FF2B5EF4-FFF2-40B4-BE49-F238E27FC236}">
                  <a16:creationId xmlns:a16="http://schemas.microsoft.com/office/drawing/2014/main" id="{687F3EF2-B2EA-3585-3079-EF014F25C81A}"/>
                </a:ext>
              </a:extLst>
            </p:cNvPr>
            <p:cNvCxnSpPr>
              <a:cxnSpLocks/>
            </p:cNvCxnSpPr>
            <p:nvPr/>
          </p:nvCxnSpPr>
          <p:spPr>
            <a:xfrm>
              <a:off x="1921755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7" name="그룹 246">
              <a:extLst>
                <a:ext uri="{FF2B5EF4-FFF2-40B4-BE49-F238E27FC236}">
                  <a16:creationId xmlns:a16="http://schemas.microsoft.com/office/drawing/2014/main" id="{4A544A87-3205-09C1-F8AE-AEA619BB1D31}"/>
                </a:ext>
              </a:extLst>
            </p:cNvPr>
            <p:cNvGrpSpPr/>
            <p:nvPr/>
          </p:nvGrpSpPr>
          <p:grpSpPr>
            <a:xfrm>
              <a:off x="2060015" y="3717061"/>
              <a:ext cx="48725" cy="157867"/>
              <a:chOff x="1663538" y="2271752"/>
              <a:chExt cx="33334" cy="233443"/>
            </a:xfrm>
          </p:grpSpPr>
          <p:cxnSp>
            <p:nvCxnSpPr>
              <p:cNvPr id="248" name="직선 연결선 247">
                <a:extLst>
                  <a:ext uri="{FF2B5EF4-FFF2-40B4-BE49-F238E27FC236}">
                    <a16:creationId xmlns:a16="http://schemas.microsoft.com/office/drawing/2014/main" id="{6A40951E-B7F6-245F-0095-03DA7093DF5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9" name="직선 연결선 248">
                <a:extLst>
                  <a:ext uri="{FF2B5EF4-FFF2-40B4-BE49-F238E27FC236}">
                    <a16:creationId xmlns:a16="http://schemas.microsoft.com/office/drawing/2014/main" id="{9AF25614-9FC7-A69E-12FD-804B40816BF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50" name="직선 연결선 249">
              <a:extLst>
                <a:ext uri="{FF2B5EF4-FFF2-40B4-BE49-F238E27FC236}">
                  <a16:creationId xmlns:a16="http://schemas.microsoft.com/office/drawing/2014/main" id="{C8866682-3C5D-50B8-F0D4-D9EF27302C7A}"/>
                </a:ext>
              </a:extLst>
            </p:cNvPr>
            <p:cNvCxnSpPr>
              <a:cxnSpLocks/>
            </p:cNvCxnSpPr>
            <p:nvPr/>
          </p:nvCxnSpPr>
          <p:spPr>
            <a:xfrm>
              <a:off x="1991258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직선 연결선 250">
              <a:extLst>
                <a:ext uri="{FF2B5EF4-FFF2-40B4-BE49-F238E27FC236}">
                  <a16:creationId xmlns:a16="http://schemas.microsoft.com/office/drawing/2014/main" id="{5E00658A-953C-0160-C206-00DE5ED16770}"/>
                </a:ext>
              </a:extLst>
            </p:cNvPr>
            <p:cNvCxnSpPr>
              <a:cxnSpLocks/>
            </p:cNvCxnSpPr>
            <p:nvPr/>
          </p:nvCxnSpPr>
          <p:spPr>
            <a:xfrm>
              <a:off x="2109958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2" name="그룹 251">
              <a:extLst>
                <a:ext uri="{FF2B5EF4-FFF2-40B4-BE49-F238E27FC236}">
                  <a16:creationId xmlns:a16="http://schemas.microsoft.com/office/drawing/2014/main" id="{425BA2C3-A01B-4E7E-A412-BF54DB4C1EDB}"/>
                </a:ext>
              </a:extLst>
            </p:cNvPr>
            <p:cNvGrpSpPr/>
            <p:nvPr/>
          </p:nvGrpSpPr>
          <p:grpSpPr>
            <a:xfrm>
              <a:off x="2247889" y="3717061"/>
              <a:ext cx="48725" cy="157867"/>
              <a:chOff x="1663538" y="2271752"/>
              <a:chExt cx="33334" cy="233443"/>
            </a:xfrm>
          </p:grpSpPr>
          <p:cxnSp>
            <p:nvCxnSpPr>
              <p:cNvPr id="253" name="직선 연결선 252">
                <a:extLst>
                  <a:ext uri="{FF2B5EF4-FFF2-40B4-BE49-F238E27FC236}">
                    <a16:creationId xmlns:a16="http://schemas.microsoft.com/office/drawing/2014/main" id="{C2CCB0DC-8B46-BF45-4F21-09C19B6D79C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4" name="직선 연결선 253">
                <a:extLst>
                  <a:ext uri="{FF2B5EF4-FFF2-40B4-BE49-F238E27FC236}">
                    <a16:creationId xmlns:a16="http://schemas.microsoft.com/office/drawing/2014/main" id="{5D7A4370-623E-FF90-FDBF-4CC524FDA02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55" name="직선 연결선 254">
              <a:extLst>
                <a:ext uri="{FF2B5EF4-FFF2-40B4-BE49-F238E27FC236}">
                  <a16:creationId xmlns:a16="http://schemas.microsoft.com/office/drawing/2014/main" id="{8534D837-797C-8F5C-BEFD-59BC16A62EBC}"/>
                </a:ext>
              </a:extLst>
            </p:cNvPr>
            <p:cNvCxnSpPr>
              <a:cxnSpLocks/>
            </p:cNvCxnSpPr>
            <p:nvPr/>
          </p:nvCxnSpPr>
          <p:spPr>
            <a:xfrm>
              <a:off x="2179133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6" name="직선 연결선 255">
              <a:extLst>
                <a:ext uri="{FF2B5EF4-FFF2-40B4-BE49-F238E27FC236}">
                  <a16:creationId xmlns:a16="http://schemas.microsoft.com/office/drawing/2014/main" id="{AC82A5C7-EBE0-2060-48EE-EC76C4F16691}"/>
                </a:ext>
              </a:extLst>
            </p:cNvPr>
            <p:cNvCxnSpPr>
              <a:cxnSpLocks/>
            </p:cNvCxnSpPr>
            <p:nvPr/>
          </p:nvCxnSpPr>
          <p:spPr>
            <a:xfrm>
              <a:off x="2297832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7" name="그룹 256">
              <a:extLst>
                <a:ext uri="{FF2B5EF4-FFF2-40B4-BE49-F238E27FC236}">
                  <a16:creationId xmlns:a16="http://schemas.microsoft.com/office/drawing/2014/main" id="{9AFD18F3-FEA4-CA0F-FD40-B6CD95EB3938}"/>
                </a:ext>
              </a:extLst>
            </p:cNvPr>
            <p:cNvGrpSpPr/>
            <p:nvPr/>
          </p:nvGrpSpPr>
          <p:grpSpPr>
            <a:xfrm>
              <a:off x="2797823" y="3717061"/>
              <a:ext cx="48725" cy="157867"/>
              <a:chOff x="1663538" y="2271752"/>
              <a:chExt cx="33334" cy="233443"/>
            </a:xfrm>
          </p:grpSpPr>
          <p:cxnSp>
            <p:nvCxnSpPr>
              <p:cNvPr id="258" name="직선 연결선 257">
                <a:extLst>
                  <a:ext uri="{FF2B5EF4-FFF2-40B4-BE49-F238E27FC236}">
                    <a16:creationId xmlns:a16="http://schemas.microsoft.com/office/drawing/2014/main" id="{F0D87BAA-F0D6-61C5-E6DA-BF4F1BBE0A0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9" name="직선 연결선 258">
                <a:extLst>
                  <a:ext uri="{FF2B5EF4-FFF2-40B4-BE49-F238E27FC236}">
                    <a16:creationId xmlns:a16="http://schemas.microsoft.com/office/drawing/2014/main" id="{774643FC-B05F-6DE7-20ED-E432BDBF488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60" name="직선 연결선 259">
              <a:extLst>
                <a:ext uri="{FF2B5EF4-FFF2-40B4-BE49-F238E27FC236}">
                  <a16:creationId xmlns:a16="http://schemas.microsoft.com/office/drawing/2014/main" id="{9FD70977-9E28-7E45-6745-8D3D990AA4B1}"/>
                </a:ext>
              </a:extLst>
            </p:cNvPr>
            <p:cNvCxnSpPr>
              <a:cxnSpLocks/>
            </p:cNvCxnSpPr>
            <p:nvPr/>
          </p:nvCxnSpPr>
          <p:spPr>
            <a:xfrm>
              <a:off x="2729067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직선 연결선 260">
              <a:extLst>
                <a:ext uri="{FF2B5EF4-FFF2-40B4-BE49-F238E27FC236}">
                  <a16:creationId xmlns:a16="http://schemas.microsoft.com/office/drawing/2014/main" id="{BCA3FA44-42BB-CC4C-D231-5A3E629FB4B0}"/>
                </a:ext>
              </a:extLst>
            </p:cNvPr>
            <p:cNvCxnSpPr>
              <a:cxnSpLocks/>
            </p:cNvCxnSpPr>
            <p:nvPr/>
          </p:nvCxnSpPr>
          <p:spPr>
            <a:xfrm>
              <a:off x="2847766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직선 연결선 261">
              <a:extLst>
                <a:ext uri="{FF2B5EF4-FFF2-40B4-BE49-F238E27FC236}">
                  <a16:creationId xmlns:a16="http://schemas.microsoft.com/office/drawing/2014/main" id="{5D43958B-87C9-AF13-EEF7-2233644EA7E5}"/>
                </a:ext>
              </a:extLst>
            </p:cNvPr>
            <p:cNvCxnSpPr>
              <a:cxnSpLocks/>
            </p:cNvCxnSpPr>
            <p:nvPr/>
          </p:nvCxnSpPr>
          <p:spPr>
            <a:xfrm>
              <a:off x="2914247" y="3795784"/>
              <a:ext cx="239728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3" name="그룹 262">
              <a:extLst>
                <a:ext uri="{FF2B5EF4-FFF2-40B4-BE49-F238E27FC236}">
                  <a16:creationId xmlns:a16="http://schemas.microsoft.com/office/drawing/2014/main" id="{6896CF18-8A5A-6738-8E9A-1CBCD8003BAC}"/>
                </a:ext>
              </a:extLst>
            </p:cNvPr>
            <p:cNvGrpSpPr/>
            <p:nvPr/>
          </p:nvGrpSpPr>
          <p:grpSpPr>
            <a:xfrm>
              <a:off x="3148534" y="3716850"/>
              <a:ext cx="48725" cy="157867"/>
              <a:chOff x="1663538" y="2271752"/>
              <a:chExt cx="33334" cy="233443"/>
            </a:xfrm>
          </p:grpSpPr>
          <p:cxnSp>
            <p:nvCxnSpPr>
              <p:cNvPr id="264" name="직선 연결선 263">
                <a:extLst>
                  <a:ext uri="{FF2B5EF4-FFF2-40B4-BE49-F238E27FC236}">
                    <a16:creationId xmlns:a16="http://schemas.microsoft.com/office/drawing/2014/main" id="{7D51F7CB-EA73-CCC4-F8A6-E04C12F4EC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5" name="직선 연결선 264">
                <a:extLst>
                  <a:ext uri="{FF2B5EF4-FFF2-40B4-BE49-F238E27FC236}">
                    <a16:creationId xmlns:a16="http://schemas.microsoft.com/office/drawing/2014/main" id="{60DFA192-098F-993E-6771-97A968195E4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68" name="직선 연결선 267">
              <a:extLst>
                <a:ext uri="{FF2B5EF4-FFF2-40B4-BE49-F238E27FC236}">
                  <a16:creationId xmlns:a16="http://schemas.microsoft.com/office/drawing/2014/main" id="{4F4D09EC-9032-3E8E-4177-1A0DCEFC2693}"/>
                </a:ext>
              </a:extLst>
            </p:cNvPr>
            <p:cNvCxnSpPr>
              <a:cxnSpLocks/>
            </p:cNvCxnSpPr>
            <p:nvPr/>
          </p:nvCxnSpPr>
          <p:spPr>
            <a:xfrm>
              <a:off x="3197462" y="3795784"/>
              <a:ext cx="231538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9" name="TextBox 268">
                  <a:extLst>
                    <a:ext uri="{FF2B5EF4-FFF2-40B4-BE49-F238E27FC236}">
                      <a16:creationId xmlns:a16="http://schemas.microsoft.com/office/drawing/2014/main" id="{46D2977F-4FCD-5CD6-3D37-75749140FE2C}"/>
                    </a:ext>
                  </a:extLst>
                </p:cNvPr>
                <p:cNvSpPr txBox="1"/>
                <p:nvPr/>
              </p:nvSpPr>
              <p:spPr>
                <a:xfrm>
                  <a:off x="1405166" y="3529889"/>
                  <a:ext cx="343599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𝐓𝐎𝐗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 xmlns="">
            <p:sp>
              <p:nvSpPr>
                <p:cNvPr id="269" name="TextBox 268">
                  <a:extLst>
                    <a:ext uri="{FF2B5EF4-FFF2-40B4-BE49-F238E27FC236}">
                      <a16:creationId xmlns:a16="http://schemas.microsoft.com/office/drawing/2014/main" id="{46D2977F-4FCD-5CD6-3D37-75749140FE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05166" y="3529889"/>
                  <a:ext cx="343599" cy="179955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0" name="TextBox 269">
                  <a:extLst>
                    <a:ext uri="{FF2B5EF4-FFF2-40B4-BE49-F238E27FC236}">
                      <a16:creationId xmlns:a16="http://schemas.microsoft.com/office/drawing/2014/main" id="{71B450CB-DEBE-66D1-1FF6-F4B71B3E0EFB}"/>
                    </a:ext>
                  </a:extLst>
                </p:cNvPr>
                <p:cNvSpPr txBox="1"/>
                <p:nvPr/>
              </p:nvSpPr>
              <p:spPr>
                <a:xfrm>
                  <a:off x="1814163" y="3529889"/>
                  <a:ext cx="191295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 xmlns="">
            <p:sp>
              <p:nvSpPr>
                <p:cNvPr id="270" name="TextBox 269">
                  <a:extLst>
                    <a:ext uri="{FF2B5EF4-FFF2-40B4-BE49-F238E27FC236}">
                      <a16:creationId xmlns:a16="http://schemas.microsoft.com/office/drawing/2014/main" id="{71B450CB-DEBE-66D1-1FF6-F4B71B3E0E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14163" y="3529889"/>
                  <a:ext cx="191295" cy="179955"/>
                </a:xfrm>
                <a:prstGeom prst="rect">
                  <a:avLst/>
                </a:prstGeom>
                <a:blipFill>
                  <a:blip r:embed="rId20"/>
                  <a:stretch>
                    <a:fillRect l="-322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1" name="TextBox 270">
                  <a:extLst>
                    <a:ext uri="{FF2B5EF4-FFF2-40B4-BE49-F238E27FC236}">
                      <a16:creationId xmlns:a16="http://schemas.microsoft.com/office/drawing/2014/main" id="{C979B03C-CE83-5E47-37F8-A94D75DFCDF3}"/>
                    </a:ext>
                  </a:extLst>
                </p:cNvPr>
                <p:cNvSpPr txBox="1"/>
                <p:nvPr/>
              </p:nvSpPr>
              <p:spPr>
                <a:xfrm>
                  <a:off x="2009004" y="3529889"/>
                  <a:ext cx="191295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 xmlns="">
            <p:sp>
              <p:nvSpPr>
                <p:cNvPr id="271" name="TextBox 270">
                  <a:extLst>
                    <a:ext uri="{FF2B5EF4-FFF2-40B4-BE49-F238E27FC236}">
                      <a16:creationId xmlns:a16="http://schemas.microsoft.com/office/drawing/2014/main" id="{C979B03C-CE83-5E47-37F8-A94D75DFCD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09004" y="3529889"/>
                  <a:ext cx="191295" cy="179955"/>
                </a:xfrm>
                <a:prstGeom prst="rect">
                  <a:avLst/>
                </a:prstGeom>
                <a:blipFill>
                  <a:blip r:embed="rId21"/>
                  <a:stretch>
                    <a:fillRect l="-322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2" name="TextBox 271">
                  <a:extLst>
                    <a:ext uri="{FF2B5EF4-FFF2-40B4-BE49-F238E27FC236}">
                      <a16:creationId xmlns:a16="http://schemas.microsoft.com/office/drawing/2014/main" id="{FEB51AC4-52D3-8E0A-7C3D-5338A1592303}"/>
                    </a:ext>
                  </a:extLst>
                </p:cNvPr>
                <p:cNvSpPr txBox="1"/>
                <p:nvPr/>
              </p:nvSpPr>
              <p:spPr>
                <a:xfrm>
                  <a:off x="2196454" y="3529889"/>
                  <a:ext cx="191295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 xmlns="">
            <p:sp>
              <p:nvSpPr>
                <p:cNvPr id="272" name="TextBox 271">
                  <a:extLst>
                    <a:ext uri="{FF2B5EF4-FFF2-40B4-BE49-F238E27FC236}">
                      <a16:creationId xmlns:a16="http://schemas.microsoft.com/office/drawing/2014/main" id="{FEB51AC4-52D3-8E0A-7C3D-5338A15923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96454" y="3529889"/>
                  <a:ext cx="191295" cy="179955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3" name="TextBox 272">
                  <a:extLst>
                    <a:ext uri="{FF2B5EF4-FFF2-40B4-BE49-F238E27FC236}">
                      <a16:creationId xmlns:a16="http://schemas.microsoft.com/office/drawing/2014/main" id="{CF4FB1F2-BC44-FF72-203A-10ED9568662F}"/>
                    </a:ext>
                  </a:extLst>
                </p:cNvPr>
                <p:cNvSpPr txBox="1"/>
                <p:nvPr/>
              </p:nvSpPr>
              <p:spPr>
                <a:xfrm>
                  <a:off x="2736315" y="3529889"/>
                  <a:ext cx="200667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𝐍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 xmlns="">
            <p:sp>
              <p:nvSpPr>
                <p:cNvPr id="273" name="TextBox 272">
                  <a:extLst>
                    <a:ext uri="{FF2B5EF4-FFF2-40B4-BE49-F238E27FC236}">
                      <a16:creationId xmlns:a16="http://schemas.microsoft.com/office/drawing/2014/main" id="{CF4FB1F2-BC44-FF72-203A-10ED956866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36315" y="3529889"/>
                  <a:ext cx="200667" cy="179955"/>
                </a:xfrm>
                <a:prstGeom prst="rect">
                  <a:avLst/>
                </a:prstGeom>
                <a:blipFill>
                  <a:blip r:embed="rId23"/>
                  <a:stretch>
                    <a:fillRect l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4" name="TextBox 273">
                  <a:extLst>
                    <a:ext uri="{FF2B5EF4-FFF2-40B4-BE49-F238E27FC236}">
                      <a16:creationId xmlns:a16="http://schemas.microsoft.com/office/drawing/2014/main" id="{D1CD0F79-60FA-B84B-9906-CAD1F9EA9E10}"/>
                    </a:ext>
                  </a:extLst>
                </p:cNvPr>
                <p:cNvSpPr txBox="1"/>
                <p:nvPr/>
              </p:nvSpPr>
              <p:spPr>
                <a:xfrm>
                  <a:off x="3016373" y="3529889"/>
                  <a:ext cx="343599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𝐁𝐎𝐗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 xmlns="">
            <p:sp>
              <p:nvSpPr>
                <p:cNvPr id="274" name="TextBox 273">
                  <a:extLst>
                    <a:ext uri="{FF2B5EF4-FFF2-40B4-BE49-F238E27FC236}">
                      <a16:creationId xmlns:a16="http://schemas.microsoft.com/office/drawing/2014/main" id="{D1CD0F79-60FA-B84B-9906-CAD1F9EA9E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16373" y="3529889"/>
                  <a:ext cx="343599" cy="179955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9" name="TextBox 378">
              <a:extLst>
                <a:ext uri="{FF2B5EF4-FFF2-40B4-BE49-F238E27FC236}">
                  <a16:creationId xmlns:a16="http://schemas.microsoft.com/office/drawing/2014/main" id="{E2BADC0F-0D8F-86A1-DC99-A502776BBCEE}"/>
                </a:ext>
              </a:extLst>
            </p:cNvPr>
            <p:cNvSpPr txBox="1"/>
            <p:nvPr/>
          </p:nvSpPr>
          <p:spPr>
            <a:xfrm>
              <a:off x="1611519" y="3816623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0" name="TextBox 379">
              <a:extLst>
                <a:ext uri="{FF2B5EF4-FFF2-40B4-BE49-F238E27FC236}">
                  <a16:creationId xmlns:a16="http://schemas.microsoft.com/office/drawing/2014/main" id="{31B0E5D6-95BF-D485-B604-BA339A70F264}"/>
                </a:ext>
              </a:extLst>
            </p:cNvPr>
            <p:cNvSpPr txBox="1"/>
            <p:nvPr/>
          </p:nvSpPr>
          <p:spPr>
            <a:xfrm>
              <a:off x="1802943" y="3816623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1" name="TextBox 380">
              <a:extLst>
                <a:ext uri="{FF2B5EF4-FFF2-40B4-BE49-F238E27FC236}">
                  <a16:creationId xmlns:a16="http://schemas.microsoft.com/office/drawing/2014/main" id="{985DCA86-1987-EBE5-2604-F54B58722395}"/>
                </a:ext>
              </a:extLst>
            </p:cNvPr>
            <p:cNvSpPr txBox="1"/>
            <p:nvPr/>
          </p:nvSpPr>
          <p:spPr>
            <a:xfrm>
              <a:off x="1994367" y="3816623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2" name="TextBox 381">
              <a:extLst>
                <a:ext uri="{FF2B5EF4-FFF2-40B4-BE49-F238E27FC236}">
                  <a16:creationId xmlns:a16="http://schemas.microsoft.com/office/drawing/2014/main" id="{8C362E45-65A7-E6E9-F239-F7A30774B8E8}"/>
                </a:ext>
              </a:extLst>
            </p:cNvPr>
            <p:cNvSpPr txBox="1"/>
            <p:nvPr/>
          </p:nvSpPr>
          <p:spPr>
            <a:xfrm>
              <a:off x="2185791" y="3816623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3" name="TextBox 382">
              <a:extLst>
                <a:ext uri="{FF2B5EF4-FFF2-40B4-BE49-F238E27FC236}">
                  <a16:creationId xmlns:a16="http://schemas.microsoft.com/office/drawing/2014/main" id="{330677C6-3615-CB5D-D3D3-D512939DB7A2}"/>
                </a:ext>
              </a:extLst>
            </p:cNvPr>
            <p:cNvSpPr txBox="1"/>
            <p:nvPr/>
          </p:nvSpPr>
          <p:spPr>
            <a:xfrm>
              <a:off x="2450798" y="3816623"/>
              <a:ext cx="4521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N-1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4" name="TextBox 383">
              <a:extLst>
                <a:ext uri="{FF2B5EF4-FFF2-40B4-BE49-F238E27FC236}">
                  <a16:creationId xmlns:a16="http://schemas.microsoft.com/office/drawing/2014/main" id="{D24CAA37-19FB-8226-9462-3414FB0704E4}"/>
                </a:ext>
              </a:extLst>
            </p:cNvPr>
            <p:cNvSpPr txBox="1"/>
            <p:nvPr/>
          </p:nvSpPr>
          <p:spPr>
            <a:xfrm>
              <a:off x="2676853" y="3816623"/>
              <a:ext cx="4521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29" name="타원 528">
              <a:extLst>
                <a:ext uri="{FF2B5EF4-FFF2-40B4-BE49-F238E27FC236}">
                  <a16:creationId xmlns:a16="http://schemas.microsoft.com/office/drawing/2014/main" id="{150189BC-D2B2-F398-4069-4677D0510866}"/>
                </a:ext>
              </a:extLst>
            </p:cNvPr>
            <p:cNvSpPr/>
            <p:nvPr/>
          </p:nvSpPr>
          <p:spPr>
            <a:xfrm>
              <a:off x="1777021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0" name="타원 529">
              <a:extLst>
                <a:ext uri="{FF2B5EF4-FFF2-40B4-BE49-F238E27FC236}">
                  <a16:creationId xmlns:a16="http://schemas.microsoft.com/office/drawing/2014/main" id="{9C400FDC-FCA7-6175-E5E4-87ED54B83660}"/>
                </a:ext>
              </a:extLst>
            </p:cNvPr>
            <p:cNvSpPr/>
            <p:nvPr/>
          </p:nvSpPr>
          <p:spPr>
            <a:xfrm>
              <a:off x="1968447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1" name="타원 530">
              <a:extLst>
                <a:ext uri="{FF2B5EF4-FFF2-40B4-BE49-F238E27FC236}">
                  <a16:creationId xmlns:a16="http://schemas.microsoft.com/office/drawing/2014/main" id="{A5B8A8C4-3BBC-246F-44C6-C0A4557668FA}"/>
                </a:ext>
              </a:extLst>
            </p:cNvPr>
            <p:cNvSpPr/>
            <p:nvPr/>
          </p:nvSpPr>
          <p:spPr>
            <a:xfrm>
              <a:off x="2150121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2" name="타원 531">
              <a:extLst>
                <a:ext uri="{FF2B5EF4-FFF2-40B4-BE49-F238E27FC236}">
                  <a16:creationId xmlns:a16="http://schemas.microsoft.com/office/drawing/2014/main" id="{5C989211-52B7-CC69-B9F2-C30B55CCF789}"/>
                </a:ext>
              </a:extLst>
            </p:cNvPr>
            <p:cNvSpPr/>
            <p:nvPr/>
          </p:nvSpPr>
          <p:spPr>
            <a:xfrm>
              <a:off x="2339546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3" name="타원 532">
              <a:extLst>
                <a:ext uri="{FF2B5EF4-FFF2-40B4-BE49-F238E27FC236}">
                  <a16:creationId xmlns:a16="http://schemas.microsoft.com/office/drawing/2014/main" id="{791247FB-BC34-B6B2-7B11-183B40396106}"/>
                </a:ext>
              </a:extLst>
            </p:cNvPr>
            <p:cNvSpPr/>
            <p:nvPr/>
          </p:nvSpPr>
          <p:spPr>
            <a:xfrm>
              <a:off x="2710756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4" name="타원 533">
              <a:extLst>
                <a:ext uri="{FF2B5EF4-FFF2-40B4-BE49-F238E27FC236}">
                  <a16:creationId xmlns:a16="http://schemas.microsoft.com/office/drawing/2014/main" id="{AAA741BF-A0D6-6244-41FC-E760B180F0BD}"/>
                </a:ext>
              </a:extLst>
            </p:cNvPr>
            <p:cNvSpPr/>
            <p:nvPr/>
          </p:nvSpPr>
          <p:spPr>
            <a:xfrm>
              <a:off x="2891366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39" name="직선 연결선 538">
              <a:extLst>
                <a:ext uri="{FF2B5EF4-FFF2-40B4-BE49-F238E27FC236}">
                  <a16:creationId xmlns:a16="http://schemas.microsoft.com/office/drawing/2014/main" id="{CF794C72-937C-27DA-AA59-162B2A7BF2B0}"/>
                </a:ext>
              </a:extLst>
            </p:cNvPr>
            <p:cNvCxnSpPr>
              <a:cxnSpLocks/>
            </p:cNvCxnSpPr>
            <p:nvPr/>
          </p:nvCxnSpPr>
          <p:spPr>
            <a:xfrm>
              <a:off x="2645308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57" name="직선 연결선 556">
            <a:extLst>
              <a:ext uri="{FF2B5EF4-FFF2-40B4-BE49-F238E27FC236}">
                <a16:creationId xmlns:a16="http://schemas.microsoft.com/office/drawing/2014/main" id="{1DCA924D-889F-4010-F193-FAD3E9579653}"/>
              </a:ext>
            </a:extLst>
          </p:cNvPr>
          <p:cNvCxnSpPr>
            <a:cxnSpLocks/>
          </p:cNvCxnSpPr>
          <p:nvPr/>
        </p:nvCxnSpPr>
        <p:spPr>
          <a:xfrm flipH="1" flipV="1">
            <a:off x="2172399" y="2529631"/>
            <a:ext cx="83181" cy="466784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9" name="직선 연결선 558">
            <a:extLst>
              <a:ext uri="{FF2B5EF4-FFF2-40B4-BE49-F238E27FC236}">
                <a16:creationId xmlns:a16="http://schemas.microsoft.com/office/drawing/2014/main" id="{1AF49994-950C-FB04-539A-54D2449C468F}"/>
              </a:ext>
            </a:extLst>
          </p:cNvPr>
          <p:cNvCxnSpPr>
            <a:cxnSpLocks/>
          </p:cNvCxnSpPr>
          <p:nvPr/>
        </p:nvCxnSpPr>
        <p:spPr>
          <a:xfrm flipH="1" flipV="1">
            <a:off x="2214970" y="2529631"/>
            <a:ext cx="165852" cy="482650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2" name="직선 연결선 561">
            <a:extLst>
              <a:ext uri="{FF2B5EF4-FFF2-40B4-BE49-F238E27FC236}">
                <a16:creationId xmlns:a16="http://schemas.microsoft.com/office/drawing/2014/main" id="{F25C05D1-DEFC-7D4E-D0EA-31C16302E222}"/>
              </a:ext>
            </a:extLst>
          </p:cNvPr>
          <p:cNvCxnSpPr>
            <a:cxnSpLocks/>
          </p:cNvCxnSpPr>
          <p:nvPr/>
        </p:nvCxnSpPr>
        <p:spPr>
          <a:xfrm flipH="1" flipV="1">
            <a:off x="2261009" y="2529631"/>
            <a:ext cx="247446" cy="475508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9" name="직선 연결선 578">
            <a:extLst>
              <a:ext uri="{FF2B5EF4-FFF2-40B4-BE49-F238E27FC236}">
                <a16:creationId xmlns:a16="http://schemas.microsoft.com/office/drawing/2014/main" id="{99638A37-D62B-C22F-F916-8B9585B50644}"/>
              </a:ext>
            </a:extLst>
          </p:cNvPr>
          <p:cNvCxnSpPr>
            <a:cxnSpLocks/>
          </p:cNvCxnSpPr>
          <p:nvPr/>
        </p:nvCxnSpPr>
        <p:spPr>
          <a:xfrm flipV="1">
            <a:off x="2762461" y="2500327"/>
            <a:ext cx="92419" cy="499406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FA2D9360-9685-71B0-2C06-499149BD78E2}"/>
              </a:ext>
            </a:extLst>
          </p:cNvPr>
          <p:cNvSpPr txBox="1"/>
          <p:nvPr/>
        </p:nvSpPr>
        <p:spPr>
          <a:xfrm rot="5400000">
            <a:off x="961403" y="3370386"/>
            <a:ext cx="33580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">
                <a:latin typeface="Arial" panose="020B0604020202020204" pitchFamily="34" charset="0"/>
                <a:cs typeface="Arial" panose="020B0604020202020204" pitchFamily="34" charset="0"/>
              </a:rPr>
              <a:t>WL</a:t>
            </a:r>
            <a:endParaRPr lang="ko-KR" altLang="en-US" sz="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F8F0651-08F3-44A4-9D42-DBA1562AEE0F}"/>
              </a:ext>
            </a:extLst>
          </p:cNvPr>
          <p:cNvSpPr txBox="1"/>
          <p:nvPr/>
        </p:nvSpPr>
        <p:spPr>
          <a:xfrm rot="5400000">
            <a:off x="961403" y="2940128"/>
            <a:ext cx="33580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">
                <a:latin typeface="Arial" panose="020B0604020202020204" pitchFamily="34" charset="0"/>
                <a:cs typeface="Arial" panose="020B0604020202020204" pitchFamily="34" charset="0"/>
              </a:rPr>
              <a:t>WL</a:t>
            </a:r>
            <a:endParaRPr lang="ko-KR" altLang="en-US" sz="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1CF736D-F546-0177-CE4A-146908196265}"/>
              </a:ext>
            </a:extLst>
          </p:cNvPr>
          <p:cNvSpPr txBox="1"/>
          <p:nvPr/>
        </p:nvSpPr>
        <p:spPr>
          <a:xfrm rot="5400000">
            <a:off x="961403" y="2509871"/>
            <a:ext cx="33580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" dirty="0">
                <a:latin typeface="Arial" panose="020B0604020202020204" pitchFamily="34" charset="0"/>
                <a:cs typeface="Arial" panose="020B0604020202020204" pitchFamily="34" charset="0"/>
              </a:rPr>
              <a:t>WL</a:t>
            </a:r>
            <a:endParaRPr lang="ko-KR" altLang="en-US" sz="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0FB7BBB2-2391-E4F6-630E-ED942CA5F2E8}"/>
              </a:ext>
            </a:extLst>
          </p:cNvPr>
          <p:cNvCxnSpPr>
            <a:cxnSpLocks/>
          </p:cNvCxnSpPr>
          <p:nvPr/>
        </p:nvCxnSpPr>
        <p:spPr>
          <a:xfrm>
            <a:off x="4000810" y="2597734"/>
            <a:ext cx="82100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E61A42CE-A2B0-6011-6A37-5E29295602F9}"/>
              </a:ext>
            </a:extLst>
          </p:cNvPr>
          <p:cNvSpPr txBox="1"/>
          <p:nvPr/>
        </p:nvSpPr>
        <p:spPr>
          <a:xfrm>
            <a:off x="2901778" y="2019899"/>
            <a:ext cx="685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" dirty="0">
                <a:latin typeface="Arial" panose="020B0604020202020204" pitchFamily="34" charset="0"/>
                <a:cs typeface="Arial" panose="020B0604020202020204" pitchFamily="34" charset="0"/>
              </a:rPr>
              <a:t>extracted from TCAD after program</a:t>
            </a:r>
            <a:endParaRPr lang="ko-KR" altLang="en-US" sz="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96027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3DBDD4-CBC6-200E-1584-D4168B12FA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제목 1">
            <a:extLst>
              <a:ext uri="{FF2B5EF4-FFF2-40B4-BE49-F238E27FC236}">
                <a16:creationId xmlns:a16="http://schemas.microsoft.com/office/drawing/2014/main" id="{BAF59E11-8A4D-331F-B961-09440EF16E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</p:spPr>
        <p:txBody>
          <a:bodyPr/>
          <a:lstStyle/>
          <a:p>
            <a:r>
              <a:rPr lang="en-US" altLang="ko-KR" dirty="0"/>
              <a:t>Fig. 2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7605C98-BA56-08F0-87C1-FA4C1C3729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256" y="8090602"/>
            <a:ext cx="2045312" cy="1287993"/>
          </a:xfrm>
          <a:prstGeom prst="rect">
            <a:avLst/>
          </a:prstGeom>
        </p:spPr>
      </p:pic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5B07179D-A794-D432-1AF5-D5CFEBAC5A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6354765"/>
              </p:ext>
            </p:extLst>
          </p:nvPr>
        </p:nvGraphicFramePr>
        <p:xfrm>
          <a:off x="2266217" y="4045272"/>
          <a:ext cx="1104369" cy="929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27459">
                  <a:extLst>
                    <a:ext uri="{9D8B030D-6E8A-4147-A177-3AD203B41FA5}">
                      <a16:colId xmlns:a16="http://schemas.microsoft.com/office/drawing/2014/main" val="1036565899"/>
                    </a:ext>
                  </a:extLst>
                </a:gridCol>
                <a:gridCol w="350317">
                  <a:extLst>
                    <a:ext uri="{9D8B030D-6E8A-4147-A177-3AD203B41FA5}">
                      <a16:colId xmlns:a16="http://schemas.microsoft.com/office/drawing/2014/main" val="1832300329"/>
                    </a:ext>
                  </a:extLst>
                </a:gridCol>
                <a:gridCol w="326593">
                  <a:extLst>
                    <a:ext uri="{9D8B030D-6E8A-4147-A177-3AD203B41FA5}">
                      <a16:colId xmlns:a16="http://schemas.microsoft.com/office/drawing/2014/main" val="1373664809"/>
                    </a:ext>
                  </a:extLst>
                </a:gridCol>
              </a:tblGrid>
              <a:tr h="175806">
                <a:tc gridSpan="3">
                  <a:txBody>
                    <a:bodyPr/>
                    <a:lstStyle/>
                    <a:p>
                      <a:pPr marL="0" marR="0" lvl="0" indent="0" algn="ctr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Trap profile [6], [9]</a:t>
                      </a:r>
                      <a:endParaRPr lang="ko-KR" altLang="en-US" sz="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3176738"/>
                  </a:ext>
                </a:extLst>
              </a:tr>
              <a:tr h="1758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</a:t>
                      </a:r>
                      <a:r>
                        <a:rPr lang="en-US" altLang="ko-KR" sz="600" baseline="-25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t, shallow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0.84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[eV]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9166257"/>
                  </a:ext>
                </a:extLst>
              </a:tr>
              <a:tr h="1758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σ</a:t>
                      </a:r>
                      <a:r>
                        <a:rPr lang="en-US" altLang="ko-KR" sz="600" baseline="-25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</a:t>
                      </a:r>
                      <a:r>
                        <a:rPr lang="en-US" altLang="ko-KR" sz="600" baseline="-25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shallow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0.2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[eV]</a:t>
                      </a:r>
                      <a:endParaRPr lang="ko-KR" altLang="en-US" sz="600" baseline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11089072"/>
                  </a:ext>
                </a:extLst>
              </a:tr>
              <a:tr h="1758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</a:t>
                      </a:r>
                      <a:r>
                        <a:rPr lang="en-US" altLang="ko-KR" sz="600" baseline="-25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t, deep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1.8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[eV]</a:t>
                      </a:r>
                      <a:endParaRPr lang="ko-KR" altLang="en-US" sz="600" baseline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1031779"/>
                  </a:ext>
                </a:extLst>
              </a:tr>
              <a:tr h="1758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σ</a:t>
                      </a:r>
                      <a:r>
                        <a:rPr lang="en-US" altLang="ko-KR" sz="600" baseline="-25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</a:t>
                      </a:r>
                      <a:r>
                        <a:rPr lang="en-US" altLang="ko-KR" sz="600" baseline="-25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deep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[eV]</a:t>
                      </a:r>
                      <a:endParaRPr lang="ko-KR" altLang="en-US" sz="600" baseline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33812994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CC39B739-D61D-A8B5-B665-EB04059027C7}"/>
              </a:ext>
            </a:extLst>
          </p:cNvPr>
          <p:cNvSpPr txBox="1"/>
          <p:nvPr/>
        </p:nvSpPr>
        <p:spPr>
          <a:xfrm>
            <a:off x="813926" y="6361323"/>
            <a:ext cx="3604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ko-KR" altLang="en-US" sz="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2" name="개체 1">
            <a:extLst>
              <a:ext uri="{FF2B5EF4-FFF2-40B4-BE49-F238E27FC236}">
                <a16:creationId xmlns:a16="http://schemas.microsoft.com/office/drawing/2014/main" id="{FFBBF567-4CE9-BBCA-BFB1-7935533AED0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86194788"/>
              </p:ext>
            </p:extLst>
          </p:nvPr>
        </p:nvGraphicFramePr>
        <p:xfrm>
          <a:off x="1883999" y="6424836"/>
          <a:ext cx="1490637" cy="13095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3" imgW="4722409" imgH="2488474" progId="Origin50.Graph">
                  <p:embed/>
                </p:oleObj>
              </mc:Choice>
              <mc:Fallback>
                <p:oleObj name="Graph" r:id="rId3" imgW="4722409" imgH="2488474" progId="Origin50.Graph">
                  <p:embed/>
                  <p:pic>
                    <p:nvPicPr>
                      <p:cNvPr id="2" name="개체 1">
                        <a:extLst>
                          <a:ext uri="{FF2B5EF4-FFF2-40B4-BE49-F238E27FC236}">
                            <a16:creationId xmlns:a16="http://schemas.microsoft.com/office/drawing/2014/main" id="{1AC33133-8D65-1B94-57AA-17E0ABA7F4B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883999" y="6424836"/>
                        <a:ext cx="1490637" cy="13095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개체 5">
            <a:extLst>
              <a:ext uri="{FF2B5EF4-FFF2-40B4-BE49-F238E27FC236}">
                <a16:creationId xmlns:a16="http://schemas.microsoft.com/office/drawing/2014/main" id="{8085F340-FAEE-8561-CC64-7B8D9FCF1AC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67809473"/>
              </p:ext>
            </p:extLst>
          </p:nvPr>
        </p:nvGraphicFramePr>
        <p:xfrm>
          <a:off x="825328" y="6432747"/>
          <a:ext cx="1195151" cy="112389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5" imgW="6830479" imgH="2980257" progId="Origin50.Graph">
                  <p:embed/>
                </p:oleObj>
              </mc:Choice>
              <mc:Fallback>
                <p:oleObj name="Graph" r:id="rId5" imgW="6830479" imgH="2980257" progId="Origin50.Graph">
                  <p:embed/>
                  <p:pic>
                    <p:nvPicPr>
                      <p:cNvPr id="6" name="개체 5">
                        <a:extLst>
                          <a:ext uri="{FF2B5EF4-FFF2-40B4-BE49-F238E27FC236}">
                            <a16:creationId xmlns:a16="http://schemas.microsoft.com/office/drawing/2014/main" id="{017634A6-0E54-B13E-9486-AE982B67607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825328" y="6432747"/>
                        <a:ext cx="1195151" cy="112389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75CDC15-8716-1555-EC79-B72E61FDAE35}"/>
              </a:ext>
            </a:extLst>
          </p:cNvPr>
          <p:cNvSpPr txBox="1"/>
          <p:nvPr/>
        </p:nvSpPr>
        <p:spPr>
          <a:xfrm>
            <a:off x="2034706" y="6361323"/>
            <a:ext cx="3604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ko-KR" altLang="en-US" sz="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378BE0-AB87-BF55-F88E-896A136FAD82}"/>
              </a:ext>
            </a:extLst>
          </p:cNvPr>
          <p:cNvSpPr txBox="1"/>
          <p:nvPr/>
        </p:nvSpPr>
        <p:spPr>
          <a:xfrm>
            <a:off x="537719" y="1954523"/>
            <a:ext cx="36049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b="1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ko-KR" altLang="en-US" sz="7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1" name="TextBox 340">
            <a:extLst>
              <a:ext uri="{FF2B5EF4-FFF2-40B4-BE49-F238E27FC236}">
                <a16:creationId xmlns:a16="http://schemas.microsoft.com/office/drawing/2014/main" id="{C9C19EED-F9DE-8FF8-55E2-86BE953A543F}"/>
              </a:ext>
            </a:extLst>
          </p:cNvPr>
          <p:cNvSpPr txBox="1"/>
          <p:nvPr/>
        </p:nvSpPr>
        <p:spPr>
          <a:xfrm>
            <a:off x="600781" y="6142882"/>
            <a:ext cx="332519" cy="1987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b="1" dirty="0">
                <a:latin typeface="Arial" panose="020B0604020202020204" pitchFamily="34" charset="0"/>
                <a:cs typeface="Arial" panose="020B0604020202020204" pitchFamily="34" charset="0"/>
              </a:rPr>
              <a:t>(e)</a:t>
            </a:r>
            <a:endParaRPr lang="ko-KR" altLang="en-US" sz="7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66" name="개체 65">
            <a:extLst>
              <a:ext uri="{FF2B5EF4-FFF2-40B4-BE49-F238E27FC236}">
                <a16:creationId xmlns:a16="http://schemas.microsoft.com/office/drawing/2014/main" id="{53425263-3E34-2652-799F-E0AC3F4F1EC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32695148"/>
              </p:ext>
            </p:extLst>
          </p:nvPr>
        </p:nvGraphicFramePr>
        <p:xfrm>
          <a:off x="665582" y="2132255"/>
          <a:ext cx="2740025" cy="1063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7" imgW="6012550" imgH="2335684" progId="Origin50.Graph">
                  <p:embed/>
                </p:oleObj>
              </mc:Choice>
              <mc:Fallback>
                <p:oleObj name="Graph" r:id="rId7" imgW="6012550" imgH="2335684" progId="Origin50.Graph">
                  <p:embed/>
                  <p:pic>
                    <p:nvPicPr>
                      <p:cNvPr id="66" name="개체 65">
                        <a:extLst>
                          <a:ext uri="{FF2B5EF4-FFF2-40B4-BE49-F238E27FC236}">
                            <a16:creationId xmlns:a16="http://schemas.microsoft.com/office/drawing/2014/main" id="{53425263-3E34-2652-799F-E0AC3F4F1EC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665582" y="2132255"/>
                        <a:ext cx="2740025" cy="10636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CA2325B-9B44-51DF-304A-DB0DF2126C5A}"/>
                  </a:ext>
                </a:extLst>
              </p:cNvPr>
              <p:cNvSpPr txBox="1"/>
              <p:nvPr/>
            </p:nvSpPr>
            <p:spPr>
              <a:xfrm>
                <a:off x="1095523" y="2546011"/>
                <a:ext cx="106510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𝑒</m:t>
                        </m:r>
                      </m:e>
                      <m:sub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𝑐h</m:t>
                        </m:r>
                      </m:sub>
                    </m:sSub>
                    <m:r>
                      <a:rPr lang="en-US" altLang="ko-KR" sz="7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sSub>
                      <m:sSubPr>
                        <m:ctrlP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𝜈</m:t>
                        </m:r>
                      </m:e>
                      <m:sub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𝑐h</m:t>
                        </m:r>
                      </m:sub>
                    </m:sSub>
                    <m:r>
                      <a:rPr lang="en-US" altLang="ko-KR" sz="7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×</m:t>
                    </m:r>
                    <m:sSub>
                      <m:sSubPr>
                        <m:ctrlP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altLang="ko-KR" sz="7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dPr>
                          <m:e>
                            <m:r>
                              <a:rPr lang="en-US" altLang="ko-KR" sz="7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𝑇𝐶</m:t>
                            </m:r>
                          </m:e>
                        </m:d>
                      </m:e>
                      <m:sub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𝑐h</m:t>
                        </m:r>
                      </m:sub>
                    </m:sSub>
                  </m:oMath>
                </a14:m>
                <a:r>
                  <a:rPr lang="ko-KR" altLang="en-US" sz="7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 panose="02020603050405020304" pitchFamily="18" charset="0"/>
                    <a:ea typeface="맑은 고딕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CA2325B-9B44-51DF-304A-DB0DF2126C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5523" y="2546011"/>
                <a:ext cx="1065102" cy="20005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FEF9A05-DF28-807E-52E7-393860474F16}"/>
                  </a:ext>
                </a:extLst>
              </p:cNvPr>
              <p:cNvSpPr txBox="1"/>
              <p:nvPr/>
            </p:nvSpPr>
            <p:spPr>
              <a:xfrm>
                <a:off x="2017744" y="2540322"/>
                <a:ext cx="1106459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𝑒</m:t>
                        </m:r>
                      </m:e>
                      <m:sub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𝑊𝐿</m:t>
                        </m:r>
                      </m:sub>
                    </m:sSub>
                    <m:r>
                      <a:rPr lang="en-US" altLang="ko-KR" sz="7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sSub>
                      <m:sSubPr>
                        <m:ctrlP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𝜈</m:t>
                        </m:r>
                      </m:e>
                      <m:sub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𝑊𝐿</m:t>
                        </m:r>
                      </m:sub>
                    </m:sSub>
                    <m:r>
                      <a:rPr lang="en-US" altLang="ko-KR" sz="7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×</m:t>
                    </m:r>
                    <m:sSub>
                      <m:sSubPr>
                        <m:ctrlP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altLang="ko-KR" sz="7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dPr>
                          <m:e>
                            <m:r>
                              <a:rPr lang="en-US" altLang="ko-KR" sz="7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𝑇𝐶</m:t>
                            </m:r>
                          </m:e>
                        </m:d>
                      </m:e>
                      <m:sub>
                        <m:r>
                          <a:rPr lang="en-US" altLang="ko-KR" sz="7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𝑊𝐿</m:t>
                        </m:r>
                      </m:sub>
                    </m:sSub>
                  </m:oMath>
                </a14:m>
                <a:r>
                  <a:rPr lang="ko-KR" altLang="en-US" sz="7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 panose="02020603050405020304" pitchFamily="18" charset="0"/>
                    <a:ea typeface="맑은 고딕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FEF9A05-DF28-807E-52E7-393860474F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7744" y="2540322"/>
                <a:ext cx="1106459" cy="20005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곱하기 기호 11">
            <a:extLst>
              <a:ext uri="{FF2B5EF4-FFF2-40B4-BE49-F238E27FC236}">
                <a16:creationId xmlns:a16="http://schemas.microsoft.com/office/drawing/2014/main" id="{6E9F9247-568F-76BC-2660-6EFD3C8BAEA3}"/>
              </a:ext>
            </a:extLst>
          </p:cNvPr>
          <p:cNvSpPr/>
          <p:nvPr/>
        </p:nvSpPr>
        <p:spPr>
          <a:xfrm>
            <a:off x="1815675" y="2503836"/>
            <a:ext cx="108857" cy="108857"/>
          </a:xfrm>
          <a:prstGeom prst="mathMultiply">
            <a:avLst>
              <a:gd name="adj1" fmla="val 6378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379F0D7C-4733-8E5B-F0E5-404856AC1543}"/>
              </a:ext>
            </a:extLst>
          </p:cNvPr>
          <p:cNvCxnSpPr>
            <a:cxnSpLocks/>
          </p:cNvCxnSpPr>
          <p:nvPr/>
        </p:nvCxnSpPr>
        <p:spPr>
          <a:xfrm flipH="1">
            <a:off x="1082974" y="2558264"/>
            <a:ext cx="732701" cy="0"/>
          </a:xfrm>
          <a:prstGeom prst="straightConnector1">
            <a:avLst/>
          </a:prstGeom>
          <a:ln w="9525">
            <a:solidFill>
              <a:schemeClr val="tx1"/>
            </a:solidFill>
            <a:prstDash val="sysDash"/>
            <a:headEnd w="sm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9DC054B0-48B8-5D71-AABB-A023CF866E98}"/>
              </a:ext>
            </a:extLst>
          </p:cNvPr>
          <p:cNvCxnSpPr>
            <a:cxnSpLocks/>
          </p:cNvCxnSpPr>
          <p:nvPr/>
        </p:nvCxnSpPr>
        <p:spPr>
          <a:xfrm>
            <a:off x="1924532" y="2558264"/>
            <a:ext cx="1142516" cy="0"/>
          </a:xfrm>
          <a:prstGeom prst="straightConnector1">
            <a:avLst/>
          </a:prstGeom>
          <a:ln w="9525">
            <a:solidFill>
              <a:schemeClr val="tx1"/>
            </a:solidFill>
            <a:prstDash val="sysDash"/>
            <a:headEnd w="sm" len="med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3C379FFB-9D70-842C-D59F-669976DC5C58}"/>
              </a:ext>
            </a:extLst>
          </p:cNvPr>
          <p:cNvSpPr txBox="1"/>
          <p:nvPr/>
        </p:nvSpPr>
        <p:spPr>
          <a:xfrm>
            <a:off x="537719" y="3113950"/>
            <a:ext cx="36049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b="1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ko-KR" altLang="en-US" sz="7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526C588-7931-6050-311F-BE73C1337BB8}"/>
              </a:ext>
            </a:extLst>
          </p:cNvPr>
          <p:cNvSpPr txBox="1"/>
          <p:nvPr/>
        </p:nvSpPr>
        <p:spPr>
          <a:xfrm>
            <a:off x="537719" y="3829828"/>
            <a:ext cx="36049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b="1" dirty="0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ko-KR" altLang="en-US" sz="7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CACF45BC-BADE-6AA3-27B0-1ADDD0B2DD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5729805"/>
              </p:ext>
            </p:extLst>
          </p:nvPr>
        </p:nvGraphicFramePr>
        <p:xfrm>
          <a:off x="684634" y="4048576"/>
          <a:ext cx="1489020" cy="929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53811">
                  <a:extLst>
                    <a:ext uri="{9D8B030D-6E8A-4147-A177-3AD203B41FA5}">
                      <a16:colId xmlns:a16="http://schemas.microsoft.com/office/drawing/2014/main" val="1036565899"/>
                    </a:ext>
                  </a:extLst>
                </a:gridCol>
                <a:gridCol w="656071">
                  <a:extLst>
                    <a:ext uri="{9D8B030D-6E8A-4147-A177-3AD203B41FA5}">
                      <a16:colId xmlns:a16="http://schemas.microsoft.com/office/drawing/2014/main" val="1832300329"/>
                    </a:ext>
                  </a:extLst>
                </a:gridCol>
                <a:gridCol w="479138">
                  <a:extLst>
                    <a:ext uri="{9D8B030D-6E8A-4147-A177-3AD203B41FA5}">
                      <a16:colId xmlns:a16="http://schemas.microsoft.com/office/drawing/2014/main" val="1373664809"/>
                    </a:ext>
                  </a:extLst>
                </a:gridCol>
              </a:tblGrid>
              <a:tr h="157897"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ko-KR" sz="7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TCAD parameter deck</a:t>
                      </a:r>
                      <a:endParaRPr lang="ko-KR" altLang="en-US" sz="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45443854"/>
                  </a:ext>
                </a:extLst>
              </a:tr>
              <a:tr h="15789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μ</a:t>
                      </a:r>
                      <a:r>
                        <a:rPr lang="en-US" altLang="ko-KR" sz="600" baseline="-25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CTN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0.1 [8]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[cm</a:t>
                      </a:r>
                      <a:r>
                        <a:rPr lang="en-US" altLang="ko-KR" sz="600" baseline="30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/V·s]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9166257"/>
                  </a:ext>
                </a:extLst>
              </a:tr>
              <a:tr h="15789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σ</a:t>
                      </a:r>
                      <a:r>
                        <a:rPr lang="en-US" altLang="ko-KR" sz="600" baseline="-25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1e-16 [8]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</a:t>
                      </a:r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cm</a:t>
                      </a:r>
                      <a:r>
                        <a:rPr lang="en-US" altLang="ko-KR" sz="600" baseline="30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r>
                        <a:rPr lang="en-US" altLang="ko-KR" sz="6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]</a:t>
                      </a:r>
                      <a:endParaRPr lang="ko-KR" altLang="en-US" sz="600" baseline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11089072"/>
                  </a:ext>
                </a:extLst>
              </a:tr>
              <a:tr h="15789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ε</a:t>
                      </a:r>
                      <a:r>
                        <a:rPr lang="en-US" altLang="ko-KR" sz="600" baseline="-25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</a:t>
                      </a:r>
                      <a:r>
                        <a:rPr lang="en-US" altLang="ko-KR" sz="600" baseline="-25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/N/O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3.9/7.5/3.9ε</a:t>
                      </a:r>
                      <a:r>
                        <a:rPr lang="en-US" altLang="ko-KR" sz="600" baseline="-25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r>
                        <a:rPr lang="en-US" altLang="ko-KR" sz="6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[9]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[F/cm]</a:t>
                      </a:r>
                      <a:endParaRPr lang="ko-KR" altLang="en-US" sz="600" baseline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1031779"/>
                  </a:ext>
                </a:extLst>
              </a:tr>
              <a:tr h="15789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</a:t>
                      </a:r>
                      <a:r>
                        <a:rPr lang="en-US" altLang="ko-KR" sz="600" baseline="-25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</a:t>
                      </a:r>
                      <a:r>
                        <a:rPr lang="en-US" altLang="ko-KR" sz="600" baseline="-25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/N/O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3/6/8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[nm]</a:t>
                      </a:r>
                      <a:endParaRPr lang="ko-KR" altLang="en-US" sz="600" baseline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33812994"/>
                  </a:ext>
                </a:extLst>
              </a:tr>
            </a:tbl>
          </a:graphicData>
        </a:graphic>
      </p:graphicFrame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E2A6348E-CC66-FD55-6822-45DFE19DF298}"/>
              </a:ext>
            </a:extLst>
          </p:cNvPr>
          <p:cNvCxnSpPr>
            <a:cxnSpLocks/>
          </p:cNvCxnSpPr>
          <p:nvPr/>
        </p:nvCxnSpPr>
        <p:spPr>
          <a:xfrm>
            <a:off x="1063649" y="2351620"/>
            <a:ext cx="0" cy="382939"/>
          </a:xfrm>
          <a:prstGeom prst="straightConnector1">
            <a:avLst/>
          </a:prstGeom>
          <a:ln w="9525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C8FD74A8-D3CD-2A79-AD7D-E87064AD8C20}"/>
              </a:ext>
            </a:extLst>
          </p:cNvPr>
          <p:cNvCxnSpPr>
            <a:cxnSpLocks/>
          </p:cNvCxnSpPr>
          <p:nvPr/>
        </p:nvCxnSpPr>
        <p:spPr>
          <a:xfrm>
            <a:off x="3106612" y="2405065"/>
            <a:ext cx="0" cy="434870"/>
          </a:xfrm>
          <a:prstGeom prst="straightConnector1">
            <a:avLst/>
          </a:prstGeom>
          <a:ln w="9525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A4DB7892-606B-23B0-25E8-E57A8215B213}"/>
              </a:ext>
            </a:extLst>
          </p:cNvPr>
          <p:cNvCxnSpPr>
            <a:cxnSpLocks/>
          </p:cNvCxnSpPr>
          <p:nvPr/>
        </p:nvCxnSpPr>
        <p:spPr>
          <a:xfrm>
            <a:off x="1505637" y="2307433"/>
            <a:ext cx="0" cy="148963"/>
          </a:xfrm>
          <a:prstGeom prst="straightConnector1">
            <a:avLst/>
          </a:prstGeom>
          <a:ln w="9525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29A03444-22CB-4B90-A6E7-22F01708330C}"/>
              </a:ext>
            </a:extLst>
          </p:cNvPr>
          <p:cNvSpPr txBox="1"/>
          <p:nvPr/>
        </p:nvSpPr>
        <p:spPr>
          <a:xfrm rot="16200000">
            <a:off x="733194" y="2398086"/>
            <a:ext cx="5031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3.1 eV</a:t>
            </a:r>
            <a:endParaRPr lang="ko-KR" altLang="en-US" sz="800" baseline="-250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30A344F-31CB-1F32-D3DE-B161F56FC8F9}"/>
              </a:ext>
            </a:extLst>
          </p:cNvPr>
          <p:cNvSpPr txBox="1"/>
          <p:nvPr/>
        </p:nvSpPr>
        <p:spPr>
          <a:xfrm>
            <a:off x="1454008" y="2260422"/>
            <a:ext cx="5031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1.0 eV</a:t>
            </a:r>
            <a:endParaRPr lang="ko-KR" altLang="en-US" sz="800" baseline="-25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409DF42-9093-A1A1-9D3A-322A34369849}"/>
              </a:ext>
            </a:extLst>
          </p:cNvPr>
          <p:cNvSpPr txBox="1"/>
          <p:nvPr/>
        </p:nvSpPr>
        <p:spPr>
          <a:xfrm rot="16200000">
            <a:off x="2914342" y="2506678"/>
            <a:ext cx="5709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3.65 eV</a:t>
            </a:r>
            <a:endParaRPr lang="ko-KR" altLang="en-US" sz="800" baseline="-25000" dirty="0"/>
          </a:p>
        </p:txBody>
      </p:sp>
      <p:graphicFrame>
        <p:nvGraphicFramePr>
          <p:cNvPr id="34" name="개체 33">
            <a:extLst>
              <a:ext uri="{FF2B5EF4-FFF2-40B4-BE49-F238E27FC236}">
                <a16:creationId xmlns:a16="http://schemas.microsoft.com/office/drawing/2014/main" id="{32DB6798-4516-1212-D064-B5BCCDF489E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59739522"/>
              </p:ext>
            </p:extLst>
          </p:nvPr>
        </p:nvGraphicFramePr>
        <p:xfrm>
          <a:off x="676202" y="3105282"/>
          <a:ext cx="939996" cy="83865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11" imgW="2032395" imgH="1812415" progId="Origin50.Graph">
                  <p:embed/>
                </p:oleObj>
              </mc:Choice>
              <mc:Fallback>
                <p:oleObj name="Graph" r:id="rId11" imgW="2032395" imgH="1812415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676202" y="3105282"/>
                        <a:ext cx="939996" cy="83865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4D7A2743-1EB3-7279-A55E-50E052EECFF4}"/>
              </a:ext>
            </a:extLst>
          </p:cNvPr>
          <p:cNvCxnSpPr>
            <a:cxnSpLocks/>
          </p:cNvCxnSpPr>
          <p:nvPr/>
        </p:nvCxnSpPr>
        <p:spPr>
          <a:xfrm>
            <a:off x="684634" y="3801330"/>
            <a:ext cx="82100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923994BD-F94A-7C41-450E-EBDF18DFB03C}"/>
              </a:ext>
            </a:extLst>
          </p:cNvPr>
          <p:cNvSpPr txBox="1"/>
          <p:nvPr/>
        </p:nvSpPr>
        <p:spPr>
          <a:xfrm>
            <a:off x="1254634" y="3660781"/>
            <a:ext cx="72136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altLang="ko-KR" sz="700" b="1" dirty="0" err="1"/>
              <a:t>n</a:t>
            </a:r>
            <a:r>
              <a:rPr lang="en-US" altLang="ko-KR" sz="700" b="1" baseline="-25000" dirty="0" err="1"/>
              <a:t>t</a:t>
            </a:r>
            <a:endParaRPr lang="ko-KR" altLang="en-US" sz="700" b="1" baseline="-25000" dirty="0"/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2A2D6978-618F-27AB-667E-497F46FCFAD5}"/>
              </a:ext>
            </a:extLst>
          </p:cNvPr>
          <p:cNvCxnSpPr>
            <a:cxnSpLocks/>
          </p:cNvCxnSpPr>
          <p:nvPr/>
        </p:nvCxnSpPr>
        <p:spPr>
          <a:xfrm>
            <a:off x="746316" y="3597328"/>
            <a:ext cx="629486" cy="0"/>
          </a:xfrm>
          <a:prstGeom prst="straightConnector1">
            <a:avLst/>
          </a:prstGeom>
          <a:ln w="9525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B7C00377-887B-7B53-5E7A-C388903212D4}"/>
              </a:ext>
            </a:extLst>
          </p:cNvPr>
          <p:cNvSpPr txBox="1"/>
          <p:nvPr/>
        </p:nvSpPr>
        <p:spPr>
          <a:xfrm>
            <a:off x="879325" y="3427837"/>
            <a:ext cx="4072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 err="1"/>
              <a:t>t</a:t>
            </a:r>
            <a:r>
              <a:rPr lang="en-US" altLang="ko-KR" sz="800" baseline="-25000" dirty="0" err="1"/>
              <a:t>CTN</a:t>
            </a:r>
            <a:endParaRPr lang="ko-KR" altLang="en-US" sz="800" baseline="-250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68E551C-DAE5-A5D6-47E5-878529F87F2E}"/>
              </a:ext>
            </a:extLst>
          </p:cNvPr>
          <p:cNvSpPr txBox="1"/>
          <p:nvPr/>
        </p:nvSpPr>
        <p:spPr>
          <a:xfrm>
            <a:off x="1364141" y="3187716"/>
            <a:ext cx="670565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dirty="0">
                <a:latin typeface="Arial" panose="020B0604020202020204" pitchFamily="34" charset="0"/>
                <a:cs typeface="Arial" panose="020B0604020202020204" pitchFamily="34" charset="0"/>
              </a:rPr>
              <a:t>TCAD-aligned model consistent with [6], [7]</a:t>
            </a:r>
            <a:endParaRPr lang="ko-KR" altLang="en-US" sz="7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E74AC430-D25F-8BCD-984F-F8AAC25DE4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0585430"/>
              </p:ext>
            </p:extLst>
          </p:nvPr>
        </p:nvGraphicFramePr>
        <p:xfrm>
          <a:off x="2034801" y="3303268"/>
          <a:ext cx="1335785" cy="563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27459">
                  <a:extLst>
                    <a:ext uri="{9D8B030D-6E8A-4147-A177-3AD203B41FA5}">
                      <a16:colId xmlns:a16="http://schemas.microsoft.com/office/drawing/2014/main" val="1036565899"/>
                    </a:ext>
                  </a:extLst>
                </a:gridCol>
                <a:gridCol w="534946">
                  <a:extLst>
                    <a:ext uri="{9D8B030D-6E8A-4147-A177-3AD203B41FA5}">
                      <a16:colId xmlns:a16="http://schemas.microsoft.com/office/drawing/2014/main" val="1832300329"/>
                    </a:ext>
                  </a:extLst>
                </a:gridCol>
                <a:gridCol w="373380">
                  <a:extLst>
                    <a:ext uri="{9D8B030D-6E8A-4147-A177-3AD203B41FA5}">
                      <a16:colId xmlns:a16="http://schemas.microsoft.com/office/drawing/2014/main" val="1373664809"/>
                    </a:ext>
                  </a:extLst>
                </a:gridCol>
              </a:tblGrid>
              <a:tr h="181679">
                <a:tc gridSpan="3">
                  <a:txBody>
                    <a:bodyPr/>
                    <a:lstStyle/>
                    <a:p>
                      <a:pPr marL="0" marR="0" lvl="0" indent="0" algn="ctr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Trap density [6], [9]</a:t>
                      </a:r>
                      <a:endParaRPr lang="ko-KR" altLang="en-US" sz="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7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3176738"/>
                  </a:ext>
                </a:extLst>
              </a:tr>
              <a:tr h="17396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</a:t>
                      </a:r>
                      <a:r>
                        <a:rPr lang="en-US" altLang="ko-KR" sz="600" baseline="-25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</a:t>
                      </a:r>
                      <a:r>
                        <a:rPr lang="en-US" altLang="ko-KR" sz="600" baseline="-25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shallow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1.15e19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[cm</a:t>
                      </a:r>
                      <a:r>
                        <a:rPr lang="en-US" altLang="ko-KR" sz="600" baseline="30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-3</a:t>
                      </a:r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]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9166257"/>
                  </a:ext>
                </a:extLst>
              </a:tr>
              <a:tr h="17396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</a:t>
                      </a:r>
                      <a:r>
                        <a:rPr lang="en-US" altLang="ko-KR" sz="600" baseline="-25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</a:t>
                      </a:r>
                      <a:r>
                        <a:rPr lang="en-US" altLang="ko-KR" sz="600" baseline="-25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deep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3.5e19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[cm</a:t>
                      </a:r>
                      <a:r>
                        <a:rPr lang="en-US" altLang="ko-KR" sz="600" baseline="30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-3</a:t>
                      </a:r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]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1031779"/>
                  </a:ext>
                </a:extLst>
              </a:tr>
            </a:tbl>
          </a:graphicData>
        </a:graphic>
      </p:graphicFrame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CB614969-B66A-B5E7-8D26-FE094E3821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1010336"/>
              </p:ext>
            </p:extLst>
          </p:nvPr>
        </p:nvGraphicFramePr>
        <p:xfrm>
          <a:off x="4403408" y="1484756"/>
          <a:ext cx="1489020" cy="182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53811">
                  <a:extLst>
                    <a:ext uri="{9D8B030D-6E8A-4147-A177-3AD203B41FA5}">
                      <a16:colId xmlns:a16="http://schemas.microsoft.com/office/drawing/2014/main" val="1269897319"/>
                    </a:ext>
                  </a:extLst>
                </a:gridCol>
                <a:gridCol w="656071">
                  <a:extLst>
                    <a:ext uri="{9D8B030D-6E8A-4147-A177-3AD203B41FA5}">
                      <a16:colId xmlns:a16="http://schemas.microsoft.com/office/drawing/2014/main" val="4067252439"/>
                    </a:ext>
                  </a:extLst>
                </a:gridCol>
                <a:gridCol w="479138">
                  <a:extLst>
                    <a:ext uri="{9D8B030D-6E8A-4147-A177-3AD203B41FA5}">
                      <a16:colId xmlns:a16="http://schemas.microsoft.com/office/drawing/2014/main" val="2850526430"/>
                    </a:ext>
                  </a:extLst>
                </a:gridCol>
              </a:tblGrid>
              <a:tr h="15789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ΔV</a:t>
                      </a:r>
                      <a:r>
                        <a:rPr lang="en-US" altLang="ko-KR" sz="600" baseline="-25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</a:t>
                      </a:r>
                      <a:endParaRPr lang="ko-KR" altLang="en-US" sz="600" baseline="-25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1.8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[V]</a:t>
                      </a:r>
                      <a:endParaRPr lang="ko-KR" altLang="en-US" sz="600" baseline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704050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785606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" name="개체 21">
            <a:extLst>
              <a:ext uri="{FF2B5EF4-FFF2-40B4-BE49-F238E27FC236}">
                <a16:creationId xmlns:a16="http://schemas.microsoft.com/office/drawing/2014/main" id="{9B932EBC-BE98-DEB4-B20E-D2E16284130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75591607"/>
              </p:ext>
            </p:extLst>
          </p:nvPr>
        </p:nvGraphicFramePr>
        <p:xfrm>
          <a:off x="684633" y="4657201"/>
          <a:ext cx="1825761" cy="96163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2" imgW="6510977" imgH="3429000" progId="Origin50.Graph">
                  <p:embed/>
                </p:oleObj>
              </mc:Choice>
              <mc:Fallback>
                <p:oleObj name="Graph" r:id="rId2" imgW="6510977" imgH="3429000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684633" y="4657201"/>
                        <a:ext cx="1825761" cy="96163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" name="개체 20">
            <a:extLst>
              <a:ext uri="{FF2B5EF4-FFF2-40B4-BE49-F238E27FC236}">
                <a16:creationId xmlns:a16="http://schemas.microsoft.com/office/drawing/2014/main" id="{A25E9AFC-6346-36F5-83D8-68949C6A395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36184986"/>
              </p:ext>
            </p:extLst>
          </p:nvPr>
        </p:nvGraphicFramePr>
        <p:xfrm>
          <a:off x="2340771" y="4606864"/>
          <a:ext cx="814542" cy="81416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4" imgW="3430915" imgH="3429000" progId="Origin50.Graph">
                  <p:embed/>
                </p:oleObj>
              </mc:Choice>
              <mc:Fallback>
                <p:oleObj name="Graph" r:id="rId4" imgW="3430915" imgH="3429000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340771" y="4606864"/>
                        <a:ext cx="814542" cy="81416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제목 1">
            <a:extLst>
              <a:ext uri="{FF2B5EF4-FFF2-40B4-BE49-F238E27FC236}">
                <a16:creationId xmlns:a16="http://schemas.microsoft.com/office/drawing/2014/main" id="{30A4816D-8366-D19E-BB79-F36BEDFC70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</p:spPr>
        <p:txBody>
          <a:bodyPr/>
          <a:lstStyle/>
          <a:p>
            <a:r>
              <a:rPr lang="en-US" altLang="ko-KR" dirty="0"/>
              <a:t>Fig. 3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6D2634E-94A8-D896-51C9-F6AD15EA03F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23256" y="8090602"/>
            <a:ext cx="2045312" cy="1287993"/>
          </a:xfrm>
          <a:prstGeom prst="rect">
            <a:avLst/>
          </a:prstGeom>
        </p:spPr>
      </p:pic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73FD4604-57CA-A9EF-41FA-D20245AC63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6657427"/>
              </p:ext>
            </p:extLst>
          </p:nvPr>
        </p:nvGraphicFramePr>
        <p:xfrm>
          <a:off x="4966814" y="3838582"/>
          <a:ext cx="1490637" cy="6705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23862">
                  <a:extLst>
                    <a:ext uri="{9D8B030D-6E8A-4147-A177-3AD203B41FA5}">
                      <a16:colId xmlns:a16="http://schemas.microsoft.com/office/drawing/2014/main" val="1036565899"/>
                    </a:ext>
                  </a:extLst>
                </a:gridCol>
                <a:gridCol w="390501">
                  <a:extLst>
                    <a:ext uri="{9D8B030D-6E8A-4147-A177-3AD203B41FA5}">
                      <a16:colId xmlns:a16="http://schemas.microsoft.com/office/drawing/2014/main" val="1832300329"/>
                    </a:ext>
                  </a:extLst>
                </a:gridCol>
                <a:gridCol w="676274">
                  <a:extLst>
                    <a:ext uri="{9D8B030D-6E8A-4147-A177-3AD203B41FA5}">
                      <a16:colId xmlns:a16="http://schemas.microsoft.com/office/drawing/2014/main" val="1373664809"/>
                    </a:ext>
                  </a:extLst>
                </a:gridCol>
              </a:tblGrid>
              <a:tr h="14777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/>
                        <a:t> </a:t>
                      </a:r>
                      <a:r>
                        <a:rPr lang="el-GR" altLang="ko-KR" sz="700" dirty="0"/>
                        <a:t>μ</a:t>
                      </a:r>
                      <a:r>
                        <a:rPr lang="en-US" altLang="ko-KR" sz="700" dirty="0"/>
                        <a:t> [eV]</a:t>
                      </a:r>
                      <a:endParaRPr lang="ko-KR" altLang="en-US" sz="7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l-GR" altLang="ko-KR" sz="700" dirty="0"/>
                        <a:t>σ</a:t>
                      </a:r>
                      <a:r>
                        <a:rPr lang="en-US" altLang="ko-KR" sz="700" dirty="0"/>
                        <a:t> [eV]</a:t>
                      </a:r>
                      <a:endParaRPr lang="ko-KR" altLang="en-US" sz="7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 err="1"/>
                        <a:t>N</a:t>
                      </a:r>
                      <a:r>
                        <a:rPr lang="en-US" altLang="ko-KR" sz="700" baseline="-25000" dirty="0" err="1"/>
                        <a:t>t</a:t>
                      </a:r>
                      <a:r>
                        <a:rPr lang="en-US" altLang="ko-KR" sz="700" dirty="0"/>
                        <a:t> [cm</a:t>
                      </a:r>
                      <a:r>
                        <a:rPr lang="en-US" altLang="ko-KR" sz="700" baseline="30000" dirty="0"/>
                        <a:t>-3</a:t>
                      </a:r>
                      <a:r>
                        <a:rPr lang="en-US" altLang="ko-KR" sz="700" dirty="0"/>
                        <a:t>]</a:t>
                      </a:r>
                      <a:endParaRPr lang="ko-KR" altLang="en-US" sz="7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591662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0.84</a:t>
                      </a:r>
                      <a:endParaRPr lang="ko-KR" altLang="en-US" sz="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0.2</a:t>
                      </a:r>
                      <a:endParaRPr lang="ko-KR" altLang="en-US" sz="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1.15 × 10</a:t>
                      </a:r>
                      <a:r>
                        <a:rPr lang="en-US" altLang="ko-KR" sz="600" baseline="30000" dirty="0"/>
                        <a:t>19</a:t>
                      </a:r>
                      <a:endParaRPr lang="ko-KR" altLang="en-US" sz="600" baseline="30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11089072"/>
                  </a:ext>
                </a:extLst>
              </a:tr>
              <a:tr h="1364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1.8</a:t>
                      </a:r>
                      <a:endParaRPr lang="ko-KR" altLang="en-US" sz="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0.05</a:t>
                      </a:r>
                      <a:endParaRPr lang="ko-KR" altLang="en-US" sz="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3.5 × 10</a:t>
                      </a:r>
                      <a:r>
                        <a:rPr lang="en-US" altLang="ko-KR" sz="600" baseline="30000" dirty="0"/>
                        <a:t>19</a:t>
                      </a:r>
                      <a:endParaRPr lang="ko-KR" altLang="en-US" sz="600" baseline="30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21031779"/>
                  </a:ext>
                </a:extLst>
              </a:tr>
            </a:tbl>
          </a:graphicData>
        </a:graphic>
      </p:graphicFrame>
      <p:pic>
        <p:nvPicPr>
          <p:cNvPr id="9" name="그림 8">
            <a:extLst>
              <a:ext uri="{FF2B5EF4-FFF2-40B4-BE49-F238E27FC236}">
                <a16:creationId xmlns:a16="http://schemas.microsoft.com/office/drawing/2014/main" id="{387C180F-2D19-7ED7-55A5-47A7347772C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72635" y="1750234"/>
            <a:ext cx="2388358" cy="177401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CB1AD94-6D16-AB48-D166-299515E182A9}"/>
              </a:ext>
            </a:extLst>
          </p:cNvPr>
          <p:cNvSpPr txBox="1"/>
          <p:nvPr/>
        </p:nvSpPr>
        <p:spPr>
          <a:xfrm>
            <a:off x="684634" y="1750235"/>
            <a:ext cx="3604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ko-KR" altLang="en-US" sz="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2251A7E-50C6-A910-EB5D-2AC1D4B2CBD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21474" y="4747078"/>
            <a:ext cx="2388358" cy="1845916"/>
          </a:xfrm>
          <a:prstGeom prst="rect">
            <a:avLst/>
          </a:prstGeom>
        </p:spPr>
      </p:pic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ACDF3827-1247-0463-99CA-E21F5622FB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0226587"/>
              </p:ext>
            </p:extLst>
          </p:nvPr>
        </p:nvGraphicFramePr>
        <p:xfrm>
          <a:off x="925646" y="1902778"/>
          <a:ext cx="1948193" cy="914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73768">
                  <a:extLst>
                    <a:ext uri="{9D8B030D-6E8A-4147-A177-3AD203B41FA5}">
                      <a16:colId xmlns:a16="http://schemas.microsoft.com/office/drawing/2014/main" val="2324715011"/>
                    </a:ext>
                  </a:extLst>
                </a:gridCol>
                <a:gridCol w="562065">
                  <a:extLst>
                    <a:ext uri="{9D8B030D-6E8A-4147-A177-3AD203B41FA5}">
                      <a16:colId xmlns:a16="http://schemas.microsoft.com/office/drawing/2014/main" val="3923219423"/>
                    </a:ext>
                  </a:extLst>
                </a:gridCol>
                <a:gridCol w="712360">
                  <a:extLst>
                    <a:ext uri="{9D8B030D-6E8A-4147-A177-3AD203B41FA5}">
                      <a16:colId xmlns:a16="http://schemas.microsoft.com/office/drawing/2014/main" val="295658311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TCAD Simulation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Autonomous Model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07604992"/>
                  </a:ext>
                </a:extLst>
              </a:tr>
              <a:tr h="140656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Computation dependency over time domain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Every time step needed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Independent of time domain</a:t>
                      </a:r>
                      <a:b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(only initial condition needed)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4188012"/>
                  </a:ext>
                </a:extLst>
              </a:tr>
              <a:tr h="140656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Simulation time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&gt; 10000 s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&lt; 10 s</a:t>
                      </a:r>
                      <a:endParaRPr lang="ko-KR" altLang="en-US" sz="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29658787"/>
                  </a:ext>
                </a:extLst>
              </a:tr>
            </a:tbl>
          </a:graphicData>
        </a:graphic>
      </p:graphicFrame>
      <p:graphicFrame>
        <p:nvGraphicFramePr>
          <p:cNvPr id="11" name="개체 10">
            <a:extLst>
              <a:ext uri="{FF2B5EF4-FFF2-40B4-BE49-F238E27FC236}">
                <a16:creationId xmlns:a16="http://schemas.microsoft.com/office/drawing/2014/main" id="{45DCE902-A050-7E69-600D-ADDFB21A3BA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03446016"/>
              </p:ext>
            </p:extLst>
          </p:nvPr>
        </p:nvGraphicFramePr>
        <p:xfrm>
          <a:off x="1826710" y="3745073"/>
          <a:ext cx="1368826" cy="96675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8" imgW="6842908" imgH="4833106" progId="Origin50.Graph">
                  <p:embed/>
                </p:oleObj>
              </mc:Choice>
              <mc:Fallback>
                <p:oleObj name="Graph" r:id="rId8" imgW="6842908" imgH="4833106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826710" y="3745073"/>
                        <a:ext cx="1368826" cy="96675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" name="개체 1">
            <a:extLst>
              <a:ext uri="{FF2B5EF4-FFF2-40B4-BE49-F238E27FC236}">
                <a16:creationId xmlns:a16="http://schemas.microsoft.com/office/drawing/2014/main" id="{BB03A6A1-3821-096C-9A54-669D85ABAA1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449132"/>
              </p:ext>
            </p:extLst>
          </p:nvPr>
        </p:nvGraphicFramePr>
        <p:xfrm>
          <a:off x="737074" y="3756161"/>
          <a:ext cx="1368826" cy="96163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10" imgW="4722409" imgH="3317966" progId="Origin50.Graph">
                  <p:embed/>
                </p:oleObj>
              </mc:Choice>
              <mc:Fallback>
                <p:oleObj name="Graph" r:id="rId10" imgW="4722409" imgH="3317966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737074" y="3756161"/>
                        <a:ext cx="1368826" cy="96163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66E802A9-74FD-7888-C9ED-71EE57D06572}"/>
              </a:ext>
            </a:extLst>
          </p:cNvPr>
          <p:cNvSpPr txBox="1"/>
          <p:nvPr/>
        </p:nvSpPr>
        <p:spPr>
          <a:xfrm>
            <a:off x="660818" y="3688503"/>
            <a:ext cx="36049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b="1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ko-KR" altLang="en-US" sz="7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81AD86-F09B-F4D0-5449-FA9C0A6D6076}"/>
              </a:ext>
            </a:extLst>
          </p:cNvPr>
          <p:cNvSpPr txBox="1"/>
          <p:nvPr/>
        </p:nvSpPr>
        <p:spPr>
          <a:xfrm>
            <a:off x="1881598" y="3688503"/>
            <a:ext cx="36049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b="1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ko-KR" altLang="en-US" sz="7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화살표: 오른쪽 5">
            <a:extLst>
              <a:ext uri="{FF2B5EF4-FFF2-40B4-BE49-F238E27FC236}">
                <a16:creationId xmlns:a16="http://schemas.microsoft.com/office/drawing/2014/main" id="{E363D0B1-0782-3520-6E98-B6BAB3747122}"/>
              </a:ext>
            </a:extLst>
          </p:cNvPr>
          <p:cNvSpPr/>
          <p:nvPr/>
        </p:nvSpPr>
        <p:spPr>
          <a:xfrm rot="19517270">
            <a:off x="2609536" y="4020006"/>
            <a:ext cx="534272" cy="45719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2DA753-FFBE-F96B-E11F-E53FC4E95043}"/>
              </a:ext>
            </a:extLst>
          </p:cNvPr>
          <p:cNvSpPr txBox="1"/>
          <p:nvPr/>
        </p:nvSpPr>
        <p:spPr>
          <a:xfrm>
            <a:off x="2231866" y="4139636"/>
            <a:ext cx="8145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" dirty="0" err="1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altLang="ko-KR" sz="400" baseline="-25000" dirty="0" err="1">
                <a:latin typeface="Arial" panose="020B0604020202020204" pitchFamily="34" charset="0"/>
                <a:cs typeface="Arial" panose="020B0604020202020204" pitchFamily="34" charset="0"/>
              </a:rPr>
              <a:t>TOX</a:t>
            </a:r>
            <a:r>
              <a:rPr lang="ko-KR" altLang="en-US" sz="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en-US" altLang="ko-KR" sz="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ko-KR" sz="400" dirty="0">
                <a:latin typeface="Arial" panose="020B0604020202020204" pitchFamily="34" charset="0"/>
                <a:cs typeface="Arial" panose="020B0604020202020204" pitchFamily="34" charset="0"/>
              </a:rPr>
              <a:t>= 3, 3.5, 4, 4.5, 5 [nm]</a:t>
            </a:r>
            <a:endParaRPr lang="ko-KR" altLang="en-US" sz="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9ECB351-78D9-14B2-F483-81AF4E01F1E3}"/>
              </a:ext>
            </a:extLst>
          </p:cNvPr>
          <p:cNvSpPr txBox="1"/>
          <p:nvPr/>
        </p:nvSpPr>
        <p:spPr>
          <a:xfrm>
            <a:off x="660818" y="4621297"/>
            <a:ext cx="36049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b="1" dirty="0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ko-KR" altLang="en-US" sz="7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E9A47ABE-95C0-677B-CB4E-DB6643E6FF7F}"/>
              </a:ext>
            </a:extLst>
          </p:cNvPr>
          <p:cNvSpPr/>
          <p:nvPr/>
        </p:nvSpPr>
        <p:spPr>
          <a:xfrm>
            <a:off x="2012949" y="5149850"/>
            <a:ext cx="238665" cy="242259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528E910E-B2B4-A2E9-7351-CA30BE9DE009}"/>
              </a:ext>
            </a:extLst>
          </p:cNvPr>
          <p:cNvCxnSpPr>
            <a:cxnSpLocks/>
          </p:cNvCxnSpPr>
          <p:nvPr/>
        </p:nvCxnSpPr>
        <p:spPr>
          <a:xfrm flipV="1">
            <a:off x="2251614" y="4781550"/>
            <a:ext cx="234411" cy="368300"/>
          </a:xfrm>
          <a:prstGeom prst="line">
            <a:avLst/>
          </a:prstGeom>
          <a:ln w="6350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BC106F22-67FA-AE1F-0DC2-529C21D90753}"/>
              </a:ext>
            </a:extLst>
          </p:cNvPr>
          <p:cNvCxnSpPr>
            <a:cxnSpLocks/>
          </p:cNvCxnSpPr>
          <p:nvPr/>
        </p:nvCxnSpPr>
        <p:spPr>
          <a:xfrm flipV="1">
            <a:off x="2251614" y="5353246"/>
            <a:ext cx="234411" cy="38863"/>
          </a:xfrm>
          <a:prstGeom prst="line">
            <a:avLst/>
          </a:prstGeom>
          <a:ln w="6350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90065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" name="개체 31">
            <a:extLst>
              <a:ext uri="{FF2B5EF4-FFF2-40B4-BE49-F238E27FC236}">
                <a16:creationId xmlns:a16="http://schemas.microsoft.com/office/drawing/2014/main" id="{182D6282-E3E8-909A-1F25-13A2D96A3A6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33173846"/>
              </p:ext>
            </p:extLst>
          </p:nvPr>
        </p:nvGraphicFramePr>
        <p:xfrm>
          <a:off x="1132234" y="8040978"/>
          <a:ext cx="2487612" cy="175825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2" imgW="4851068" imgH="3429000" progId="Origin50.Graph">
                  <p:embed/>
                </p:oleObj>
              </mc:Choice>
              <mc:Fallback>
                <p:oleObj name="Graph" r:id="rId2" imgW="4851068" imgH="3429000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132234" y="8040978"/>
                        <a:ext cx="2487612" cy="175825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" name="개체 30">
            <a:extLst>
              <a:ext uri="{FF2B5EF4-FFF2-40B4-BE49-F238E27FC236}">
                <a16:creationId xmlns:a16="http://schemas.microsoft.com/office/drawing/2014/main" id="{BDB953E9-D719-F718-37AF-E462B8A91AF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83750849"/>
              </p:ext>
            </p:extLst>
          </p:nvPr>
        </p:nvGraphicFramePr>
        <p:xfrm>
          <a:off x="3530599" y="8041552"/>
          <a:ext cx="2487613" cy="175768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4" imgW="4852293" imgH="3429000" progId="Origin50.Graph">
                  <p:embed/>
                </p:oleObj>
              </mc:Choice>
              <mc:Fallback>
                <p:oleObj name="Graph" r:id="rId4" imgW="4852293" imgH="3429000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530599" y="8041552"/>
                        <a:ext cx="2487613" cy="175768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제목 1">
            <a:extLst>
              <a:ext uri="{FF2B5EF4-FFF2-40B4-BE49-F238E27FC236}">
                <a16:creationId xmlns:a16="http://schemas.microsoft.com/office/drawing/2014/main" id="{F04D3859-0CF6-1300-F0C2-CADA24F783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Revision</a:t>
            </a:r>
            <a:endParaRPr lang="ko-KR" altLang="en-US" dirty="0"/>
          </a:p>
        </p:txBody>
      </p:sp>
      <p:graphicFrame>
        <p:nvGraphicFramePr>
          <p:cNvPr id="4" name="개체 3">
            <a:extLst>
              <a:ext uri="{FF2B5EF4-FFF2-40B4-BE49-F238E27FC236}">
                <a16:creationId xmlns:a16="http://schemas.microsoft.com/office/drawing/2014/main" id="{8AC4FE14-0D79-E56D-1C85-BEDED72A21C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41247928"/>
              </p:ext>
            </p:extLst>
          </p:nvPr>
        </p:nvGraphicFramePr>
        <p:xfrm>
          <a:off x="802548" y="2597417"/>
          <a:ext cx="2561299" cy="1809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6" imgW="4852293" imgH="3429000" progId="Origin50.Graph">
                  <p:embed/>
                </p:oleObj>
              </mc:Choice>
              <mc:Fallback>
                <p:oleObj name="Graph" r:id="rId6" imgW="4852293" imgH="3429000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802548" y="2597417"/>
                        <a:ext cx="2561299" cy="18097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개체 4">
            <a:extLst>
              <a:ext uri="{FF2B5EF4-FFF2-40B4-BE49-F238E27FC236}">
                <a16:creationId xmlns:a16="http://schemas.microsoft.com/office/drawing/2014/main" id="{9ABD4DAC-BDDE-593E-7E10-7C3357AD30F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21292718"/>
              </p:ext>
            </p:extLst>
          </p:nvPr>
        </p:nvGraphicFramePr>
        <p:xfrm>
          <a:off x="3594530" y="2597417"/>
          <a:ext cx="2561299" cy="1809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8" imgW="4852293" imgH="3429000" progId="Origin50.Graph">
                  <p:embed/>
                </p:oleObj>
              </mc:Choice>
              <mc:Fallback>
                <p:oleObj name="Graph" r:id="rId8" imgW="4852293" imgH="3429000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3594530" y="2597417"/>
                        <a:ext cx="2561299" cy="18097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E23A317-EEB9-0A7A-AC50-9BE82E16C416}"/>
              </a:ext>
            </a:extLst>
          </p:cNvPr>
          <p:cNvSpPr txBox="1"/>
          <p:nvPr/>
        </p:nvSpPr>
        <p:spPr>
          <a:xfrm>
            <a:off x="728663" y="2205038"/>
            <a:ext cx="2105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R1-1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CE7BD2-FCEB-2A0F-9F53-6DC4EAA608CE}"/>
              </a:ext>
            </a:extLst>
          </p:cNvPr>
          <p:cNvSpPr txBox="1"/>
          <p:nvPr/>
        </p:nvSpPr>
        <p:spPr>
          <a:xfrm>
            <a:off x="728663" y="4695826"/>
            <a:ext cx="2105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R2</a:t>
            </a:r>
            <a:endParaRPr lang="ko-KR" alt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360D860C-1B2F-0997-E176-C066E529825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23975" y="6084624"/>
            <a:ext cx="2534148" cy="601632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AF43AFDB-EF8D-169F-46B2-1E6201A6B24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23082" y="5065157"/>
            <a:ext cx="2105918" cy="67841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8C9C9B69-3016-63E8-CDE0-6D69A6AC3F6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023419" y="5065158"/>
            <a:ext cx="2255826" cy="1693891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9421D93C-2F81-B08A-CA28-EA331F5CB09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92149" y="7215958"/>
            <a:ext cx="2024062" cy="556617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AF169C83-0465-0405-CD21-F0226488F1E1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363847" y="7101028"/>
            <a:ext cx="1519238" cy="671547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5F2166DA-CF82-D53D-9C7F-39BFD7F9DCDE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92149" y="6835895"/>
            <a:ext cx="936691" cy="297433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7CC37169-323F-3464-3DA1-4B47F5950A44}"/>
              </a:ext>
            </a:extLst>
          </p:cNvPr>
          <p:cNvSpPr txBox="1"/>
          <p:nvPr/>
        </p:nvSpPr>
        <p:spPr>
          <a:xfrm>
            <a:off x="728663" y="7775194"/>
            <a:ext cx="2105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R1-6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714236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사용자 지정 2">
      <a:majorFont>
        <a:latin typeface="Arial Nova"/>
        <a:ea typeface="맑은 고딕"/>
        <a:cs typeface=""/>
      </a:majorFont>
      <a:minorFont>
        <a:latin typeface="Arial"/>
        <a:ea typeface="맑은 고딕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3877</TotalTime>
  <Words>395</Words>
  <Application>Microsoft Office PowerPoint</Application>
  <PresentationFormat>A4 용지(210x297mm)</PresentationFormat>
  <Paragraphs>146</Paragraphs>
  <Slides>5</Slides>
  <Notes>0</Notes>
  <HiddenSlides>0</HiddenSlides>
  <MMClips>0</MMClips>
  <ScaleCrop>false</ScaleCrop>
  <HeadingPairs>
    <vt:vector size="8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13" baseType="lpstr">
      <vt:lpstr>맑은 고딕</vt:lpstr>
      <vt:lpstr>Arial</vt:lpstr>
      <vt:lpstr>Arial Nova</vt:lpstr>
      <vt:lpstr>Calibri</vt:lpstr>
      <vt:lpstr>Cambria Math</vt:lpstr>
      <vt:lpstr>Times New Roman</vt:lpstr>
      <vt:lpstr>Office 테마</vt:lpstr>
      <vt:lpstr>Graph</vt:lpstr>
      <vt:lpstr>Modeling of Attempt-to-Escape Frequency: Tunneling Emission of Trapped Electrons in Tunneling Oxides of 3-D NAND Flash Memory</vt:lpstr>
      <vt:lpstr>Fig. 1</vt:lpstr>
      <vt:lpstr>Fig. 2</vt:lpstr>
      <vt:lpstr>Fig. 3</vt:lpstr>
      <vt:lpstr>Revision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MYUNG JIN</dc:creator>
  <cp:lastModifiedBy>MYUNG JIN</cp:lastModifiedBy>
  <cp:revision>39</cp:revision>
  <dcterms:created xsi:type="dcterms:W3CDTF">2024-12-18T11:05:27Z</dcterms:created>
  <dcterms:modified xsi:type="dcterms:W3CDTF">2026-06-10T06:04:37Z</dcterms:modified>
</cp:coreProperties>
</file>