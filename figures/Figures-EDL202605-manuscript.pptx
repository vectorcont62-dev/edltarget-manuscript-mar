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94" r:id="rId3"/>
    <p:sldId id="298" r:id="rId4"/>
    <p:sldId id="297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094" y="-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2026-05-08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2.png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22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4.emf"/><Relationship Id="rId4" Type="http://schemas.openxmlformats.org/officeDocument/2006/relationships/oleObject" Target="../embeddings/oleObject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752DC6FB-E78C-9B45-86A2-B5EA486DFFFF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F299125F-1750-1AB0-BD8D-769D46EEF0C2}"/>
                </a:ext>
              </a:extLst>
            </p:cNvPr>
            <p:cNvSpPr/>
            <p:nvPr/>
          </p:nvSpPr>
          <p:spPr>
            <a:xfrm>
              <a:off x="2128838" y="2090738"/>
              <a:ext cx="776287" cy="309562"/>
            </a:xfrm>
            <a:custGeom>
              <a:avLst/>
              <a:gdLst>
                <a:gd name="csX0" fmla="*/ 0 w 776287"/>
                <a:gd name="csY0" fmla="*/ 309562 h 309562"/>
                <a:gd name="csX1" fmla="*/ 0 w 776287"/>
                <a:gd name="csY1" fmla="*/ 161925 h 309562"/>
                <a:gd name="csX2" fmla="*/ 685800 w 776287"/>
                <a:gd name="csY2" fmla="*/ 238125 h 309562"/>
                <a:gd name="csX3" fmla="*/ 685800 w 776287"/>
                <a:gd name="csY3" fmla="*/ 0 h 309562"/>
                <a:gd name="csX4" fmla="*/ 776287 w 776287"/>
                <a:gd name="csY4" fmla="*/ 0 h 309562"/>
                <a:gd name="csX5" fmla="*/ 776287 w 776287"/>
                <a:gd name="csY5" fmla="*/ 304800 h 309562"/>
                <a:gd name="csX6" fmla="*/ 0 w 776287"/>
                <a:gd name="csY6" fmla="*/ 309562 h 309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76287" h="309562">
                  <a:moveTo>
                    <a:pt x="0" y="309562"/>
                  </a:moveTo>
                  <a:lnTo>
                    <a:pt x="0" y="161925"/>
                  </a:lnTo>
                  <a:lnTo>
                    <a:pt x="685800" y="238125"/>
                  </a:lnTo>
                  <a:lnTo>
                    <a:pt x="685800" y="0"/>
                  </a:lnTo>
                  <a:lnTo>
                    <a:pt x="776287" y="0"/>
                  </a:lnTo>
                  <a:lnTo>
                    <a:pt x="776287" y="304800"/>
                  </a:lnTo>
                  <a:lnTo>
                    <a:pt x="0" y="309562"/>
                  </a:lnTo>
                  <a:close/>
                </a:path>
              </a:pathLst>
            </a:custGeom>
            <a:solidFill>
              <a:srgbClr val="F1D36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EE53E30-3C7D-C6EA-4661-9633E6715C21}"/>
                </a:ext>
              </a:extLst>
            </p:cNvPr>
            <p:cNvGrpSpPr/>
            <p:nvPr/>
          </p:nvGrpSpPr>
          <p:grpSpPr>
            <a:xfrm>
              <a:off x="1337549" y="1906859"/>
              <a:ext cx="1731170" cy="1167341"/>
              <a:chOff x="1337549" y="1906859"/>
              <a:chExt cx="1731170" cy="1167341"/>
            </a:xfrm>
          </p:grpSpPr>
          <p:cxnSp>
            <p:nvCxnSpPr>
              <p:cNvPr id="300" name="직선 연결선 299">
                <a:extLst>
                  <a:ext uri="{FF2B5EF4-FFF2-40B4-BE49-F238E27FC236}">
                    <a16:creationId xmlns:a16="http://schemas.microsoft.com/office/drawing/2014/main" id="{774A86F0-C443-DA34-8985-53F1D3C638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26659" y="2092625"/>
                <a:ext cx="0" cy="981575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직선 연결선 300">
                <a:extLst>
                  <a:ext uri="{FF2B5EF4-FFF2-40B4-BE49-F238E27FC236}">
                    <a16:creationId xmlns:a16="http://schemas.microsoft.com/office/drawing/2014/main" id="{AE1A7C84-B0B6-9860-FA27-6C833DB2F9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5007" y="2057400"/>
                <a:ext cx="0" cy="1008751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819B03E9-80AF-7243-754C-5E0F2216C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4533" y="2403460"/>
                <a:ext cx="1064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EF5FDA5-D0D5-4482-17FF-7298970615AE}"/>
                  </a:ext>
                </a:extLst>
              </p:cNvPr>
              <p:cNvSpPr txBox="1"/>
              <p:nvPr/>
            </p:nvSpPr>
            <p:spPr>
              <a:xfrm>
                <a:off x="2421390" y="2281509"/>
                <a:ext cx="7213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 dirty="0" err="1"/>
                  <a:t>n</a:t>
                </a:r>
                <a:r>
                  <a:rPr lang="en-US" altLang="ko-KR" sz="700" b="1" baseline="-25000" dirty="0" err="1"/>
                  <a:t>t</a:t>
                </a:r>
                <a:endParaRPr lang="ko-KR" altLang="en-US" sz="700" b="1" baseline="-25000" dirty="0"/>
              </a:p>
            </p:txBody>
          </p: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092FB95-3CFD-EA9D-410B-F92547721757}"/>
                  </a:ext>
                </a:extLst>
              </p:cNvPr>
              <p:cNvSpPr txBox="1"/>
              <p:nvPr/>
            </p:nvSpPr>
            <p:spPr>
              <a:xfrm>
                <a:off x="1337549" y="190685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5189" y="2166866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311925" y="1997375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69702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5705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61708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2337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07609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9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11885"/>
              </p:ext>
            </p:extLst>
          </p:nvPr>
        </p:nvGraphicFramePr>
        <p:xfrm>
          <a:off x="2266217" y="4045272"/>
          <a:ext cx="1104369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50317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26593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75806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profile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81392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194788"/>
              </p:ext>
            </p:extLst>
          </p:nvPr>
        </p:nvGraphicFramePr>
        <p:xfrm>
          <a:off x="1883999" y="6424836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83999" y="6424836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7809473"/>
              </p:ext>
            </p:extLst>
          </p:nvPr>
        </p:nvGraphicFramePr>
        <p:xfrm>
          <a:off x="825328" y="6432747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5328" y="6432747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203470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537719" y="195452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600781" y="6142882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53425263-3E34-2652-799F-E0AC3F4F1E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59224792"/>
              </p:ext>
            </p:extLst>
          </p:nvPr>
        </p:nvGraphicFramePr>
        <p:xfrm>
          <a:off x="665582" y="2132255"/>
          <a:ext cx="274002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6012550" imgH="2335684" progId="Origin50.Graph">
                  <p:embed/>
                </p:oleObj>
              </mc:Choice>
              <mc:Fallback>
                <p:oleObj name="Graph" r:id="rId7" imgW="6012550" imgH="2335684" progId="Origin50.Graph">
                  <p:embed/>
                  <p:pic>
                    <p:nvPicPr>
                      <p:cNvPr id="66" name="개체 65">
                        <a:extLst>
                          <a:ext uri="{FF2B5EF4-FFF2-40B4-BE49-F238E27FC236}">
                            <a16:creationId xmlns:a16="http://schemas.microsoft.com/office/drawing/2014/main" id="{53425263-3E34-2652-799F-E0AC3F4F1E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65582" y="2132255"/>
                        <a:ext cx="2740025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곱하기 기호 11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815675" y="2503836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082974" y="2558264"/>
            <a:ext cx="732701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1924532" y="2558264"/>
            <a:ext cx="1142516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537719" y="3113950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537719" y="3829828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ACF45BC-BADE-6AA3-27B0-1ADDD0B2D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027410"/>
              </p:ext>
            </p:extLst>
          </p:nvPr>
        </p:nvGraphicFramePr>
        <p:xfrm>
          <a:off x="684634" y="4048576"/>
          <a:ext cx="1489020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57897"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parameter deck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4385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μ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CTN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/V·s]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1e-16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ε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3.9/7.5/3.9ε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[9]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[F/cm]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3/6/8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[nm]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A6348E-CC66-FD55-6822-45DFE19DF298}"/>
              </a:ext>
            </a:extLst>
          </p:cNvPr>
          <p:cNvCxnSpPr>
            <a:cxnSpLocks/>
          </p:cNvCxnSpPr>
          <p:nvPr/>
        </p:nvCxnSpPr>
        <p:spPr>
          <a:xfrm>
            <a:off x="1063649" y="2351620"/>
            <a:ext cx="0" cy="382939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8FD74A8-D3CD-2A79-AD7D-E87064AD8C20}"/>
              </a:ext>
            </a:extLst>
          </p:cNvPr>
          <p:cNvCxnSpPr>
            <a:cxnSpLocks/>
          </p:cNvCxnSpPr>
          <p:nvPr/>
        </p:nvCxnSpPr>
        <p:spPr>
          <a:xfrm>
            <a:off x="3106612" y="2405065"/>
            <a:ext cx="0" cy="43487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4DB7892-606B-23B0-25E8-E57A8215B213}"/>
              </a:ext>
            </a:extLst>
          </p:cNvPr>
          <p:cNvCxnSpPr>
            <a:cxnSpLocks/>
          </p:cNvCxnSpPr>
          <p:nvPr/>
        </p:nvCxnSpPr>
        <p:spPr>
          <a:xfrm>
            <a:off x="1505637" y="2307433"/>
            <a:ext cx="0" cy="148963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A03444-22CB-4B90-A6E7-22F01708330C}"/>
              </a:ext>
            </a:extLst>
          </p:cNvPr>
          <p:cNvSpPr txBox="1"/>
          <p:nvPr/>
        </p:nvSpPr>
        <p:spPr>
          <a:xfrm rot="16200000">
            <a:off x="733194" y="2398086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3.1 eV</a:t>
            </a:r>
            <a:endParaRPr lang="ko-KR" altLang="en-US" sz="8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0A344F-31CB-1F32-D3DE-B161F56FC8F9}"/>
              </a:ext>
            </a:extLst>
          </p:cNvPr>
          <p:cNvSpPr txBox="1"/>
          <p:nvPr/>
        </p:nvSpPr>
        <p:spPr>
          <a:xfrm>
            <a:off x="1454008" y="2260422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1.0 eV</a:t>
            </a:r>
            <a:endParaRPr lang="ko-KR" altLang="en-US" sz="800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9DF42-9093-A1A1-9D3A-322A34369849}"/>
              </a:ext>
            </a:extLst>
          </p:cNvPr>
          <p:cNvSpPr txBox="1"/>
          <p:nvPr/>
        </p:nvSpPr>
        <p:spPr>
          <a:xfrm rot="16200000">
            <a:off x="2914342" y="2506678"/>
            <a:ext cx="57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3.65 eV</a:t>
            </a:r>
            <a:endParaRPr lang="ko-KR" altLang="en-US" sz="800" baseline="-25000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32DB6798-4516-1212-D064-B5BCCDF489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55199149"/>
              </p:ext>
            </p:extLst>
          </p:nvPr>
        </p:nvGraphicFramePr>
        <p:xfrm>
          <a:off x="676202" y="3105282"/>
          <a:ext cx="939996" cy="838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1" imgW="2032395" imgH="1812415" progId="Origin50.Graph">
                  <p:embed/>
                </p:oleObj>
              </mc:Choice>
              <mc:Fallback>
                <p:oleObj name="Graph" r:id="rId11" imgW="2032395" imgH="1812415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76202" y="3105282"/>
                        <a:ext cx="939996" cy="8386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684634" y="3801330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54634" y="3660781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746316" y="3597328"/>
            <a:ext cx="629486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879325" y="3427837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t</a:t>
            </a:r>
            <a:r>
              <a:rPr lang="en-US" altLang="ko-KR" sz="800" baseline="-25000" dirty="0" err="1"/>
              <a:t>CTN</a:t>
            </a:r>
            <a:endParaRPr lang="ko-KR" altLang="en-US" sz="800" baseline="-25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E551C-DAE5-A5D6-47E5-878529F87F2E}"/>
              </a:ext>
            </a:extLst>
          </p:cNvPr>
          <p:cNvSpPr txBox="1"/>
          <p:nvPr/>
        </p:nvSpPr>
        <p:spPr>
          <a:xfrm>
            <a:off x="1364141" y="3282160"/>
            <a:ext cx="7445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Arial" panose="020B0604020202020204" pitchFamily="34" charset="0"/>
                <a:cs typeface="Arial" panose="020B0604020202020204" pitchFamily="34" charset="0"/>
              </a:rPr>
              <a:t>Radial charge distribution modeled as [6], [7]</a:t>
            </a:r>
            <a:endParaRPr lang="ko-KR" alt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74AC430-D25F-8BCD-984F-F8AAC25DE4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4320999"/>
              </p:ext>
            </p:extLst>
          </p:nvPr>
        </p:nvGraphicFramePr>
        <p:xfrm>
          <a:off x="2034801" y="3303268"/>
          <a:ext cx="1335785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534946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81679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density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B614969-B66A-B5E7-8D26-FE094E3821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010336"/>
              </p:ext>
            </p:extLst>
          </p:nvPr>
        </p:nvGraphicFramePr>
        <p:xfrm>
          <a:off x="4403408" y="1484756"/>
          <a:ext cx="1489020" cy="182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26989731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406725243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2850526430"/>
                    </a:ext>
                  </a:extLst>
                </a:gridCol>
              </a:tblGrid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ΔV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405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635" y="1750234"/>
            <a:ext cx="2388358" cy="17740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474" y="4747078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738941"/>
              </p:ext>
            </p:extLst>
          </p:nvPr>
        </p:nvGraphicFramePr>
        <p:xfrm>
          <a:off x="16616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616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1784782"/>
              </p:ext>
            </p:extLst>
          </p:nvPr>
        </p:nvGraphicFramePr>
        <p:xfrm>
          <a:off x="6219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6842908" imgH="4833106" progId="Origin50.Graph">
                  <p:embed/>
                </p:oleObj>
              </mc:Choice>
              <mc:Fallback>
                <p:oleObj name="Graph" r:id="rId6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219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6081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88159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E363D0B1-0782-3520-6E98-B6BAB3747122}"/>
              </a:ext>
            </a:extLst>
          </p:cNvPr>
          <p:cNvSpPr/>
          <p:nvPr/>
        </p:nvSpPr>
        <p:spPr>
          <a:xfrm rot="19517270">
            <a:off x="2444436" y="4020006"/>
            <a:ext cx="534272" cy="457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A753-FFBE-F96B-E11F-E53FC4E95043}"/>
              </a:ext>
            </a:extLst>
          </p:cNvPr>
          <p:cNvSpPr txBox="1"/>
          <p:nvPr/>
        </p:nvSpPr>
        <p:spPr>
          <a:xfrm>
            <a:off x="2066766" y="4139636"/>
            <a:ext cx="8145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3093</TotalTime>
  <Words>384</Words>
  <Application>Microsoft Office PowerPoint</Application>
  <PresentationFormat>A4 용지(210x297mm)</PresentationFormat>
  <Paragraphs>140</Paragraphs>
  <Slides>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3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Modeling of Attempt-to-Escape Frequency: Tunneling Emission of Trapped Electrons in Tunneling Oxides of 3-D NAND Flash Memory</vt:lpstr>
      <vt:lpstr>Fig. 1</vt:lpstr>
      <vt:lpstr>Fig. 2</vt:lpstr>
      <vt:lpstr>Fig.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33</cp:revision>
  <dcterms:created xsi:type="dcterms:W3CDTF">2024-12-18T11:05:27Z</dcterms:created>
  <dcterms:modified xsi:type="dcterms:W3CDTF">2026-05-08T08:30:43Z</dcterms:modified>
</cp:coreProperties>
</file>