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56" r:id="rId2"/>
    <p:sldId id="294" r:id="rId3"/>
    <p:sldId id="298" r:id="rId4"/>
    <p:sldId id="297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D365"/>
    <a:srgbClr val="AFE4FF"/>
    <a:srgbClr val="9FD6EF"/>
    <a:srgbClr val="3A19FF"/>
    <a:srgbClr val="907DFF"/>
    <a:srgbClr val="FFFF00"/>
    <a:srgbClr val="FFE38B"/>
    <a:srgbClr val="F9B859"/>
    <a:srgbClr val="166284"/>
    <a:srgbClr val="FFD8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EF9922-BC24-4B77-854D-4ECDA931EC02}" v="40" dt="2025-08-05T04:56:35.7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1554" y="-18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11422-0C2E-42D7-924E-F365B5A34ABC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F34F1-DEEA-42FB-94CF-D519BE2E3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8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293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955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114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024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370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923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705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8119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6959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1109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460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8C53AF-CD6D-418E-B451-BA3CFECC691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103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2.png"/><Relationship Id="rId21" Type="http://schemas.openxmlformats.org/officeDocument/2006/relationships/image" Target="../media/image5.png"/><Relationship Id="rId12" Type="http://schemas.openxmlformats.org/officeDocument/2006/relationships/image" Target="../media/image11.png"/><Relationship Id="rId17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.png"/><Relationship Id="rId24" Type="http://schemas.openxmlformats.org/officeDocument/2006/relationships/image" Target="../media/image8.png"/><Relationship Id="rId15" Type="http://schemas.openxmlformats.org/officeDocument/2006/relationships/image" Target="../media/image14.png"/><Relationship Id="rId23" Type="http://schemas.openxmlformats.org/officeDocument/2006/relationships/image" Target="../media/image7.png"/><Relationship Id="rId10" Type="http://schemas.openxmlformats.org/officeDocument/2006/relationships/image" Target="../media/image9.png"/><Relationship Id="rId19" Type="http://schemas.openxmlformats.org/officeDocument/2006/relationships/image" Target="../media/image3.png"/><Relationship Id="rId14" Type="http://schemas.openxmlformats.org/officeDocument/2006/relationships/image" Target="../media/image13.png"/><Relationship Id="rId22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13" Type="http://schemas.openxmlformats.org/officeDocument/2006/relationships/image" Target="../media/image22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11" Type="http://schemas.openxmlformats.org/officeDocument/2006/relationships/image" Target="../media/image20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9.emf"/><Relationship Id="rId4" Type="http://schemas.openxmlformats.org/officeDocument/2006/relationships/image" Target="../media/image17.emf"/><Relationship Id="rId9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5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24.emf"/><Relationship Id="rId4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2B441C-EB3D-D198-7F1A-AA1B343062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600" y="1621191"/>
            <a:ext cx="6146800" cy="3448756"/>
          </a:xfrm>
        </p:spPr>
        <p:txBody>
          <a:bodyPr>
            <a:noAutofit/>
          </a:bodyPr>
          <a:lstStyle/>
          <a:p>
            <a:r>
              <a:rPr lang="en-US" altLang="ko-KR" sz="2400">
                <a:latin typeface="Arial" panose="020B0604020202020204" pitchFamily="34" charset="0"/>
                <a:cs typeface="Arial" panose="020B0604020202020204" pitchFamily="34" charset="0"/>
              </a:rPr>
              <a:t>Modeling of Attempt-to-Escape Frequency:</a:t>
            </a:r>
            <a:br>
              <a:rPr lang="en-US" altLang="ko-KR" sz="24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2400">
                <a:latin typeface="Arial" panose="020B0604020202020204" pitchFamily="34" charset="0"/>
                <a:cs typeface="Arial" panose="020B0604020202020204" pitchFamily="34" charset="0"/>
              </a:rPr>
              <a:t>Tunneling Emission of Trapped Electrons in Tunneling Oxides of 3-D NAND</a:t>
            </a:r>
            <a:br>
              <a:rPr lang="en-US" altLang="ko-KR" sz="24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2400">
                <a:latin typeface="Arial" panose="020B0604020202020204" pitchFamily="34" charset="0"/>
                <a:cs typeface="Arial" panose="020B0604020202020204" pitchFamily="34" charset="0"/>
              </a:rPr>
              <a:t>Flash Memory</a:t>
            </a:r>
            <a:endParaRPr lang="ko-KR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9FBF8F0-9172-93FB-4457-171A7A0741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Myung</a:t>
            </a:r>
            <a:r>
              <a:rPr lang="ko-KR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Jin</a:t>
            </a:r>
            <a:r>
              <a:rPr lang="ko-KR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ko-KR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Hyuncheol</a:t>
            </a:r>
            <a:r>
              <a:rPr lang="ko-KR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Shin</a:t>
            </a:r>
          </a:p>
          <a:p>
            <a:endParaRPr lang="en-US" altLang="ko-KR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10.1109/TED.2025.3589340</a:t>
            </a:r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FDCFDF-7BB2-7AC7-2581-D855A1CA53BB}"/>
              </a:ext>
            </a:extLst>
          </p:cNvPr>
          <p:cNvSpPr txBox="1"/>
          <p:nvPr/>
        </p:nvSpPr>
        <p:spPr>
          <a:xfrm>
            <a:off x="1082675" y="1377950"/>
            <a:ext cx="469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Font : Arial</a:t>
            </a:r>
            <a:endParaRPr lang="ko-KR" altLang="en-US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374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60389-0286-AD07-3578-27EE8F936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953CD45-F358-AAAB-F74B-4F63C66E9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9" y="527405"/>
            <a:ext cx="1425892" cy="775615"/>
          </a:xfrm>
        </p:spPr>
        <p:txBody>
          <a:bodyPr/>
          <a:lstStyle/>
          <a:p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Fig. 1</a:t>
            </a:r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84" name="그룹 583">
            <a:extLst>
              <a:ext uri="{FF2B5EF4-FFF2-40B4-BE49-F238E27FC236}">
                <a16:creationId xmlns:a16="http://schemas.microsoft.com/office/drawing/2014/main" id="{13BAB7FF-14AF-413C-3453-C51142874F93}"/>
              </a:ext>
            </a:extLst>
          </p:cNvPr>
          <p:cNvGrpSpPr/>
          <p:nvPr/>
        </p:nvGrpSpPr>
        <p:grpSpPr>
          <a:xfrm>
            <a:off x="1100330" y="2383018"/>
            <a:ext cx="2642995" cy="919688"/>
            <a:chOff x="1100330" y="2383018"/>
            <a:chExt cx="2642995" cy="919688"/>
          </a:xfrm>
        </p:grpSpPr>
        <p:grpSp>
          <p:nvGrpSpPr>
            <p:cNvPr id="376" name="그룹 375">
              <a:extLst>
                <a:ext uri="{FF2B5EF4-FFF2-40B4-BE49-F238E27FC236}">
                  <a16:creationId xmlns:a16="http://schemas.microsoft.com/office/drawing/2014/main" id="{C3BE488E-1CC4-F4DC-7EF2-46DCD19FBD15}"/>
                </a:ext>
              </a:extLst>
            </p:cNvPr>
            <p:cNvGrpSpPr/>
            <p:nvPr/>
          </p:nvGrpSpPr>
          <p:grpSpPr>
            <a:xfrm>
              <a:off x="1100330" y="2383018"/>
              <a:ext cx="2642995" cy="919688"/>
              <a:chOff x="1100330" y="2445789"/>
              <a:chExt cx="2642995" cy="919688"/>
            </a:xfrm>
          </p:grpSpPr>
          <p:sp>
            <p:nvSpPr>
              <p:cNvPr id="106" name="원호 105">
                <a:extLst>
                  <a:ext uri="{FF2B5EF4-FFF2-40B4-BE49-F238E27FC236}">
                    <a16:creationId xmlns:a16="http://schemas.microsoft.com/office/drawing/2014/main" id="{16B01734-5DEF-98A7-B0E8-BCA92FECB895}"/>
                  </a:ext>
                </a:extLst>
              </p:cNvPr>
              <p:cNvSpPr/>
              <p:nvPr/>
            </p:nvSpPr>
            <p:spPr>
              <a:xfrm rot="2677778">
                <a:off x="1327519" y="2820815"/>
                <a:ext cx="488029" cy="488029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8" name="원호 107">
                <a:extLst>
                  <a:ext uri="{FF2B5EF4-FFF2-40B4-BE49-F238E27FC236}">
                    <a16:creationId xmlns:a16="http://schemas.microsoft.com/office/drawing/2014/main" id="{6BE72316-64B4-B955-891D-31D0D7852911}"/>
                  </a:ext>
                </a:extLst>
              </p:cNvPr>
              <p:cNvSpPr/>
              <p:nvPr/>
            </p:nvSpPr>
            <p:spPr>
              <a:xfrm rot="2677778">
                <a:off x="1638731" y="2820815"/>
                <a:ext cx="488029" cy="488029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9" name="원호 108">
                <a:extLst>
                  <a:ext uri="{FF2B5EF4-FFF2-40B4-BE49-F238E27FC236}">
                    <a16:creationId xmlns:a16="http://schemas.microsoft.com/office/drawing/2014/main" id="{06A32E60-D779-439A-2584-FE9797F2C892}"/>
                  </a:ext>
                </a:extLst>
              </p:cNvPr>
              <p:cNvSpPr/>
              <p:nvPr/>
            </p:nvSpPr>
            <p:spPr>
              <a:xfrm rot="2677778">
                <a:off x="2403943" y="2820815"/>
                <a:ext cx="488029" cy="488029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1" name="원호 110">
                <a:extLst>
                  <a:ext uri="{FF2B5EF4-FFF2-40B4-BE49-F238E27FC236}">
                    <a16:creationId xmlns:a16="http://schemas.microsoft.com/office/drawing/2014/main" id="{D15A1AFD-69CA-E666-E4C1-DAF8AC10D8DB}"/>
                  </a:ext>
                </a:extLst>
              </p:cNvPr>
              <p:cNvSpPr/>
              <p:nvPr/>
            </p:nvSpPr>
            <p:spPr>
              <a:xfrm rot="2677778">
                <a:off x="2749025" y="2820816"/>
                <a:ext cx="488029" cy="488029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BB1FB9B4-C128-18AF-A7A2-012790D133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10775" y="3062098"/>
                <a:ext cx="199030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6" name="원호 115">
                <a:extLst>
                  <a:ext uri="{FF2B5EF4-FFF2-40B4-BE49-F238E27FC236}">
                    <a16:creationId xmlns:a16="http://schemas.microsoft.com/office/drawing/2014/main" id="{4D102B16-0963-803B-140D-246B67B2138F}"/>
                  </a:ext>
                </a:extLst>
              </p:cNvPr>
              <p:cNvSpPr/>
              <p:nvPr/>
            </p:nvSpPr>
            <p:spPr>
              <a:xfrm rot="2677778">
                <a:off x="1891259" y="2815519"/>
                <a:ext cx="488029" cy="488029"/>
              </a:xfrm>
              <a:prstGeom prst="arc">
                <a:avLst/>
              </a:prstGeom>
              <a:ln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7" name="원호 116">
                <a:extLst>
                  <a:ext uri="{FF2B5EF4-FFF2-40B4-BE49-F238E27FC236}">
                    <a16:creationId xmlns:a16="http://schemas.microsoft.com/office/drawing/2014/main" id="{E61463C4-7263-165D-92BA-2CF31A39E4A3}"/>
                  </a:ext>
                </a:extLst>
              </p:cNvPr>
              <p:cNvSpPr/>
              <p:nvPr/>
            </p:nvSpPr>
            <p:spPr>
              <a:xfrm rot="2677778">
                <a:off x="1764995" y="2815519"/>
                <a:ext cx="488029" cy="488029"/>
              </a:xfrm>
              <a:prstGeom prst="arc">
                <a:avLst/>
              </a:prstGeom>
              <a:ln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8" name="원호 117">
                <a:extLst>
                  <a:ext uri="{FF2B5EF4-FFF2-40B4-BE49-F238E27FC236}">
                    <a16:creationId xmlns:a16="http://schemas.microsoft.com/office/drawing/2014/main" id="{590D0408-594B-AE85-EB8E-132E95346469}"/>
                  </a:ext>
                </a:extLst>
              </p:cNvPr>
              <p:cNvSpPr/>
              <p:nvPr/>
            </p:nvSpPr>
            <p:spPr>
              <a:xfrm rot="2677778">
                <a:off x="2017523" y="2815519"/>
                <a:ext cx="488029" cy="488029"/>
              </a:xfrm>
              <a:prstGeom prst="arc">
                <a:avLst/>
              </a:prstGeom>
              <a:ln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원호 122">
                <a:extLst>
                  <a:ext uri="{FF2B5EF4-FFF2-40B4-BE49-F238E27FC236}">
                    <a16:creationId xmlns:a16="http://schemas.microsoft.com/office/drawing/2014/main" id="{E16EFC02-4A72-9064-F362-CC5CB3A8C761}"/>
                  </a:ext>
                </a:extLst>
              </p:cNvPr>
              <p:cNvSpPr/>
              <p:nvPr/>
            </p:nvSpPr>
            <p:spPr>
              <a:xfrm rot="2677778">
                <a:off x="2275848" y="2815519"/>
                <a:ext cx="488029" cy="488029"/>
              </a:xfrm>
              <a:prstGeom prst="arc">
                <a:avLst/>
              </a:prstGeom>
              <a:ln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6" name="TextBox 235">
                    <a:extLst>
                      <a:ext uri="{FF2B5EF4-FFF2-40B4-BE49-F238E27FC236}">
                        <a16:creationId xmlns:a16="http://schemas.microsoft.com/office/drawing/2014/main" id="{433868C9-1F95-7970-7843-30B71BD81EDE}"/>
                      </a:ext>
                    </a:extLst>
                  </p:cNvPr>
                  <p:cNvSpPr txBox="1"/>
                  <p:nvPr/>
                </p:nvSpPr>
                <p:spPr>
                  <a:xfrm>
                    <a:off x="2022732" y="2929229"/>
                    <a:ext cx="97783" cy="1202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altLang="ko-KR" sz="800" b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US" altLang="ko-KR" sz="800" b="1" baseline="-2500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0</m:t>
                          </m:r>
                        </m:oMath>
                      </m:oMathPara>
                    </a14:m>
                    <a:endParaRPr lang="ko-KR" altLang="en-US" sz="800" b="1" baseline="-25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36" name="TextBox 235">
                    <a:extLst>
                      <a:ext uri="{FF2B5EF4-FFF2-40B4-BE49-F238E27FC236}">
                        <a16:creationId xmlns:a16="http://schemas.microsoft.com/office/drawing/2014/main" id="{433868C9-1F95-7970-7843-30B71BD81E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22732" y="2929229"/>
                    <a:ext cx="97783" cy="12028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31250" r="-125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4EA6AAAD-A574-18EB-7BE1-0D375FCA1C71}"/>
                  </a:ext>
                </a:extLst>
              </p:cNvPr>
              <p:cNvSpPr txBox="1"/>
              <p:nvPr/>
            </p:nvSpPr>
            <p:spPr>
              <a:xfrm>
                <a:off x="1100330" y="3057700"/>
                <a:ext cx="70917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700">
                    <a:latin typeface="Arial" panose="020B0604020202020204" pitchFamily="34" charset="0"/>
                    <a:cs typeface="Arial" panose="020B0604020202020204" pitchFamily="34" charset="0"/>
                  </a:rPr>
                  <a:t>Si - Channel</a:t>
                </a:r>
                <a:br>
                  <a:rPr lang="en-US" altLang="ko-KR" sz="70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altLang="ko-KR" sz="700">
                    <a:latin typeface="Arial" panose="020B0604020202020204" pitchFamily="34" charset="0"/>
                    <a:cs typeface="Arial" panose="020B0604020202020204" pitchFamily="34" charset="0"/>
                  </a:rPr>
                  <a:t>(Ch)</a:t>
                </a:r>
                <a:endParaRPr lang="ko-KR" altLang="en-US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ADFA6492-8EC7-611E-E3A4-B264B7B6BE00}"/>
                  </a:ext>
                </a:extLst>
              </p:cNvPr>
              <p:cNvSpPr txBox="1"/>
              <p:nvPr/>
            </p:nvSpPr>
            <p:spPr>
              <a:xfrm>
                <a:off x="3196633" y="3050405"/>
                <a:ext cx="5466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700">
                    <a:latin typeface="Arial" panose="020B0604020202020204" pitchFamily="34" charset="0"/>
                    <a:cs typeface="Arial" panose="020B0604020202020204" pitchFamily="34" charset="0"/>
                  </a:rPr>
                  <a:t>Wordline</a:t>
                </a:r>
                <a:br>
                  <a:rPr lang="en-US" altLang="ko-KR" sz="70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altLang="ko-KR" sz="700">
                    <a:latin typeface="Arial" panose="020B0604020202020204" pitchFamily="34" charset="0"/>
                    <a:cs typeface="Arial" panose="020B0604020202020204" pitchFamily="34" charset="0"/>
                  </a:rPr>
                  <a:t>(WL)</a:t>
                </a:r>
                <a:endParaRPr lang="ko-KR" altLang="en-US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2" name="TextBox 331">
                    <a:extLst>
                      <a:ext uri="{FF2B5EF4-FFF2-40B4-BE49-F238E27FC236}">
                        <a16:creationId xmlns:a16="http://schemas.microsoft.com/office/drawing/2014/main" id="{88DD9990-4809-8552-9422-931D8CDEDF58}"/>
                      </a:ext>
                    </a:extLst>
                  </p:cNvPr>
                  <p:cNvSpPr txBox="1"/>
                  <p:nvPr/>
                </p:nvSpPr>
                <p:spPr>
                  <a:xfrm>
                    <a:off x="2153983" y="2929229"/>
                    <a:ext cx="97783" cy="1202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altLang="ko-KR" sz="800" b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US" altLang="ko-KR" sz="800" b="1" i="0" baseline="-2500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oMath>
                      </m:oMathPara>
                    </a14:m>
                    <a:endParaRPr lang="ko-KR" altLang="en-US" sz="800" b="1" baseline="-25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32" name="TextBox 331">
                    <a:extLst>
                      <a:ext uri="{FF2B5EF4-FFF2-40B4-BE49-F238E27FC236}">
                        <a16:creationId xmlns:a16="http://schemas.microsoft.com/office/drawing/2014/main" id="{88DD9990-4809-8552-9422-931D8CDEDF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53983" y="2929229"/>
                    <a:ext cx="97783" cy="12028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25000" r="-125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3" name="TextBox 332">
                    <a:extLst>
                      <a:ext uri="{FF2B5EF4-FFF2-40B4-BE49-F238E27FC236}">
                        <a16:creationId xmlns:a16="http://schemas.microsoft.com/office/drawing/2014/main" id="{3BAACD08-C421-1A35-E6A6-8B78DECDC898}"/>
                      </a:ext>
                    </a:extLst>
                  </p:cNvPr>
                  <p:cNvSpPr txBox="1"/>
                  <p:nvPr/>
                </p:nvSpPr>
                <p:spPr>
                  <a:xfrm>
                    <a:off x="2283639" y="2929229"/>
                    <a:ext cx="97783" cy="1202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altLang="ko-KR" sz="800" b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US" altLang="ko-KR" sz="800" b="1" i="0" baseline="-2500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oMath>
                      </m:oMathPara>
                    </a14:m>
                    <a:endParaRPr lang="ko-KR" altLang="en-US" sz="800" b="1" baseline="-25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33" name="TextBox 332">
                    <a:extLst>
                      <a:ext uri="{FF2B5EF4-FFF2-40B4-BE49-F238E27FC236}">
                        <a16:creationId xmlns:a16="http://schemas.microsoft.com/office/drawing/2014/main" id="{3BAACD08-C421-1A35-E6A6-8B78DECDC8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83639" y="2929229"/>
                    <a:ext cx="97783" cy="12028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31250" r="-125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4" name="TextBox 333">
                    <a:extLst>
                      <a:ext uri="{FF2B5EF4-FFF2-40B4-BE49-F238E27FC236}">
                        <a16:creationId xmlns:a16="http://schemas.microsoft.com/office/drawing/2014/main" id="{20E39FAB-6FA9-0527-6914-A87BBCE1B76C}"/>
                      </a:ext>
                    </a:extLst>
                  </p:cNvPr>
                  <p:cNvSpPr txBox="1"/>
                  <p:nvPr/>
                </p:nvSpPr>
                <p:spPr>
                  <a:xfrm>
                    <a:off x="2412793" y="2929229"/>
                    <a:ext cx="97783" cy="1202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altLang="ko-KR" sz="800" b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US" altLang="ko-KR" sz="800" b="1" i="0" baseline="-2500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3</m:t>
                          </m:r>
                        </m:oMath>
                      </m:oMathPara>
                    </a14:m>
                    <a:endParaRPr lang="ko-KR" altLang="en-US" sz="800" b="1" baseline="-25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34" name="TextBox 333">
                    <a:extLst>
                      <a:ext uri="{FF2B5EF4-FFF2-40B4-BE49-F238E27FC236}">
                        <a16:creationId xmlns:a16="http://schemas.microsoft.com/office/drawing/2014/main" id="{20E39FAB-6FA9-0527-6914-A87BBCE1B7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12793" y="2929229"/>
                    <a:ext cx="97783" cy="12028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31250" r="-125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5" name="TextBox 334">
                    <a:extLst>
                      <a:ext uri="{FF2B5EF4-FFF2-40B4-BE49-F238E27FC236}">
                        <a16:creationId xmlns:a16="http://schemas.microsoft.com/office/drawing/2014/main" id="{59CFC7D8-CAB7-4308-96D9-3C64A4C867C9}"/>
                      </a:ext>
                    </a:extLst>
                  </p:cNvPr>
                  <p:cNvSpPr txBox="1"/>
                  <p:nvPr/>
                </p:nvSpPr>
                <p:spPr>
                  <a:xfrm>
                    <a:off x="2780438" y="2929229"/>
                    <a:ext cx="89768" cy="1202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ko-KR" sz="800" b="1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r</m:t>
                        </m:r>
                      </m:oMath>
                    </a14:m>
                    <a:r>
                      <a:rPr lang="en-US" altLang="ko-KR" sz="800" b="1" baseline="-250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N</a:t>
                    </a:r>
                    <a:endParaRPr lang="ko-KR" altLang="en-US" sz="800" b="1" baseline="-25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35" name="TextBox 334">
                    <a:extLst>
                      <a:ext uri="{FF2B5EF4-FFF2-40B4-BE49-F238E27FC236}">
                        <a16:creationId xmlns:a16="http://schemas.microsoft.com/office/drawing/2014/main" id="{59CFC7D8-CAB7-4308-96D9-3C64A4C867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80438" y="2929229"/>
                    <a:ext cx="89768" cy="12028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33333" r="-40000" b="-4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6" name="TextBox 335">
                    <a:extLst>
                      <a:ext uri="{FF2B5EF4-FFF2-40B4-BE49-F238E27FC236}">
                        <a16:creationId xmlns:a16="http://schemas.microsoft.com/office/drawing/2014/main" id="{71511585-A780-79D0-0BBE-E9902B914B71}"/>
                      </a:ext>
                    </a:extLst>
                  </p:cNvPr>
                  <p:cNvSpPr txBox="1"/>
                  <p:nvPr/>
                </p:nvSpPr>
                <p:spPr>
                  <a:xfrm>
                    <a:off x="3085111" y="2929229"/>
                    <a:ext cx="145873" cy="1202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ko-KR" sz="800" b="1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r</m:t>
                        </m:r>
                      </m:oMath>
                    </a14:m>
                    <a:r>
                      <a:rPr lang="en-US" altLang="ko-KR" sz="800" b="1" baseline="-250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WL</a:t>
                    </a:r>
                    <a:endParaRPr lang="ko-KR" altLang="en-US" sz="800" b="1" baseline="-25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36" name="TextBox 335">
                    <a:extLst>
                      <a:ext uri="{FF2B5EF4-FFF2-40B4-BE49-F238E27FC236}">
                        <a16:creationId xmlns:a16="http://schemas.microsoft.com/office/drawing/2014/main" id="{71511585-A780-79D0-0BBE-E9902B914B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85111" y="2929229"/>
                    <a:ext cx="145873" cy="12028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20833" r="-29167" b="-4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7" name="TextBox 336">
                    <a:extLst>
                      <a:ext uri="{FF2B5EF4-FFF2-40B4-BE49-F238E27FC236}">
                        <a16:creationId xmlns:a16="http://schemas.microsoft.com/office/drawing/2014/main" id="{E292FC31-0E07-B868-FE78-2F6D3D2D832C}"/>
                      </a:ext>
                    </a:extLst>
                  </p:cNvPr>
                  <p:cNvSpPr txBox="1"/>
                  <p:nvPr/>
                </p:nvSpPr>
                <p:spPr>
                  <a:xfrm>
                    <a:off x="1662841" y="2924360"/>
                    <a:ext cx="131446" cy="1202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ko-KR" sz="800" b="1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r</m:t>
                        </m:r>
                      </m:oMath>
                    </a14:m>
                    <a:r>
                      <a:rPr lang="en-US" altLang="ko-KR" sz="800" b="1" baseline="-250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Ch</a:t>
                    </a:r>
                    <a:endParaRPr lang="ko-KR" altLang="en-US" sz="800" b="1" baseline="-25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37" name="TextBox 336">
                    <a:extLst>
                      <a:ext uri="{FF2B5EF4-FFF2-40B4-BE49-F238E27FC236}">
                        <a16:creationId xmlns:a16="http://schemas.microsoft.com/office/drawing/2014/main" id="{E292FC31-0E07-B868-FE78-2F6D3D2D83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2841" y="2924360"/>
                    <a:ext cx="131446" cy="12028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23810" r="-38095" b="-4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62" name="TextBox 361">
                <a:extLst>
                  <a:ext uri="{FF2B5EF4-FFF2-40B4-BE49-F238E27FC236}">
                    <a16:creationId xmlns:a16="http://schemas.microsoft.com/office/drawing/2014/main" id="{DA5803B3-CC2E-5430-5100-74DF5A70A8DE}"/>
                  </a:ext>
                </a:extLst>
              </p:cNvPr>
              <p:cNvSpPr txBox="1"/>
              <p:nvPr/>
            </p:nvSpPr>
            <p:spPr>
              <a:xfrm>
                <a:off x="1337549" y="2445789"/>
                <a:ext cx="360492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700" b="1">
                    <a:latin typeface="Arial" panose="020B0604020202020204" pitchFamily="34" charset="0"/>
                    <a:cs typeface="Arial" panose="020B0604020202020204" pitchFamily="34" charset="0"/>
                  </a:rPr>
                  <a:t>(c)</a:t>
                </a:r>
                <a:endParaRPr lang="ko-KR" altLang="en-US" sz="7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B706F012-FF07-5060-D450-1E1B1E1701B5}"/>
                </a:ext>
              </a:extLst>
            </p:cNvPr>
            <p:cNvSpPr txBox="1"/>
            <p:nvPr/>
          </p:nvSpPr>
          <p:spPr>
            <a:xfrm>
              <a:off x="2373140" y="2758062"/>
              <a:ext cx="494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" name="그림 1" descr="다채로움, 스크린샷, 그린, 노랑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1CAF9D-6B6A-9F18-6A69-7163AAAD9C61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19521" b="24931"/>
          <a:stretch>
            <a:fillRect/>
          </a:stretch>
        </p:blipFill>
        <p:spPr>
          <a:xfrm rot="16200000">
            <a:off x="317065" y="2984000"/>
            <a:ext cx="1252920" cy="63383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752DC6FB-E78C-9B45-86A2-B5EA486DFFFF}"/>
              </a:ext>
            </a:extLst>
          </p:cNvPr>
          <p:cNvGrpSpPr/>
          <p:nvPr/>
        </p:nvGrpSpPr>
        <p:grpSpPr>
          <a:xfrm>
            <a:off x="1337549" y="1906859"/>
            <a:ext cx="1731170" cy="1167341"/>
            <a:chOff x="1337549" y="1906859"/>
            <a:chExt cx="1731170" cy="1167341"/>
          </a:xfrm>
        </p:grpSpPr>
        <p:sp>
          <p:nvSpPr>
            <p:cNvPr id="18" name="자유형: 도형 17">
              <a:extLst>
                <a:ext uri="{FF2B5EF4-FFF2-40B4-BE49-F238E27FC236}">
                  <a16:creationId xmlns:a16="http://schemas.microsoft.com/office/drawing/2014/main" id="{F299125F-1750-1AB0-BD8D-769D46EEF0C2}"/>
                </a:ext>
              </a:extLst>
            </p:cNvPr>
            <p:cNvSpPr/>
            <p:nvPr/>
          </p:nvSpPr>
          <p:spPr>
            <a:xfrm>
              <a:off x="2128838" y="2090738"/>
              <a:ext cx="776287" cy="309562"/>
            </a:xfrm>
            <a:custGeom>
              <a:avLst/>
              <a:gdLst>
                <a:gd name="csX0" fmla="*/ 0 w 776287"/>
                <a:gd name="csY0" fmla="*/ 309562 h 309562"/>
                <a:gd name="csX1" fmla="*/ 0 w 776287"/>
                <a:gd name="csY1" fmla="*/ 161925 h 309562"/>
                <a:gd name="csX2" fmla="*/ 685800 w 776287"/>
                <a:gd name="csY2" fmla="*/ 238125 h 309562"/>
                <a:gd name="csX3" fmla="*/ 685800 w 776287"/>
                <a:gd name="csY3" fmla="*/ 0 h 309562"/>
                <a:gd name="csX4" fmla="*/ 776287 w 776287"/>
                <a:gd name="csY4" fmla="*/ 0 h 309562"/>
                <a:gd name="csX5" fmla="*/ 776287 w 776287"/>
                <a:gd name="csY5" fmla="*/ 304800 h 309562"/>
                <a:gd name="csX6" fmla="*/ 0 w 776287"/>
                <a:gd name="csY6" fmla="*/ 309562 h 3095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76287" h="309562">
                  <a:moveTo>
                    <a:pt x="0" y="309562"/>
                  </a:moveTo>
                  <a:lnTo>
                    <a:pt x="0" y="161925"/>
                  </a:lnTo>
                  <a:lnTo>
                    <a:pt x="685800" y="238125"/>
                  </a:lnTo>
                  <a:lnTo>
                    <a:pt x="685800" y="0"/>
                  </a:lnTo>
                  <a:lnTo>
                    <a:pt x="776287" y="0"/>
                  </a:lnTo>
                  <a:lnTo>
                    <a:pt x="776287" y="304800"/>
                  </a:lnTo>
                  <a:lnTo>
                    <a:pt x="0" y="309562"/>
                  </a:lnTo>
                  <a:close/>
                </a:path>
              </a:pathLst>
            </a:custGeom>
            <a:solidFill>
              <a:srgbClr val="F1D36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0EE53E30-3C7D-C6EA-4661-9633E6715C21}"/>
                </a:ext>
              </a:extLst>
            </p:cNvPr>
            <p:cNvGrpSpPr/>
            <p:nvPr/>
          </p:nvGrpSpPr>
          <p:grpSpPr>
            <a:xfrm>
              <a:off x="1337549" y="1906859"/>
              <a:ext cx="1731170" cy="1167341"/>
              <a:chOff x="1337549" y="1906859"/>
              <a:chExt cx="1731170" cy="1167341"/>
            </a:xfrm>
          </p:grpSpPr>
          <p:cxnSp>
            <p:nvCxnSpPr>
              <p:cNvPr id="300" name="직선 연결선 299">
                <a:extLst>
                  <a:ext uri="{FF2B5EF4-FFF2-40B4-BE49-F238E27FC236}">
                    <a16:creationId xmlns:a16="http://schemas.microsoft.com/office/drawing/2014/main" id="{774A86F0-C443-DA34-8985-53F1D3C638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6659" y="2092625"/>
                <a:ext cx="0" cy="981575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직선 연결선 300">
                <a:extLst>
                  <a:ext uri="{FF2B5EF4-FFF2-40B4-BE49-F238E27FC236}">
                    <a16:creationId xmlns:a16="http://schemas.microsoft.com/office/drawing/2014/main" id="{AE1A7C84-B0B6-9860-FA27-6C833DB2F9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5007" y="2057400"/>
                <a:ext cx="0" cy="1008751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직선 화살표 연결선 15">
                <a:extLst>
                  <a:ext uri="{FF2B5EF4-FFF2-40B4-BE49-F238E27FC236}">
                    <a16:creationId xmlns:a16="http://schemas.microsoft.com/office/drawing/2014/main" id="{819B03E9-80AF-7243-754C-5E0F2216C4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04533" y="2403460"/>
                <a:ext cx="106418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2EF5FDA5-D0D5-4482-17FF-7298970615AE}"/>
                  </a:ext>
                </a:extLst>
              </p:cNvPr>
              <p:cNvSpPr txBox="1"/>
              <p:nvPr/>
            </p:nvSpPr>
            <p:spPr>
              <a:xfrm>
                <a:off x="2421390" y="2281509"/>
                <a:ext cx="72136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altLang="ko-KR" sz="700" b="1" dirty="0" err="1"/>
                  <a:t>n</a:t>
                </a:r>
                <a:r>
                  <a:rPr lang="en-US" altLang="ko-KR" sz="700" b="1" baseline="-25000" dirty="0" err="1"/>
                  <a:t>t</a:t>
                </a:r>
                <a:endParaRPr lang="ko-KR" altLang="en-US" sz="700" b="1" baseline="-25000" dirty="0"/>
              </a:p>
            </p:txBody>
          </p:sp>
          <p:sp>
            <p:nvSpPr>
              <p:cNvPr id="340" name="TextBox 339">
                <a:extLst>
                  <a:ext uri="{FF2B5EF4-FFF2-40B4-BE49-F238E27FC236}">
                    <a16:creationId xmlns:a16="http://schemas.microsoft.com/office/drawing/2014/main" id="{A092FB95-3CFD-EA9D-410B-F92547721757}"/>
                  </a:ext>
                </a:extLst>
              </p:cNvPr>
              <p:cNvSpPr txBox="1"/>
              <p:nvPr/>
            </p:nvSpPr>
            <p:spPr>
              <a:xfrm>
                <a:off x="1337549" y="1906859"/>
                <a:ext cx="360492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7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(b)</a:t>
                </a:r>
                <a:endParaRPr lang="ko-KR" altLang="en-US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89" name="직선 화살표 연결선 288">
                <a:extLst>
                  <a:ext uri="{FF2B5EF4-FFF2-40B4-BE49-F238E27FC236}">
                    <a16:creationId xmlns:a16="http://schemas.microsoft.com/office/drawing/2014/main" id="{BF7303CF-4083-ABBE-6FCF-C2DABD2F65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5189" y="2166866"/>
                <a:ext cx="760771" cy="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5" name="TextBox 304">
                <a:extLst>
                  <a:ext uri="{FF2B5EF4-FFF2-40B4-BE49-F238E27FC236}">
                    <a16:creationId xmlns:a16="http://schemas.microsoft.com/office/drawing/2014/main" id="{EC124455-F295-98AF-7E49-DFD62B80281D}"/>
                  </a:ext>
                </a:extLst>
              </p:cNvPr>
              <p:cNvSpPr txBox="1"/>
              <p:nvPr/>
            </p:nvSpPr>
            <p:spPr>
              <a:xfrm>
                <a:off x="2311925" y="1997375"/>
                <a:ext cx="40729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/>
                  <a:t>t</a:t>
                </a:r>
                <a:r>
                  <a:rPr lang="en-US" altLang="ko-KR" sz="800" baseline="-25000"/>
                  <a:t>CTN</a:t>
                </a:r>
                <a:endParaRPr lang="ko-KR" altLang="en-US" sz="800" baseline="-25000"/>
              </a:p>
            </p:txBody>
          </p:sp>
          <p:cxnSp>
            <p:nvCxnSpPr>
              <p:cNvPr id="541" name="직선 연결선 540">
                <a:extLst>
                  <a:ext uri="{FF2B5EF4-FFF2-40B4-BE49-F238E27FC236}">
                    <a16:creationId xmlns:a16="http://schemas.microsoft.com/office/drawing/2014/main" id="{B56972B8-31DD-C20F-602D-A49D0AAD5A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69702" y="2196967"/>
                <a:ext cx="0" cy="324000"/>
              </a:xfrm>
              <a:prstGeom prst="line">
                <a:avLst/>
              </a:prstGeom>
              <a:ln w="3175"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2" name="직선 연결선 541">
                <a:extLst>
                  <a:ext uri="{FF2B5EF4-FFF2-40B4-BE49-F238E27FC236}">
                    <a16:creationId xmlns:a16="http://schemas.microsoft.com/office/drawing/2014/main" id="{6D248263-98BD-D746-842D-E51F3DDDA3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5705" y="2196967"/>
                <a:ext cx="0" cy="324000"/>
              </a:xfrm>
              <a:prstGeom prst="line">
                <a:avLst/>
              </a:prstGeom>
              <a:ln w="3175"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" name="직선 연결선 545">
                <a:extLst>
                  <a:ext uri="{FF2B5EF4-FFF2-40B4-BE49-F238E27FC236}">
                    <a16:creationId xmlns:a16="http://schemas.microsoft.com/office/drawing/2014/main" id="{8B0B6F77-0AA7-642D-AE13-C4441142C94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61708" y="2196967"/>
                <a:ext cx="0" cy="324000"/>
              </a:xfrm>
              <a:prstGeom prst="line">
                <a:avLst/>
              </a:prstGeom>
              <a:ln w="3175"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9" name="직선 연결선 548">
                <a:extLst>
                  <a:ext uri="{FF2B5EF4-FFF2-40B4-BE49-F238E27FC236}">
                    <a16:creationId xmlns:a16="http://schemas.microsoft.com/office/drawing/2014/main" id="{96BB6338-B3BA-D9DF-7D39-0503C83479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2337" y="2092625"/>
                <a:ext cx="0" cy="412467"/>
              </a:xfrm>
              <a:prstGeom prst="line">
                <a:avLst/>
              </a:prstGeom>
              <a:ln w="3175"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2" name="직선 연결선 581">
                <a:extLst>
                  <a:ext uri="{FF2B5EF4-FFF2-40B4-BE49-F238E27FC236}">
                    <a16:creationId xmlns:a16="http://schemas.microsoft.com/office/drawing/2014/main" id="{8C26E27A-63D4-A7D4-55CC-FDFA523EC5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07609" y="2092625"/>
                <a:ext cx="0" cy="412467"/>
              </a:xfrm>
              <a:prstGeom prst="line">
                <a:avLst/>
              </a:prstGeom>
              <a:ln w="3175"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02" name="그룹 601">
            <a:extLst>
              <a:ext uri="{FF2B5EF4-FFF2-40B4-BE49-F238E27FC236}">
                <a16:creationId xmlns:a16="http://schemas.microsoft.com/office/drawing/2014/main" id="{25232DB7-889A-3A06-F43F-E5A6A3570C2E}"/>
              </a:ext>
            </a:extLst>
          </p:cNvPr>
          <p:cNvGrpSpPr/>
          <p:nvPr/>
        </p:nvGrpSpPr>
        <p:grpSpPr>
          <a:xfrm>
            <a:off x="444954" y="3746901"/>
            <a:ext cx="2931952" cy="1267612"/>
            <a:chOff x="444954" y="3914309"/>
            <a:chExt cx="2931952" cy="1267612"/>
          </a:xfrm>
        </p:grpSpPr>
        <p:sp>
          <p:nvSpPr>
            <p:cNvPr id="276" name="타원 275">
              <a:extLst>
                <a:ext uri="{FF2B5EF4-FFF2-40B4-BE49-F238E27FC236}">
                  <a16:creationId xmlns:a16="http://schemas.microsoft.com/office/drawing/2014/main" id="{8DD8B11A-3628-657D-A200-C7A5981CAA2E}"/>
                </a:ext>
              </a:extLst>
            </p:cNvPr>
            <p:cNvSpPr/>
            <p:nvPr/>
          </p:nvSpPr>
          <p:spPr>
            <a:xfrm>
              <a:off x="710049" y="4215920"/>
              <a:ext cx="571304" cy="571304"/>
            </a:xfrm>
            <a:prstGeom prst="ellipse">
              <a:avLst/>
            </a:prstGeom>
            <a:gradFill flip="none" rotWithShape="1">
              <a:gsLst>
                <a:gs pos="0">
                  <a:srgbClr val="FFFF00"/>
                </a:gs>
                <a:gs pos="68000">
                  <a:schemeClr val="bg1">
                    <a:lumMod val="87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D6BE220E-EFF7-B5AD-AA55-12AFA12A2D80}"/>
                </a:ext>
              </a:extLst>
            </p:cNvPr>
            <p:cNvSpPr txBox="1"/>
            <p:nvPr/>
          </p:nvSpPr>
          <p:spPr>
            <a:xfrm>
              <a:off x="444954" y="3914309"/>
              <a:ext cx="36049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b="1">
                  <a:latin typeface="Arial" panose="020B0604020202020204" pitchFamily="34" charset="0"/>
                  <a:cs typeface="Arial" panose="020B0604020202020204" pitchFamily="34" charset="0"/>
                </a:rPr>
                <a:t>(d)</a:t>
              </a:r>
              <a:endParaRPr lang="ko-KR" altLang="en-US" sz="7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7" name="타원 276">
              <a:extLst>
                <a:ext uri="{FF2B5EF4-FFF2-40B4-BE49-F238E27FC236}">
                  <a16:creationId xmlns:a16="http://schemas.microsoft.com/office/drawing/2014/main" id="{6EA85C1C-BCE6-A806-9B72-4BA03ECF4AA3}"/>
                </a:ext>
              </a:extLst>
            </p:cNvPr>
            <p:cNvSpPr/>
            <p:nvPr/>
          </p:nvSpPr>
          <p:spPr>
            <a:xfrm>
              <a:off x="859275" y="4365146"/>
              <a:ext cx="272853" cy="27285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8" name="타원 277">
              <a:extLst>
                <a:ext uri="{FF2B5EF4-FFF2-40B4-BE49-F238E27FC236}">
                  <a16:creationId xmlns:a16="http://schemas.microsoft.com/office/drawing/2014/main" id="{10D31041-C1B7-2C10-B59C-30CC0DC08E13}"/>
                </a:ext>
              </a:extLst>
            </p:cNvPr>
            <p:cNvSpPr/>
            <p:nvPr/>
          </p:nvSpPr>
          <p:spPr>
            <a:xfrm>
              <a:off x="1595454" y="4360656"/>
              <a:ext cx="272853" cy="272853"/>
            </a:xfrm>
            <a:prstGeom prst="ellipse">
              <a:avLst/>
            </a:prstGeom>
            <a:solidFill>
              <a:srgbClr val="FFE38B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9" name="타원 278">
              <a:extLst>
                <a:ext uri="{FF2B5EF4-FFF2-40B4-BE49-F238E27FC236}">
                  <a16:creationId xmlns:a16="http://schemas.microsoft.com/office/drawing/2014/main" id="{369CEBC2-247C-C210-A5C2-C0FB15DAADEB}"/>
                </a:ext>
              </a:extLst>
            </p:cNvPr>
            <p:cNvSpPr/>
            <p:nvPr/>
          </p:nvSpPr>
          <p:spPr>
            <a:xfrm>
              <a:off x="2009950" y="4350409"/>
              <a:ext cx="309600" cy="309600"/>
            </a:xfrm>
            <a:prstGeom prst="ellipse">
              <a:avLst/>
            </a:prstGeom>
            <a:solidFill>
              <a:srgbClr val="FFD85B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1" name="타원 280">
              <a:extLst>
                <a:ext uri="{FF2B5EF4-FFF2-40B4-BE49-F238E27FC236}">
                  <a16:creationId xmlns:a16="http://schemas.microsoft.com/office/drawing/2014/main" id="{21A3D865-1926-E1EA-8EC0-5ECCBBB71C3A}"/>
                </a:ext>
              </a:extLst>
            </p:cNvPr>
            <p:cNvSpPr/>
            <p:nvPr/>
          </p:nvSpPr>
          <p:spPr>
            <a:xfrm>
              <a:off x="2796877" y="4219557"/>
              <a:ext cx="571304" cy="571304"/>
            </a:xfrm>
            <a:prstGeom prst="ellipse">
              <a:avLst/>
            </a:prstGeom>
            <a:solidFill>
              <a:srgbClr val="9FD6EF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E2154164-6EB4-BBC2-83BB-9807BA8A0FAD}"/>
                </a:ext>
              </a:extLst>
            </p:cNvPr>
            <p:cNvSpPr txBox="1"/>
            <p:nvPr/>
          </p:nvSpPr>
          <p:spPr>
            <a:xfrm>
              <a:off x="756460" y="3999966"/>
              <a:ext cx="4947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>
                  <a:latin typeface="Arial" panose="020B0604020202020204" pitchFamily="34" charset="0"/>
                  <a:cs typeface="Arial" panose="020B0604020202020204" pitchFamily="34" charset="0"/>
                </a:rPr>
                <a:t>Q</a:t>
              </a:r>
              <a:endParaRPr lang="ko-KR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47B0BF86-A75A-D967-A3DE-666CC86B0DA2}"/>
                </a:ext>
              </a:extLst>
            </p:cNvPr>
            <p:cNvSpPr txBox="1"/>
            <p:nvPr/>
          </p:nvSpPr>
          <p:spPr>
            <a:xfrm>
              <a:off x="1437503" y="4017428"/>
              <a:ext cx="58875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900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9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EBF81BA2-5982-C7CB-35FA-BD3114423799}"/>
                </a:ext>
              </a:extLst>
            </p:cNvPr>
            <p:cNvSpPr txBox="1"/>
            <p:nvPr/>
          </p:nvSpPr>
          <p:spPr>
            <a:xfrm>
              <a:off x="1870373" y="4017428"/>
              <a:ext cx="58875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900" baseline="-2500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9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F8589EA8-0247-F490-E19A-1BF214FFBE31}"/>
                </a:ext>
              </a:extLst>
            </p:cNvPr>
            <p:cNvSpPr txBox="1"/>
            <p:nvPr/>
          </p:nvSpPr>
          <p:spPr>
            <a:xfrm>
              <a:off x="2788152" y="4017428"/>
              <a:ext cx="58875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900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sz="9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D0DAF6B8-35C0-2270-9B8A-E2FCB2E73D84}"/>
                </a:ext>
              </a:extLst>
            </p:cNvPr>
            <p:cNvSpPr txBox="1"/>
            <p:nvPr/>
          </p:nvSpPr>
          <p:spPr>
            <a:xfrm>
              <a:off x="1134091" y="3999966"/>
              <a:ext cx="4947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endParaRPr lang="ko-KR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F0993BB5-1391-F8E1-F8FD-807A6063E5CC}"/>
                </a:ext>
              </a:extLst>
            </p:cNvPr>
            <p:cNvSpPr txBox="1"/>
            <p:nvPr/>
          </p:nvSpPr>
          <p:spPr>
            <a:xfrm>
              <a:off x="1700963" y="4032817"/>
              <a:ext cx="49470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8D42F718-2BBB-5E53-016F-5F6FACB2A8C3}"/>
                </a:ext>
              </a:extLst>
            </p:cNvPr>
            <p:cNvSpPr txBox="1"/>
            <p:nvPr/>
          </p:nvSpPr>
          <p:spPr>
            <a:xfrm>
              <a:off x="2124311" y="4032817"/>
              <a:ext cx="49470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96FF35B4-D844-C815-986C-3283B9CE6941}"/>
                </a:ext>
              </a:extLst>
            </p:cNvPr>
            <p:cNvSpPr txBox="1"/>
            <p:nvPr/>
          </p:nvSpPr>
          <p:spPr>
            <a:xfrm>
              <a:off x="2625737" y="4032817"/>
              <a:ext cx="49470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350DA11A-2C1A-00A0-559F-BDD25ABADD55}"/>
                </a:ext>
              </a:extLst>
            </p:cNvPr>
            <p:cNvSpPr txBox="1"/>
            <p:nvPr/>
          </p:nvSpPr>
          <p:spPr>
            <a:xfrm>
              <a:off x="2375024" y="3967866"/>
              <a:ext cx="494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98E64D4E-E985-1B5C-69F1-298289E8F7F8}"/>
                </a:ext>
              </a:extLst>
            </p:cNvPr>
            <p:cNvSpPr txBox="1"/>
            <p:nvPr/>
          </p:nvSpPr>
          <p:spPr>
            <a:xfrm>
              <a:off x="1187590" y="4303226"/>
              <a:ext cx="4947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8628BE59-42D0-0D0A-7AE7-E58237A99F7D}"/>
                </a:ext>
              </a:extLst>
            </p:cNvPr>
            <p:cNvSpPr txBox="1"/>
            <p:nvPr/>
          </p:nvSpPr>
          <p:spPr>
            <a:xfrm>
              <a:off x="1688837" y="4368783"/>
              <a:ext cx="494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1D95085C-622D-D872-4528-AFB638BFE7A8}"/>
                </a:ext>
              </a:extLst>
            </p:cNvPr>
            <p:cNvSpPr txBox="1"/>
            <p:nvPr/>
          </p:nvSpPr>
          <p:spPr>
            <a:xfrm>
              <a:off x="2143363" y="4366710"/>
              <a:ext cx="494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CD6AB1EC-5A1A-47B0-0349-672876F53776}"/>
                </a:ext>
              </a:extLst>
            </p:cNvPr>
            <p:cNvSpPr txBox="1"/>
            <p:nvPr/>
          </p:nvSpPr>
          <p:spPr>
            <a:xfrm>
              <a:off x="2478696" y="4366710"/>
              <a:ext cx="494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9DA45D9D-DB55-5B11-1B12-4252CB9D9884}"/>
                </a:ext>
              </a:extLst>
            </p:cNvPr>
            <p:cNvSpPr txBox="1"/>
            <p:nvPr/>
          </p:nvSpPr>
          <p:spPr>
            <a:xfrm>
              <a:off x="2311029" y="4316981"/>
              <a:ext cx="494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5651BC82-8789-3433-1EB8-D4CF4570327B}"/>
                </a:ext>
              </a:extLst>
            </p:cNvPr>
            <p:cNvSpPr txBox="1"/>
            <p:nvPr/>
          </p:nvSpPr>
          <p:spPr>
            <a:xfrm>
              <a:off x="1556649" y="4397055"/>
              <a:ext cx="3504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b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7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7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5" name="TextBox 324">
              <a:extLst>
                <a:ext uri="{FF2B5EF4-FFF2-40B4-BE49-F238E27FC236}">
                  <a16:creationId xmlns:a16="http://schemas.microsoft.com/office/drawing/2014/main" id="{FDEE149B-AF80-995F-364C-7B30804AC7FF}"/>
                </a:ext>
              </a:extLst>
            </p:cNvPr>
            <p:cNvSpPr txBox="1"/>
            <p:nvPr/>
          </p:nvSpPr>
          <p:spPr>
            <a:xfrm>
              <a:off x="1989519" y="4397055"/>
              <a:ext cx="3504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b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7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7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61428639-B5CC-A1E6-6E44-E2F3756D6E2B}"/>
                </a:ext>
              </a:extLst>
            </p:cNvPr>
            <p:cNvSpPr txBox="1"/>
            <p:nvPr/>
          </p:nvSpPr>
          <p:spPr>
            <a:xfrm>
              <a:off x="2883383" y="4397055"/>
              <a:ext cx="39829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b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7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sz="7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7" name="타원 326">
              <a:extLst>
                <a:ext uri="{FF2B5EF4-FFF2-40B4-BE49-F238E27FC236}">
                  <a16:creationId xmlns:a16="http://schemas.microsoft.com/office/drawing/2014/main" id="{B181EBE0-6235-0BAD-FFA9-4EE0646CA76B}"/>
                </a:ext>
              </a:extLst>
            </p:cNvPr>
            <p:cNvSpPr/>
            <p:nvPr/>
          </p:nvSpPr>
          <p:spPr>
            <a:xfrm>
              <a:off x="859275" y="4365146"/>
              <a:ext cx="272853" cy="272853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8" name="타원 327">
              <a:extLst>
                <a:ext uri="{FF2B5EF4-FFF2-40B4-BE49-F238E27FC236}">
                  <a16:creationId xmlns:a16="http://schemas.microsoft.com/office/drawing/2014/main" id="{C31A5A68-F7BF-96CF-D861-A345DF9C7DB2}"/>
                </a:ext>
              </a:extLst>
            </p:cNvPr>
            <p:cNvSpPr/>
            <p:nvPr/>
          </p:nvSpPr>
          <p:spPr>
            <a:xfrm>
              <a:off x="840901" y="4346772"/>
              <a:ext cx="309600" cy="309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9" name="타원 328">
              <a:extLst>
                <a:ext uri="{FF2B5EF4-FFF2-40B4-BE49-F238E27FC236}">
                  <a16:creationId xmlns:a16="http://schemas.microsoft.com/office/drawing/2014/main" id="{ED6D1C4E-8AA5-90B3-A252-703707B0C324}"/>
                </a:ext>
              </a:extLst>
            </p:cNvPr>
            <p:cNvSpPr/>
            <p:nvPr/>
          </p:nvSpPr>
          <p:spPr>
            <a:xfrm>
              <a:off x="710049" y="4221336"/>
              <a:ext cx="571304" cy="560472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0" name="타원 329">
              <a:extLst>
                <a:ext uri="{FF2B5EF4-FFF2-40B4-BE49-F238E27FC236}">
                  <a16:creationId xmlns:a16="http://schemas.microsoft.com/office/drawing/2014/main" id="{00BBD9C2-C889-3145-E219-08D367890D39}"/>
                </a:ext>
              </a:extLst>
            </p:cNvPr>
            <p:cNvSpPr/>
            <p:nvPr/>
          </p:nvSpPr>
          <p:spPr>
            <a:xfrm>
              <a:off x="822901" y="4328772"/>
              <a:ext cx="345600" cy="345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0307F82A-86E3-931D-DF13-E1E6809399DA}"/>
                </a:ext>
              </a:extLst>
            </p:cNvPr>
            <p:cNvSpPr txBox="1"/>
            <p:nvPr/>
          </p:nvSpPr>
          <p:spPr>
            <a:xfrm rot="19046009">
              <a:off x="1023784" y="4230902"/>
              <a:ext cx="25796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D8F9601B-D021-F693-AB9E-3399E894C53D}"/>
                </a:ext>
              </a:extLst>
            </p:cNvPr>
            <p:cNvSpPr txBox="1"/>
            <p:nvPr/>
          </p:nvSpPr>
          <p:spPr>
            <a:xfrm>
              <a:off x="625200" y="4777741"/>
              <a:ext cx="75624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CTN charge</a:t>
              </a:r>
              <a:endParaRPr lang="ko-KR" alt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09685877-1FB1-2AAA-7B52-D06BA18CE6A6}"/>
                </a:ext>
              </a:extLst>
            </p:cNvPr>
            <p:cNvSpPr txBox="1"/>
            <p:nvPr/>
          </p:nvSpPr>
          <p:spPr>
            <a:xfrm>
              <a:off x="1563412" y="4734879"/>
              <a:ext cx="9705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800" baseline="-25000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altLang="ko-KR" sz="800">
                  <a:latin typeface="Times New Roman" panose="02020603050405020304" pitchFamily="18" charset="0"/>
                  <a:cs typeface="Times New Roman" panose="02020603050405020304" pitchFamily="18" charset="0"/>
                </a:rPr>
                <a:t>π</a:t>
              </a:r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800" baseline="-25000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800" baseline="3000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(n</a:t>
              </a:r>
              <a:r>
                <a:rPr lang="en-US" altLang="ko-KR" sz="800" baseline="-25000">
                  <a:latin typeface="Arial" panose="020B0604020202020204" pitchFamily="34" charset="0"/>
                  <a:cs typeface="Arial" panose="020B0604020202020204" pitchFamily="34" charset="0"/>
                </a:rPr>
                <a:t>t,i+1</a:t>
              </a:r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-n</a:t>
              </a:r>
              <a:r>
                <a:rPr lang="en-US" altLang="ko-KR" sz="800" baseline="-25000">
                  <a:latin typeface="Arial" panose="020B0604020202020204" pitchFamily="34" charset="0"/>
                  <a:cs typeface="Arial" panose="020B0604020202020204" pitchFamily="34" charset="0"/>
                </a:rPr>
                <a:t>t,i</a:t>
              </a:r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ko-KR" alt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9" name="TextBox 598">
              <a:extLst>
                <a:ext uri="{FF2B5EF4-FFF2-40B4-BE49-F238E27FC236}">
                  <a16:creationId xmlns:a16="http://schemas.microsoft.com/office/drawing/2014/main" id="{36BF4E26-0AB0-A0E6-45A8-D3FECD0F0D75}"/>
                </a:ext>
              </a:extLst>
            </p:cNvPr>
            <p:cNvSpPr txBox="1"/>
            <p:nvPr/>
          </p:nvSpPr>
          <p:spPr>
            <a:xfrm>
              <a:off x="2491079" y="4843367"/>
              <a:ext cx="62936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altLang="ko-KR" sz="800" baseline="-25000">
                  <a:latin typeface="Arial" panose="020B0604020202020204" pitchFamily="34" charset="0"/>
                  <a:cs typeface="Arial" panose="020B0604020202020204" pitchFamily="34" charset="0"/>
                </a:rPr>
                <a:t>t,0</a:t>
              </a:r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 = 0</a:t>
              </a:r>
            </a:p>
            <a:p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altLang="ko-KR" sz="800" baseline="-25000">
                  <a:latin typeface="Arial" panose="020B0604020202020204" pitchFamily="34" charset="0"/>
                  <a:cs typeface="Arial" panose="020B0604020202020204" pitchFamily="34" charset="0"/>
                </a:rPr>
                <a:t>t,N+1</a:t>
              </a:r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 = 0</a:t>
              </a:r>
              <a:endParaRPr lang="ko-KR" alt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1" name="TextBox 600">
              <a:extLst>
                <a:ext uri="{FF2B5EF4-FFF2-40B4-BE49-F238E27FC236}">
                  <a16:creationId xmlns:a16="http://schemas.microsoft.com/office/drawing/2014/main" id="{122CFB43-F7D9-3B17-5B0D-F69694AD368F}"/>
                </a:ext>
              </a:extLst>
            </p:cNvPr>
            <p:cNvSpPr txBox="1"/>
            <p:nvPr/>
          </p:nvSpPr>
          <p:spPr>
            <a:xfrm>
              <a:off x="1690208" y="4920495"/>
              <a:ext cx="8575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where, i=1-N</a:t>
              </a:r>
              <a:endParaRPr lang="ko-KR" alt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0" name="왼쪽 중괄호 599">
              <a:extLst>
                <a:ext uri="{FF2B5EF4-FFF2-40B4-BE49-F238E27FC236}">
                  <a16:creationId xmlns:a16="http://schemas.microsoft.com/office/drawing/2014/main" id="{0B06AF7A-5F21-E240-86AA-5AFE821B1850}"/>
                </a:ext>
              </a:extLst>
            </p:cNvPr>
            <p:cNvSpPr/>
            <p:nvPr/>
          </p:nvSpPr>
          <p:spPr>
            <a:xfrm>
              <a:off x="2504776" y="4937390"/>
              <a:ext cx="61691" cy="200055"/>
            </a:xfrm>
            <a:prstGeom prst="leftBrace">
              <a:avLst>
                <a:gd name="adj1" fmla="val 36719"/>
                <a:gd name="adj2" fmla="val 50000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9BBE540-BF13-CF0B-2A8C-58D0D51BFF84}"/>
              </a:ext>
            </a:extLst>
          </p:cNvPr>
          <p:cNvGrpSpPr/>
          <p:nvPr/>
        </p:nvGrpSpPr>
        <p:grpSpPr>
          <a:xfrm>
            <a:off x="424534" y="1908234"/>
            <a:ext cx="996615" cy="1878162"/>
            <a:chOff x="424534" y="1834037"/>
            <a:chExt cx="996615" cy="1878162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101F3636-4174-80B0-043F-2FCE2F5AAA31}"/>
                </a:ext>
              </a:extLst>
            </p:cNvPr>
            <p:cNvGrpSpPr/>
            <p:nvPr/>
          </p:nvGrpSpPr>
          <p:grpSpPr>
            <a:xfrm>
              <a:off x="424534" y="1834037"/>
              <a:ext cx="996615" cy="1740582"/>
              <a:chOff x="424534" y="1834037"/>
              <a:chExt cx="996615" cy="1740582"/>
            </a:xfrm>
          </p:grpSpPr>
          <p:pic>
            <p:nvPicPr>
              <p:cNvPr id="3" name="그림 2" descr="직사각형, 스크린샷, 다채로움, 라인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815349AB-6D22-3FA0-F71E-BBA9F08AE6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rcRect l="3428" t="5993" r="1651" b="26690"/>
              <a:stretch>
                <a:fillRect/>
              </a:stretch>
            </p:blipFill>
            <p:spPr>
              <a:xfrm rot="16200000">
                <a:off x="277617" y="2637021"/>
                <a:ext cx="1252919" cy="622278"/>
              </a:xfrm>
              <a:prstGeom prst="rect">
                <a:avLst/>
              </a:prstGeom>
            </p:spPr>
          </p:pic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D0F780A2-36A6-2D2E-078C-D8A480A1B324}"/>
                  </a:ext>
                </a:extLst>
              </p:cNvPr>
              <p:cNvSpPr txBox="1"/>
              <p:nvPr/>
            </p:nvSpPr>
            <p:spPr>
              <a:xfrm>
                <a:off x="424534" y="1834037"/>
                <a:ext cx="360492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7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(a)</a:t>
                </a:r>
                <a:endParaRPr lang="ko-KR" altLang="en-US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67" name="직선 연결선 366">
                <a:extLst>
                  <a:ext uri="{FF2B5EF4-FFF2-40B4-BE49-F238E27FC236}">
                    <a16:creationId xmlns:a16="http://schemas.microsoft.com/office/drawing/2014/main" id="{5EE1AD37-D1C0-EF99-596B-E8BC49960E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731" y="2053588"/>
                <a:ext cx="0" cy="921734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8" name="화살표: 오른쪽으로 구부러짐 367">
                <a:extLst>
                  <a:ext uri="{FF2B5EF4-FFF2-40B4-BE49-F238E27FC236}">
                    <a16:creationId xmlns:a16="http://schemas.microsoft.com/office/drawing/2014/main" id="{F3FCDA9C-A61C-6509-9EFA-85A141987B44}"/>
                  </a:ext>
                </a:extLst>
              </p:cNvPr>
              <p:cNvSpPr/>
              <p:nvPr/>
            </p:nvSpPr>
            <p:spPr>
              <a:xfrm flipH="1">
                <a:off x="557157" y="2071691"/>
                <a:ext cx="95246" cy="88007"/>
              </a:xfrm>
              <a:prstGeom prst="curvedRightArrow">
                <a:avLst>
                  <a:gd name="adj1" fmla="val 23009"/>
                  <a:gd name="adj2" fmla="val 50000"/>
                  <a:gd name="adj3" fmla="val 25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71" name="TextBox 370">
                <a:extLst>
                  <a:ext uri="{FF2B5EF4-FFF2-40B4-BE49-F238E27FC236}">
                    <a16:creationId xmlns:a16="http://schemas.microsoft.com/office/drawing/2014/main" id="{F057011A-587E-0EF3-A6ED-6A1D9EFA9842}"/>
                  </a:ext>
                </a:extLst>
              </p:cNvPr>
              <p:cNvSpPr txBox="1"/>
              <p:nvPr/>
            </p:nvSpPr>
            <p:spPr>
              <a:xfrm>
                <a:off x="591638" y="2001413"/>
                <a:ext cx="70917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Cylindrical</a:t>
                </a:r>
                <a:endParaRPr lang="ko-KR" altLang="en-US" sz="7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70" name="직선 연결선 369">
                <a:extLst>
                  <a:ext uri="{FF2B5EF4-FFF2-40B4-BE49-F238E27FC236}">
                    <a16:creationId xmlns:a16="http://schemas.microsoft.com/office/drawing/2014/main" id="{DE874BF3-ABE9-3A1F-075C-2F16D7AC32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0010" y="2930382"/>
                <a:ext cx="921139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ACB668A-DC99-22CA-1C9F-1A44A8FA6713}"/>
                </a:ext>
              </a:extLst>
            </p:cNvPr>
            <p:cNvSpPr txBox="1"/>
            <p:nvPr/>
          </p:nvSpPr>
          <p:spPr>
            <a:xfrm rot="5400000">
              <a:off x="538189" y="3406290"/>
              <a:ext cx="33580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>
                  <a:latin typeface="Arial" panose="020B0604020202020204" pitchFamily="34" charset="0"/>
                  <a:cs typeface="Arial" panose="020B0604020202020204" pitchFamily="34" charset="0"/>
                </a:rPr>
                <a:t>filler</a:t>
              </a:r>
              <a:endParaRPr lang="ko-KR" altLang="en-US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02CD1BE-121D-C9C1-6E5A-734EF365DAB9}"/>
                </a:ext>
              </a:extLst>
            </p:cNvPr>
            <p:cNvSpPr txBox="1"/>
            <p:nvPr/>
          </p:nvSpPr>
          <p:spPr>
            <a:xfrm rot="5400000">
              <a:off x="663221" y="3429126"/>
              <a:ext cx="33580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</a:t>
              </a:r>
              <a:endParaRPr lang="ko-KR" altLang="en-US" sz="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8803257-969C-10D0-3645-B5D67385FFA6}"/>
                </a:ext>
              </a:extLst>
            </p:cNvPr>
            <p:cNvSpPr txBox="1"/>
            <p:nvPr/>
          </p:nvSpPr>
          <p:spPr>
            <a:xfrm>
              <a:off x="767830" y="3527533"/>
              <a:ext cx="41504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>
                  <a:latin typeface="Arial" panose="020B0604020202020204" pitchFamily="34" charset="0"/>
                  <a:cs typeface="Arial" panose="020B0604020202020204" pitchFamily="34" charset="0"/>
                </a:rPr>
                <a:t>O/N/O</a:t>
              </a:r>
              <a:endParaRPr lang="ko-KR" altLang="en-US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3" name="TextBox 232">
            <a:extLst>
              <a:ext uri="{FF2B5EF4-FFF2-40B4-BE49-F238E27FC236}">
                <a16:creationId xmlns:a16="http://schemas.microsoft.com/office/drawing/2014/main" id="{B5669FF4-8FE8-D49A-309F-D19A6356FB50}"/>
              </a:ext>
            </a:extLst>
          </p:cNvPr>
          <p:cNvSpPr txBox="1"/>
          <p:nvPr/>
        </p:nvSpPr>
        <p:spPr>
          <a:xfrm>
            <a:off x="1765101" y="2513031"/>
            <a:ext cx="4072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/>
              <a:t>t</a:t>
            </a:r>
            <a:r>
              <a:rPr lang="en-US" altLang="ko-KR" sz="800" baseline="-25000"/>
              <a:t>TOX</a:t>
            </a:r>
            <a:endParaRPr lang="ko-KR" altLang="en-US" sz="800" baseline="-25000"/>
          </a:p>
        </p:txBody>
      </p:sp>
      <p:cxnSp>
        <p:nvCxnSpPr>
          <p:cNvPr id="287" name="직선 화살표 연결선 286">
            <a:extLst>
              <a:ext uri="{FF2B5EF4-FFF2-40B4-BE49-F238E27FC236}">
                <a16:creationId xmlns:a16="http://schemas.microsoft.com/office/drawing/2014/main" id="{23AE9215-3390-736E-3B2A-0DF99148D69E}"/>
              </a:ext>
            </a:extLst>
          </p:cNvPr>
          <p:cNvCxnSpPr>
            <a:cxnSpLocks/>
          </p:cNvCxnSpPr>
          <p:nvPr/>
        </p:nvCxnSpPr>
        <p:spPr>
          <a:xfrm>
            <a:off x="1820513" y="2695017"/>
            <a:ext cx="305152" cy="0"/>
          </a:xfrm>
          <a:prstGeom prst="straightConnector1">
            <a:avLst/>
          </a:prstGeom>
          <a:ln w="9525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직선 화살표 연결선 290">
            <a:extLst>
              <a:ext uri="{FF2B5EF4-FFF2-40B4-BE49-F238E27FC236}">
                <a16:creationId xmlns:a16="http://schemas.microsoft.com/office/drawing/2014/main" id="{62A9125C-86CA-D44C-8A8D-45A950A35A69}"/>
              </a:ext>
            </a:extLst>
          </p:cNvPr>
          <p:cNvCxnSpPr>
            <a:cxnSpLocks/>
          </p:cNvCxnSpPr>
          <p:nvPr/>
        </p:nvCxnSpPr>
        <p:spPr>
          <a:xfrm>
            <a:off x="2890246" y="2695017"/>
            <a:ext cx="347424" cy="0"/>
          </a:xfrm>
          <a:prstGeom prst="straightConnector1">
            <a:avLst/>
          </a:prstGeom>
          <a:ln w="9525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직선 연결선 295">
            <a:extLst>
              <a:ext uri="{FF2B5EF4-FFF2-40B4-BE49-F238E27FC236}">
                <a16:creationId xmlns:a16="http://schemas.microsoft.com/office/drawing/2014/main" id="{7C914B9B-D90D-89E7-DD21-65FB665DFE9C}"/>
              </a:ext>
            </a:extLst>
          </p:cNvPr>
          <p:cNvCxnSpPr>
            <a:cxnSpLocks/>
          </p:cNvCxnSpPr>
          <p:nvPr/>
        </p:nvCxnSpPr>
        <p:spPr>
          <a:xfrm>
            <a:off x="1815602" y="2505600"/>
            <a:ext cx="0" cy="490013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25614B1E-D924-FF59-2058-CE44C3AB085C}"/>
              </a:ext>
            </a:extLst>
          </p:cNvPr>
          <p:cNvCxnSpPr>
            <a:cxnSpLocks/>
          </p:cNvCxnSpPr>
          <p:nvPr/>
        </p:nvCxnSpPr>
        <p:spPr>
          <a:xfrm>
            <a:off x="3237670" y="2543350"/>
            <a:ext cx="0" cy="490013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6" name="TextBox 305">
            <a:extLst>
              <a:ext uri="{FF2B5EF4-FFF2-40B4-BE49-F238E27FC236}">
                <a16:creationId xmlns:a16="http://schemas.microsoft.com/office/drawing/2014/main" id="{D4200685-AE27-08CE-461E-792236B2B752}"/>
              </a:ext>
            </a:extLst>
          </p:cNvPr>
          <p:cNvSpPr txBox="1"/>
          <p:nvPr/>
        </p:nvSpPr>
        <p:spPr>
          <a:xfrm>
            <a:off x="2860309" y="2513031"/>
            <a:ext cx="4072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/>
              <a:t>t</a:t>
            </a:r>
            <a:r>
              <a:rPr lang="en-US" altLang="ko-KR" sz="800" baseline="-25000"/>
              <a:t>BOX</a:t>
            </a:r>
            <a:endParaRPr lang="ko-KR" altLang="en-US" sz="800" baseline="-25000"/>
          </a:p>
        </p:txBody>
      </p: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C991E36E-97A7-AED4-A89A-9285F71505C4}"/>
              </a:ext>
            </a:extLst>
          </p:cNvPr>
          <p:cNvCxnSpPr>
            <a:cxnSpLocks/>
          </p:cNvCxnSpPr>
          <p:nvPr/>
        </p:nvCxnSpPr>
        <p:spPr>
          <a:xfrm flipV="1">
            <a:off x="1345435" y="3005139"/>
            <a:ext cx="473379" cy="388142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04D00524-3752-E0B4-8703-2D743D5364DA}"/>
              </a:ext>
            </a:extLst>
          </p:cNvPr>
          <p:cNvCxnSpPr>
            <a:cxnSpLocks/>
          </p:cNvCxnSpPr>
          <p:nvPr/>
        </p:nvCxnSpPr>
        <p:spPr>
          <a:xfrm flipV="1">
            <a:off x="1800738" y="2995613"/>
            <a:ext cx="323633" cy="409060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직선 연결선 440">
            <a:extLst>
              <a:ext uri="{FF2B5EF4-FFF2-40B4-BE49-F238E27FC236}">
                <a16:creationId xmlns:a16="http://schemas.microsoft.com/office/drawing/2014/main" id="{5DB5B61E-3F92-DB21-E033-AAD0E21211E4}"/>
              </a:ext>
            </a:extLst>
          </p:cNvPr>
          <p:cNvCxnSpPr>
            <a:cxnSpLocks/>
          </p:cNvCxnSpPr>
          <p:nvPr/>
        </p:nvCxnSpPr>
        <p:spPr>
          <a:xfrm flipV="1">
            <a:off x="1985318" y="3001177"/>
            <a:ext cx="270262" cy="406857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직선 연결선 442">
            <a:extLst>
              <a:ext uri="{FF2B5EF4-FFF2-40B4-BE49-F238E27FC236}">
                <a16:creationId xmlns:a16="http://schemas.microsoft.com/office/drawing/2014/main" id="{0467CDCB-4F43-40D8-7834-FA7BDD013BA0}"/>
              </a:ext>
            </a:extLst>
          </p:cNvPr>
          <p:cNvCxnSpPr>
            <a:cxnSpLocks/>
          </p:cNvCxnSpPr>
          <p:nvPr/>
        </p:nvCxnSpPr>
        <p:spPr>
          <a:xfrm flipV="1">
            <a:off x="2176741" y="3012281"/>
            <a:ext cx="198549" cy="392392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직선 연결선 444">
            <a:extLst>
              <a:ext uri="{FF2B5EF4-FFF2-40B4-BE49-F238E27FC236}">
                <a16:creationId xmlns:a16="http://schemas.microsoft.com/office/drawing/2014/main" id="{D7B892EC-7821-A165-A815-A2DD74ADCD86}"/>
              </a:ext>
            </a:extLst>
          </p:cNvPr>
          <p:cNvCxnSpPr>
            <a:cxnSpLocks/>
          </p:cNvCxnSpPr>
          <p:nvPr/>
        </p:nvCxnSpPr>
        <p:spPr>
          <a:xfrm flipV="1">
            <a:off x="2363404" y="3005139"/>
            <a:ext cx="136212" cy="404219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직선 연결선 497">
            <a:extLst>
              <a:ext uri="{FF2B5EF4-FFF2-40B4-BE49-F238E27FC236}">
                <a16:creationId xmlns:a16="http://schemas.microsoft.com/office/drawing/2014/main" id="{D8FE7AF9-D382-C723-0ECD-31328D60A895}"/>
              </a:ext>
            </a:extLst>
          </p:cNvPr>
          <p:cNvCxnSpPr>
            <a:cxnSpLocks/>
          </p:cNvCxnSpPr>
          <p:nvPr/>
        </p:nvCxnSpPr>
        <p:spPr>
          <a:xfrm flipV="1">
            <a:off x="2727735" y="3005139"/>
            <a:ext cx="31515" cy="399534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직선 연결선 500">
            <a:extLst>
              <a:ext uri="{FF2B5EF4-FFF2-40B4-BE49-F238E27FC236}">
                <a16:creationId xmlns:a16="http://schemas.microsoft.com/office/drawing/2014/main" id="{111C8609-A6A5-EFD0-98CA-9CCA80DEE7FB}"/>
              </a:ext>
            </a:extLst>
          </p:cNvPr>
          <p:cNvCxnSpPr>
            <a:cxnSpLocks/>
          </p:cNvCxnSpPr>
          <p:nvPr/>
        </p:nvCxnSpPr>
        <p:spPr>
          <a:xfrm flipH="1" flipV="1">
            <a:off x="2887703" y="3005139"/>
            <a:ext cx="28150" cy="399534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직선 연결선 502">
            <a:extLst>
              <a:ext uri="{FF2B5EF4-FFF2-40B4-BE49-F238E27FC236}">
                <a16:creationId xmlns:a16="http://schemas.microsoft.com/office/drawing/2014/main" id="{AA403EFF-F92A-93AE-2840-E4D7C929237D}"/>
              </a:ext>
            </a:extLst>
          </p:cNvPr>
          <p:cNvCxnSpPr>
            <a:cxnSpLocks/>
          </p:cNvCxnSpPr>
          <p:nvPr/>
        </p:nvCxnSpPr>
        <p:spPr>
          <a:xfrm flipH="1" flipV="1">
            <a:off x="3248025" y="3005139"/>
            <a:ext cx="180975" cy="399534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057FD028-4E47-CA4D-A4DA-211561636165}"/>
              </a:ext>
            </a:extLst>
          </p:cNvPr>
          <p:cNvGrpSpPr/>
          <p:nvPr/>
        </p:nvGrpSpPr>
        <p:grpSpPr>
          <a:xfrm>
            <a:off x="1337549" y="3388309"/>
            <a:ext cx="2091451" cy="486789"/>
            <a:chOff x="1337549" y="3529889"/>
            <a:chExt cx="2091451" cy="486789"/>
          </a:xfrm>
        </p:grpSpPr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67A80BB-2E99-FC41-02B9-16A6177891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37549" y="3541573"/>
              <a:ext cx="0" cy="324000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02602C43-FB43-09F7-BD28-1BEB6E8FA1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1101" y="3541573"/>
              <a:ext cx="0" cy="254211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539F069C-82D8-6B60-A6EB-BDFD9D19A2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9294" y="3541573"/>
              <a:ext cx="0" cy="254211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3BA686A7-CBED-C21F-DF8F-1E0FB81023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77487" y="3541573"/>
              <a:ext cx="0" cy="254211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E7FE8A5C-7405-C7D8-A2E1-842B02F6DD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5681" y="3541573"/>
              <a:ext cx="0" cy="254211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A39757E9-04D2-2A2B-887E-4824C9160A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29748" y="3541573"/>
              <a:ext cx="0" cy="254211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DFFC7784-EBB0-A292-9F08-EC02DB24BC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7200" y="3541573"/>
              <a:ext cx="0" cy="254211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0DA502E0-853D-BDF0-C22C-3F0D34EAC8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8592" y="3541573"/>
              <a:ext cx="0" cy="324000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1C924ED3-52C1-9B10-C93E-A832CD3F03F7}"/>
                </a:ext>
              </a:extLst>
            </p:cNvPr>
            <p:cNvCxnSpPr>
              <a:cxnSpLocks/>
            </p:cNvCxnSpPr>
            <p:nvPr/>
          </p:nvCxnSpPr>
          <p:spPr>
            <a:xfrm>
              <a:off x="1337549" y="3795784"/>
              <a:ext cx="207413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5" name="그룹 174">
              <a:extLst>
                <a:ext uri="{FF2B5EF4-FFF2-40B4-BE49-F238E27FC236}">
                  <a16:creationId xmlns:a16="http://schemas.microsoft.com/office/drawing/2014/main" id="{0A3913FC-2799-DF40-643E-145B3A1E6088}"/>
                </a:ext>
              </a:extLst>
            </p:cNvPr>
            <p:cNvGrpSpPr/>
            <p:nvPr/>
          </p:nvGrpSpPr>
          <p:grpSpPr>
            <a:xfrm>
              <a:off x="1544962" y="3716850"/>
              <a:ext cx="48725" cy="157867"/>
              <a:chOff x="1663538" y="2271752"/>
              <a:chExt cx="33334" cy="233443"/>
            </a:xfrm>
          </p:grpSpPr>
          <p:cxnSp>
            <p:nvCxnSpPr>
              <p:cNvPr id="169" name="직선 연결선 168">
                <a:extLst>
                  <a:ext uri="{FF2B5EF4-FFF2-40B4-BE49-F238E27FC236}">
                    <a16:creationId xmlns:a16="http://schemas.microsoft.com/office/drawing/2014/main" id="{858DDD00-D605-7EFC-46E6-EF72066FD0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5778B8AA-CC7C-8172-0A96-141FBEA276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D0111D35-C58D-DDD8-F39C-49B16F239927}"/>
                </a:ext>
              </a:extLst>
            </p:cNvPr>
            <p:cNvCxnSpPr>
              <a:cxnSpLocks/>
            </p:cNvCxnSpPr>
            <p:nvPr/>
          </p:nvCxnSpPr>
          <p:spPr>
            <a:xfrm>
              <a:off x="1593687" y="3795784"/>
              <a:ext cx="207413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B5FCB9B3-5F28-0904-7DEF-7567524B71CD}"/>
                </a:ext>
              </a:extLst>
            </p:cNvPr>
            <p:cNvGrpSpPr/>
            <p:nvPr/>
          </p:nvGrpSpPr>
          <p:grpSpPr>
            <a:xfrm>
              <a:off x="1871812" y="3717061"/>
              <a:ext cx="48725" cy="157867"/>
              <a:chOff x="1663538" y="2271752"/>
              <a:chExt cx="33334" cy="233443"/>
            </a:xfrm>
          </p:grpSpPr>
          <p:cxnSp>
            <p:nvCxnSpPr>
              <p:cNvPr id="177" name="직선 연결선 176">
                <a:extLst>
                  <a:ext uri="{FF2B5EF4-FFF2-40B4-BE49-F238E27FC236}">
                    <a16:creationId xmlns:a16="http://schemas.microsoft.com/office/drawing/2014/main" id="{362F527A-BC4A-A4E6-3C99-5FB92F0811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>
                <a:extLst>
                  <a:ext uri="{FF2B5EF4-FFF2-40B4-BE49-F238E27FC236}">
                    <a16:creationId xmlns:a16="http://schemas.microsoft.com/office/drawing/2014/main" id="{7F58D7F2-0566-7828-063D-FC20312258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5" name="직선 연결선 194">
              <a:extLst>
                <a:ext uri="{FF2B5EF4-FFF2-40B4-BE49-F238E27FC236}">
                  <a16:creationId xmlns:a16="http://schemas.microsoft.com/office/drawing/2014/main" id="{99E4E3C9-4EC7-8A68-BA8D-035390FE2A42}"/>
                </a:ext>
              </a:extLst>
            </p:cNvPr>
            <p:cNvCxnSpPr>
              <a:cxnSpLocks/>
            </p:cNvCxnSpPr>
            <p:nvPr/>
          </p:nvCxnSpPr>
          <p:spPr>
            <a:xfrm>
              <a:off x="1803055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직선 연결선 245">
              <a:extLst>
                <a:ext uri="{FF2B5EF4-FFF2-40B4-BE49-F238E27FC236}">
                  <a16:creationId xmlns:a16="http://schemas.microsoft.com/office/drawing/2014/main" id="{687F3EF2-B2EA-3585-3079-EF014F25C81A}"/>
                </a:ext>
              </a:extLst>
            </p:cNvPr>
            <p:cNvCxnSpPr>
              <a:cxnSpLocks/>
            </p:cNvCxnSpPr>
            <p:nvPr/>
          </p:nvCxnSpPr>
          <p:spPr>
            <a:xfrm>
              <a:off x="1921755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7" name="그룹 246">
              <a:extLst>
                <a:ext uri="{FF2B5EF4-FFF2-40B4-BE49-F238E27FC236}">
                  <a16:creationId xmlns:a16="http://schemas.microsoft.com/office/drawing/2014/main" id="{4A544A87-3205-09C1-F8AE-AEA619BB1D31}"/>
                </a:ext>
              </a:extLst>
            </p:cNvPr>
            <p:cNvGrpSpPr/>
            <p:nvPr/>
          </p:nvGrpSpPr>
          <p:grpSpPr>
            <a:xfrm>
              <a:off x="2060015" y="3717061"/>
              <a:ext cx="48725" cy="157867"/>
              <a:chOff x="1663538" y="2271752"/>
              <a:chExt cx="33334" cy="233443"/>
            </a:xfrm>
          </p:grpSpPr>
          <p:cxnSp>
            <p:nvCxnSpPr>
              <p:cNvPr id="248" name="직선 연결선 247">
                <a:extLst>
                  <a:ext uri="{FF2B5EF4-FFF2-40B4-BE49-F238E27FC236}">
                    <a16:creationId xmlns:a16="http://schemas.microsoft.com/office/drawing/2014/main" id="{6A40951E-B7F6-245F-0095-03DA7093DF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직선 연결선 248">
                <a:extLst>
                  <a:ext uri="{FF2B5EF4-FFF2-40B4-BE49-F238E27FC236}">
                    <a16:creationId xmlns:a16="http://schemas.microsoft.com/office/drawing/2014/main" id="{9AF25614-9FC7-A69E-12FD-804B40816B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0" name="직선 연결선 249">
              <a:extLst>
                <a:ext uri="{FF2B5EF4-FFF2-40B4-BE49-F238E27FC236}">
                  <a16:creationId xmlns:a16="http://schemas.microsoft.com/office/drawing/2014/main" id="{C8866682-3C5D-50B8-F0D4-D9EF27302C7A}"/>
                </a:ext>
              </a:extLst>
            </p:cNvPr>
            <p:cNvCxnSpPr>
              <a:cxnSpLocks/>
            </p:cNvCxnSpPr>
            <p:nvPr/>
          </p:nvCxnSpPr>
          <p:spPr>
            <a:xfrm>
              <a:off x="1991258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직선 연결선 250">
              <a:extLst>
                <a:ext uri="{FF2B5EF4-FFF2-40B4-BE49-F238E27FC236}">
                  <a16:creationId xmlns:a16="http://schemas.microsoft.com/office/drawing/2014/main" id="{5E00658A-953C-0160-C206-00DE5ED16770}"/>
                </a:ext>
              </a:extLst>
            </p:cNvPr>
            <p:cNvCxnSpPr>
              <a:cxnSpLocks/>
            </p:cNvCxnSpPr>
            <p:nvPr/>
          </p:nvCxnSpPr>
          <p:spPr>
            <a:xfrm>
              <a:off x="2109958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2" name="그룹 251">
              <a:extLst>
                <a:ext uri="{FF2B5EF4-FFF2-40B4-BE49-F238E27FC236}">
                  <a16:creationId xmlns:a16="http://schemas.microsoft.com/office/drawing/2014/main" id="{425BA2C3-A01B-4E7E-A412-BF54DB4C1EDB}"/>
                </a:ext>
              </a:extLst>
            </p:cNvPr>
            <p:cNvGrpSpPr/>
            <p:nvPr/>
          </p:nvGrpSpPr>
          <p:grpSpPr>
            <a:xfrm>
              <a:off x="2247889" y="3717061"/>
              <a:ext cx="48725" cy="157867"/>
              <a:chOff x="1663538" y="2271752"/>
              <a:chExt cx="33334" cy="233443"/>
            </a:xfrm>
          </p:grpSpPr>
          <p:cxnSp>
            <p:nvCxnSpPr>
              <p:cNvPr id="253" name="직선 연결선 252">
                <a:extLst>
                  <a:ext uri="{FF2B5EF4-FFF2-40B4-BE49-F238E27FC236}">
                    <a16:creationId xmlns:a16="http://schemas.microsoft.com/office/drawing/2014/main" id="{C2CCB0DC-8B46-BF45-4F21-09C19B6D79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직선 연결선 253">
                <a:extLst>
                  <a:ext uri="{FF2B5EF4-FFF2-40B4-BE49-F238E27FC236}">
                    <a16:creationId xmlns:a16="http://schemas.microsoft.com/office/drawing/2014/main" id="{5D7A4370-623E-FF90-FDBF-4CC524FDA0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8534D837-797C-8F5C-BEFD-59BC16A62EBC}"/>
                </a:ext>
              </a:extLst>
            </p:cNvPr>
            <p:cNvCxnSpPr>
              <a:cxnSpLocks/>
            </p:cNvCxnSpPr>
            <p:nvPr/>
          </p:nvCxnSpPr>
          <p:spPr>
            <a:xfrm>
              <a:off x="2179133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직선 연결선 255">
              <a:extLst>
                <a:ext uri="{FF2B5EF4-FFF2-40B4-BE49-F238E27FC236}">
                  <a16:creationId xmlns:a16="http://schemas.microsoft.com/office/drawing/2014/main" id="{AC82A5C7-EBE0-2060-48EE-EC76C4F166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832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7" name="그룹 256">
              <a:extLst>
                <a:ext uri="{FF2B5EF4-FFF2-40B4-BE49-F238E27FC236}">
                  <a16:creationId xmlns:a16="http://schemas.microsoft.com/office/drawing/2014/main" id="{9AFD18F3-FEA4-CA0F-FD40-B6CD95EB3938}"/>
                </a:ext>
              </a:extLst>
            </p:cNvPr>
            <p:cNvGrpSpPr/>
            <p:nvPr/>
          </p:nvGrpSpPr>
          <p:grpSpPr>
            <a:xfrm>
              <a:off x="2797823" y="3717061"/>
              <a:ext cx="48725" cy="157867"/>
              <a:chOff x="1663538" y="2271752"/>
              <a:chExt cx="33334" cy="233443"/>
            </a:xfrm>
          </p:grpSpPr>
          <p:cxnSp>
            <p:nvCxnSpPr>
              <p:cNvPr id="258" name="직선 연결선 257">
                <a:extLst>
                  <a:ext uri="{FF2B5EF4-FFF2-40B4-BE49-F238E27FC236}">
                    <a16:creationId xmlns:a16="http://schemas.microsoft.com/office/drawing/2014/main" id="{F0D87BAA-F0D6-61C5-E6DA-BF4F1BBE0A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직선 연결선 258">
                <a:extLst>
                  <a:ext uri="{FF2B5EF4-FFF2-40B4-BE49-F238E27FC236}">
                    <a16:creationId xmlns:a16="http://schemas.microsoft.com/office/drawing/2014/main" id="{774643FC-B05F-6DE7-20ED-E432BDBF48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0" name="직선 연결선 259">
              <a:extLst>
                <a:ext uri="{FF2B5EF4-FFF2-40B4-BE49-F238E27FC236}">
                  <a16:creationId xmlns:a16="http://schemas.microsoft.com/office/drawing/2014/main" id="{9FD70977-9E28-7E45-6745-8D3D990AA4B1}"/>
                </a:ext>
              </a:extLst>
            </p:cNvPr>
            <p:cNvCxnSpPr>
              <a:cxnSpLocks/>
            </p:cNvCxnSpPr>
            <p:nvPr/>
          </p:nvCxnSpPr>
          <p:spPr>
            <a:xfrm>
              <a:off x="2729067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직선 연결선 260">
              <a:extLst>
                <a:ext uri="{FF2B5EF4-FFF2-40B4-BE49-F238E27FC236}">
                  <a16:creationId xmlns:a16="http://schemas.microsoft.com/office/drawing/2014/main" id="{BCA3FA44-42BB-CC4C-D231-5A3E629FB4B0}"/>
                </a:ext>
              </a:extLst>
            </p:cNvPr>
            <p:cNvCxnSpPr>
              <a:cxnSpLocks/>
            </p:cNvCxnSpPr>
            <p:nvPr/>
          </p:nvCxnSpPr>
          <p:spPr>
            <a:xfrm>
              <a:off x="2847766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5D43958B-87C9-AF13-EEF7-2233644EA7E5}"/>
                </a:ext>
              </a:extLst>
            </p:cNvPr>
            <p:cNvCxnSpPr>
              <a:cxnSpLocks/>
            </p:cNvCxnSpPr>
            <p:nvPr/>
          </p:nvCxnSpPr>
          <p:spPr>
            <a:xfrm>
              <a:off x="2914247" y="3795784"/>
              <a:ext cx="239728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3" name="그룹 262">
              <a:extLst>
                <a:ext uri="{FF2B5EF4-FFF2-40B4-BE49-F238E27FC236}">
                  <a16:creationId xmlns:a16="http://schemas.microsoft.com/office/drawing/2014/main" id="{6896CF18-8A5A-6738-8E9A-1CBCD8003BAC}"/>
                </a:ext>
              </a:extLst>
            </p:cNvPr>
            <p:cNvGrpSpPr/>
            <p:nvPr/>
          </p:nvGrpSpPr>
          <p:grpSpPr>
            <a:xfrm>
              <a:off x="3148534" y="3716850"/>
              <a:ext cx="48725" cy="157867"/>
              <a:chOff x="1663538" y="2271752"/>
              <a:chExt cx="33334" cy="233443"/>
            </a:xfrm>
          </p:grpSpPr>
          <p:cxnSp>
            <p:nvCxnSpPr>
              <p:cNvPr id="264" name="직선 연결선 263">
                <a:extLst>
                  <a:ext uri="{FF2B5EF4-FFF2-40B4-BE49-F238E27FC236}">
                    <a16:creationId xmlns:a16="http://schemas.microsoft.com/office/drawing/2014/main" id="{7D51F7CB-EA73-CCC4-F8A6-E04C12F4EC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직선 연결선 264">
                <a:extLst>
                  <a:ext uri="{FF2B5EF4-FFF2-40B4-BE49-F238E27FC236}">
                    <a16:creationId xmlns:a16="http://schemas.microsoft.com/office/drawing/2014/main" id="{60DFA192-098F-993E-6771-97A968195E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4F4D09EC-9032-3E8E-4177-1A0DCEFC2693}"/>
                </a:ext>
              </a:extLst>
            </p:cNvPr>
            <p:cNvCxnSpPr>
              <a:cxnSpLocks/>
            </p:cNvCxnSpPr>
            <p:nvPr/>
          </p:nvCxnSpPr>
          <p:spPr>
            <a:xfrm>
              <a:off x="3197462" y="3795784"/>
              <a:ext cx="231538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TextBox 268">
                  <a:extLst>
                    <a:ext uri="{FF2B5EF4-FFF2-40B4-BE49-F238E27FC236}">
                      <a16:creationId xmlns:a16="http://schemas.microsoft.com/office/drawing/2014/main" id="{46D2977F-4FCD-5CD6-3D37-75749140FE2C}"/>
                    </a:ext>
                  </a:extLst>
                </p:cNvPr>
                <p:cNvSpPr txBox="1"/>
                <p:nvPr/>
              </p:nvSpPr>
              <p:spPr>
                <a:xfrm>
                  <a:off x="1405166" y="3529889"/>
                  <a:ext cx="343599" cy="179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𝐓𝐎𝐗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269" name="TextBox 268">
                  <a:extLst>
                    <a:ext uri="{FF2B5EF4-FFF2-40B4-BE49-F238E27FC236}">
                      <a16:creationId xmlns:a16="http://schemas.microsoft.com/office/drawing/2014/main" id="{46D2977F-4FCD-5CD6-3D37-75749140FE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5166" y="3529889"/>
                  <a:ext cx="343599" cy="17995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71B450CB-DEBE-66D1-1FF6-F4B71B3E0EFB}"/>
                    </a:ext>
                  </a:extLst>
                </p:cNvPr>
                <p:cNvSpPr txBox="1"/>
                <p:nvPr/>
              </p:nvSpPr>
              <p:spPr>
                <a:xfrm>
                  <a:off x="1814163" y="3529889"/>
                  <a:ext cx="191295" cy="179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71B450CB-DEBE-66D1-1FF6-F4B71B3E0E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4163" y="3529889"/>
                  <a:ext cx="191295" cy="179955"/>
                </a:xfrm>
                <a:prstGeom prst="rect">
                  <a:avLst/>
                </a:prstGeom>
                <a:blipFill>
                  <a:blip r:embed="rId20"/>
                  <a:stretch>
                    <a:fillRect l="-322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1" name="TextBox 270">
                  <a:extLst>
                    <a:ext uri="{FF2B5EF4-FFF2-40B4-BE49-F238E27FC236}">
                      <a16:creationId xmlns:a16="http://schemas.microsoft.com/office/drawing/2014/main" id="{C979B03C-CE83-5E47-37F8-A94D75DFCDF3}"/>
                    </a:ext>
                  </a:extLst>
                </p:cNvPr>
                <p:cNvSpPr txBox="1"/>
                <p:nvPr/>
              </p:nvSpPr>
              <p:spPr>
                <a:xfrm>
                  <a:off x="2009004" y="3529889"/>
                  <a:ext cx="191295" cy="179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271" name="TextBox 270">
                  <a:extLst>
                    <a:ext uri="{FF2B5EF4-FFF2-40B4-BE49-F238E27FC236}">
                      <a16:creationId xmlns:a16="http://schemas.microsoft.com/office/drawing/2014/main" id="{C979B03C-CE83-5E47-37F8-A94D75DFCD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9004" y="3529889"/>
                  <a:ext cx="191295" cy="179955"/>
                </a:xfrm>
                <a:prstGeom prst="rect">
                  <a:avLst/>
                </a:prstGeom>
                <a:blipFill>
                  <a:blip r:embed="rId21"/>
                  <a:stretch>
                    <a:fillRect l="-322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2" name="TextBox 271">
                  <a:extLst>
                    <a:ext uri="{FF2B5EF4-FFF2-40B4-BE49-F238E27FC236}">
                      <a16:creationId xmlns:a16="http://schemas.microsoft.com/office/drawing/2014/main" id="{FEB51AC4-52D3-8E0A-7C3D-5338A1592303}"/>
                    </a:ext>
                  </a:extLst>
                </p:cNvPr>
                <p:cNvSpPr txBox="1"/>
                <p:nvPr/>
              </p:nvSpPr>
              <p:spPr>
                <a:xfrm>
                  <a:off x="2196454" y="3529889"/>
                  <a:ext cx="191295" cy="179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272" name="TextBox 271">
                  <a:extLst>
                    <a:ext uri="{FF2B5EF4-FFF2-40B4-BE49-F238E27FC236}">
                      <a16:creationId xmlns:a16="http://schemas.microsoft.com/office/drawing/2014/main" id="{FEB51AC4-52D3-8E0A-7C3D-5338A15923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6454" y="3529889"/>
                  <a:ext cx="191295" cy="179955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3" name="TextBox 272">
                  <a:extLst>
                    <a:ext uri="{FF2B5EF4-FFF2-40B4-BE49-F238E27FC236}">
                      <a16:creationId xmlns:a16="http://schemas.microsoft.com/office/drawing/2014/main" id="{CF4FB1F2-BC44-FF72-203A-10ED9568662F}"/>
                    </a:ext>
                  </a:extLst>
                </p:cNvPr>
                <p:cNvSpPr txBox="1"/>
                <p:nvPr/>
              </p:nvSpPr>
              <p:spPr>
                <a:xfrm>
                  <a:off x="2736315" y="3529889"/>
                  <a:ext cx="200667" cy="179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𝐍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273" name="TextBox 272">
                  <a:extLst>
                    <a:ext uri="{FF2B5EF4-FFF2-40B4-BE49-F238E27FC236}">
                      <a16:creationId xmlns:a16="http://schemas.microsoft.com/office/drawing/2014/main" id="{CF4FB1F2-BC44-FF72-203A-10ED956866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6315" y="3529889"/>
                  <a:ext cx="200667" cy="179955"/>
                </a:xfrm>
                <a:prstGeom prst="rect">
                  <a:avLst/>
                </a:prstGeom>
                <a:blipFill>
                  <a:blip r:embed="rId23"/>
                  <a:stretch>
                    <a:fillRect l="-303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4" name="TextBox 273">
                  <a:extLst>
                    <a:ext uri="{FF2B5EF4-FFF2-40B4-BE49-F238E27FC236}">
                      <a16:creationId xmlns:a16="http://schemas.microsoft.com/office/drawing/2014/main" id="{D1CD0F79-60FA-B84B-9906-CAD1F9EA9E10}"/>
                    </a:ext>
                  </a:extLst>
                </p:cNvPr>
                <p:cNvSpPr txBox="1"/>
                <p:nvPr/>
              </p:nvSpPr>
              <p:spPr>
                <a:xfrm>
                  <a:off x="3016373" y="3529889"/>
                  <a:ext cx="343599" cy="179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𝐁𝐎𝐗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274" name="TextBox 273">
                  <a:extLst>
                    <a:ext uri="{FF2B5EF4-FFF2-40B4-BE49-F238E27FC236}">
                      <a16:creationId xmlns:a16="http://schemas.microsoft.com/office/drawing/2014/main" id="{D1CD0F79-60FA-B84B-9906-CAD1F9EA9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6373" y="3529889"/>
                  <a:ext cx="343599" cy="179955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E2BADC0F-0D8F-86A1-DC99-A502776BBCEE}"/>
                </a:ext>
              </a:extLst>
            </p:cNvPr>
            <p:cNvSpPr txBox="1"/>
            <p:nvPr/>
          </p:nvSpPr>
          <p:spPr>
            <a:xfrm>
              <a:off x="1611519" y="3816623"/>
              <a:ext cx="3504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700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7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31B0E5D6-95BF-D485-B604-BA339A70F264}"/>
                </a:ext>
              </a:extLst>
            </p:cNvPr>
            <p:cNvSpPr txBox="1"/>
            <p:nvPr/>
          </p:nvSpPr>
          <p:spPr>
            <a:xfrm>
              <a:off x="1802943" y="3816623"/>
              <a:ext cx="3504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700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7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985DCA86-1987-EBE5-2604-F54B58722395}"/>
                </a:ext>
              </a:extLst>
            </p:cNvPr>
            <p:cNvSpPr txBox="1"/>
            <p:nvPr/>
          </p:nvSpPr>
          <p:spPr>
            <a:xfrm>
              <a:off x="1994367" y="3816623"/>
              <a:ext cx="3504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700" baseline="-2500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7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C362E45-65A7-E6E9-F239-F7A30774B8E8}"/>
                </a:ext>
              </a:extLst>
            </p:cNvPr>
            <p:cNvSpPr txBox="1"/>
            <p:nvPr/>
          </p:nvSpPr>
          <p:spPr>
            <a:xfrm>
              <a:off x="2185791" y="3816623"/>
              <a:ext cx="3504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700" baseline="-2500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7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330677C6-3615-CB5D-D3D3-D512939DB7A2}"/>
                </a:ext>
              </a:extLst>
            </p:cNvPr>
            <p:cNvSpPr txBox="1"/>
            <p:nvPr/>
          </p:nvSpPr>
          <p:spPr>
            <a:xfrm>
              <a:off x="2450798" y="3816623"/>
              <a:ext cx="45211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700" baseline="-25000">
                  <a:latin typeface="Arial" panose="020B0604020202020204" pitchFamily="34" charset="0"/>
                  <a:cs typeface="Arial" panose="020B0604020202020204" pitchFamily="34" charset="0"/>
                </a:rPr>
                <a:t>N-1</a:t>
              </a:r>
              <a:endParaRPr lang="ko-KR" altLang="en-US" sz="7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D24CAA37-19FB-8226-9462-3414FB0704E4}"/>
                </a:ext>
              </a:extLst>
            </p:cNvPr>
            <p:cNvSpPr txBox="1"/>
            <p:nvPr/>
          </p:nvSpPr>
          <p:spPr>
            <a:xfrm>
              <a:off x="2676853" y="3816623"/>
              <a:ext cx="45211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700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sz="7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9" name="타원 528">
              <a:extLst>
                <a:ext uri="{FF2B5EF4-FFF2-40B4-BE49-F238E27FC236}">
                  <a16:creationId xmlns:a16="http://schemas.microsoft.com/office/drawing/2014/main" id="{150189BC-D2B2-F398-4069-4677D0510866}"/>
                </a:ext>
              </a:extLst>
            </p:cNvPr>
            <p:cNvSpPr/>
            <p:nvPr/>
          </p:nvSpPr>
          <p:spPr>
            <a:xfrm>
              <a:off x="1777021" y="377609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0" name="타원 529">
              <a:extLst>
                <a:ext uri="{FF2B5EF4-FFF2-40B4-BE49-F238E27FC236}">
                  <a16:creationId xmlns:a16="http://schemas.microsoft.com/office/drawing/2014/main" id="{9C400FDC-FCA7-6175-E5E4-87ED54B83660}"/>
                </a:ext>
              </a:extLst>
            </p:cNvPr>
            <p:cNvSpPr/>
            <p:nvPr/>
          </p:nvSpPr>
          <p:spPr>
            <a:xfrm>
              <a:off x="1968447" y="377609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1" name="타원 530">
              <a:extLst>
                <a:ext uri="{FF2B5EF4-FFF2-40B4-BE49-F238E27FC236}">
                  <a16:creationId xmlns:a16="http://schemas.microsoft.com/office/drawing/2014/main" id="{A5B8A8C4-3BBC-246F-44C6-C0A4557668FA}"/>
                </a:ext>
              </a:extLst>
            </p:cNvPr>
            <p:cNvSpPr/>
            <p:nvPr/>
          </p:nvSpPr>
          <p:spPr>
            <a:xfrm>
              <a:off x="2150121" y="377609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2" name="타원 531">
              <a:extLst>
                <a:ext uri="{FF2B5EF4-FFF2-40B4-BE49-F238E27FC236}">
                  <a16:creationId xmlns:a16="http://schemas.microsoft.com/office/drawing/2014/main" id="{5C989211-52B7-CC69-B9F2-C30B55CCF789}"/>
                </a:ext>
              </a:extLst>
            </p:cNvPr>
            <p:cNvSpPr/>
            <p:nvPr/>
          </p:nvSpPr>
          <p:spPr>
            <a:xfrm>
              <a:off x="2339546" y="377609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3" name="타원 532">
              <a:extLst>
                <a:ext uri="{FF2B5EF4-FFF2-40B4-BE49-F238E27FC236}">
                  <a16:creationId xmlns:a16="http://schemas.microsoft.com/office/drawing/2014/main" id="{791247FB-BC34-B6B2-7B11-183B40396106}"/>
                </a:ext>
              </a:extLst>
            </p:cNvPr>
            <p:cNvSpPr/>
            <p:nvPr/>
          </p:nvSpPr>
          <p:spPr>
            <a:xfrm>
              <a:off x="2710756" y="377609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4" name="타원 533">
              <a:extLst>
                <a:ext uri="{FF2B5EF4-FFF2-40B4-BE49-F238E27FC236}">
                  <a16:creationId xmlns:a16="http://schemas.microsoft.com/office/drawing/2014/main" id="{AAA741BF-A0D6-6244-41FC-E760B180F0BD}"/>
                </a:ext>
              </a:extLst>
            </p:cNvPr>
            <p:cNvSpPr/>
            <p:nvPr/>
          </p:nvSpPr>
          <p:spPr>
            <a:xfrm>
              <a:off x="2891366" y="377609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39" name="직선 연결선 538">
              <a:extLst>
                <a:ext uri="{FF2B5EF4-FFF2-40B4-BE49-F238E27FC236}">
                  <a16:creationId xmlns:a16="http://schemas.microsoft.com/office/drawing/2014/main" id="{CF794C72-937C-27DA-AA59-162B2A7BF2B0}"/>
                </a:ext>
              </a:extLst>
            </p:cNvPr>
            <p:cNvCxnSpPr>
              <a:cxnSpLocks/>
            </p:cNvCxnSpPr>
            <p:nvPr/>
          </p:nvCxnSpPr>
          <p:spPr>
            <a:xfrm>
              <a:off x="2645308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7" name="직선 연결선 556">
            <a:extLst>
              <a:ext uri="{FF2B5EF4-FFF2-40B4-BE49-F238E27FC236}">
                <a16:creationId xmlns:a16="http://schemas.microsoft.com/office/drawing/2014/main" id="{1DCA924D-889F-4010-F193-FAD3E9579653}"/>
              </a:ext>
            </a:extLst>
          </p:cNvPr>
          <p:cNvCxnSpPr>
            <a:cxnSpLocks/>
          </p:cNvCxnSpPr>
          <p:nvPr/>
        </p:nvCxnSpPr>
        <p:spPr>
          <a:xfrm flipH="1" flipV="1">
            <a:off x="2172399" y="2529631"/>
            <a:ext cx="83181" cy="466784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직선 연결선 558">
            <a:extLst>
              <a:ext uri="{FF2B5EF4-FFF2-40B4-BE49-F238E27FC236}">
                <a16:creationId xmlns:a16="http://schemas.microsoft.com/office/drawing/2014/main" id="{1AF49994-950C-FB04-539A-54D2449C468F}"/>
              </a:ext>
            </a:extLst>
          </p:cNvPr>
          <p:cNvCxnSpPr>
            <a:cxnSpLocks/>
          </p:cNvCxnSpPr>
          <p:nvPr/>
        </p:nvCxnSpPr>
        <p:spPr>
          <a:xfrm flipH="1" flipV="1">
            <a:off x="2214970" y="2529631"/>
            <a:ext cx="165852" cy="482650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직선 연결선 561">
            <a:extLst>
              <a:ext uri="{FF2B5EF4-FFF2-40B4-BE49-F238E27FC236}">
                <a16:creationId xmlns:a16="http://schemas.microsoft.com/office/drawing/2014/main" id="{F25C05D1-DEFC-7D4E-D0EA-31C16302E222}"/>
              </a:ext>
            </a:extLst>
          </p:cNvPr>
          <p:cNvCxnSpPr>
            <a:cxnSpLocks/>
          </p:cNvCxnSpPr>
          <p:nvPr/>
        </p:nvCxnSpPr>
        <p:spPr>
          <a:xfrm flipH="1" flipV="1">
            <a:off x="2261009" y="2529631"/>
            <a:ext cx="247446" cy="475508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직선 연결선 578">
            <a:extLst>
              <a:ext uri="{FF2B5EF4-FFF2-40B4-BE49-F238E27FC236}">
                <a16:creationId xmlns:a16="http://schemas.microsoft.com/office/drawing/2014/main" id="{99638A37-D62B-C22F-F916-8B9585B50644}"/>
              </a:ext>
            </a:extLst>
          </p:cNvPr>
          <p:cNvCxnSpPr>
            <a:cxnSpLocks/>
          </p:cNvCxnSpPr>
          <p:nvPr/>
        </p:nvCxnSpPr>
        <p:spPr>
          <a:xfrm flipV="1">
            <a:off x="2762461" y="2500327"/>
            <a:ext cx="92419" cy="499406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A2D9360-9685-71B0-2C06-499149BD78E2}"/>
              </a:ext>
            </a:extLst>
          </p:cNvPr>
          <p:cNvSpPr txBox="1"/>
          <p:nvPr/>
        </p:nvSpPr>
        <p:spPr>
          <a:xfrm rot="5400000">
            <a:off x="961403" y="3370386"/>
            <a:ext cx="33580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>
                <a:latin typeface="Arial" panose="020B0604020202020204" pitchFamily="34" charset="0"/>
                <a:cs typeface="Arial" panose="020B0604020202020204" pitchFamily="34" charset="0"/>
              </a:rPr>
              <a:t>WL</a:t>
            </a:r>
            <a:endParaRPr lang="ko-KR" altLang="en-US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8F0651-08F3-44A4-9D42-DBA1562AEE0F}"/>
              </a:ext>
            </a:extLst>
          </p:cNvPr>
          <p:cNvSpPr txBox="1"/>
          <p:nvPr/>
        </p:nvSpPr>
        <p:spPr>
          <a:xfrm rot="5400000">
            <a:off x="961403" y="2940128"/>
            <a:ext cx="33580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>
                <a:latin typeface="Arial" panose="020B0604020202020204" pitchFamily="34" charset="0"/>
                <a:cs typeface="Arial" panose="020B0604020202020204" pitchFamily="34" charset="0"/>
              </a:rPr>
              <a:t>WL</a:t>
            </a:r>
            <a:endParaRPr lang="ko-KR" altLang="en-US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CF736D-F546-0177-CE4A-146908196265}"/>
              </a:ext>
            </a:extLst>
          </p:cNvPr>
          <p:cNvSpPr txBox="1"/>
          <p:nvPr/>
        </p:nvSpPr>
        <p:spPr>
          <a:xfrm rot="5400000">
            <a:off x="961403" y="2509871"/>
            <a:ext cx="33580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Arial" panose="020B0604020202020204" pitchFamily="34" charset="0"/>
                <a:cs typeface="Arial" panose="020B0604020202020204" pitchFamily="34" charset="0"/>
              </a:rPr>
              <a:t>WL</a:t>
            </a:r>
            <a:endParaRPr lang="ko-KR" alt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602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DBDD4-CBC6-200E-1584-D4168B12F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">
            <a:extLst>
              <a:ext uri="{FF2B5EF4-FFF2-40B4-BE49-F238E27FC236}">
                <a16:creationId xmlns:a16="http://schemas.microsoft.com/office/drawing/2014/main" id="{BAF59E11-8A4D-331F-B961-09440EF16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</p:spPr>
        <p:txBody>
          <a:bodyPr/>
          <a:lstStyle/>
          <a:p>
            <a:r>
              <a:rPr lang="en-US" altLang="ko-KR" dirty="0"/>
              <a:t>Fig. 2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7605C98-BA56-08F0-87C1-FA4C1C372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256" y="8090602"/>
            <a:ext cx="2045312" cy="1287993"/>
          </a:xfrm>
          <a:prstGeom prst="rect">
            <a:avLst/>
          </a:prstGeom>
        </p:spPr>
      </p:pic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B07179D-A794-D432-1AF5-D5CFEBAC5A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917392"/>
              </p:ext>
            </p:extLst>
          </p:nvPr>
        </p:nvGraphicFramePr>
        <p:xfrm>
          <a:off x="1396254" y="4212157"/>
          <a:ext cx="1490637" cy="563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3862">
                  <a:extLst>
                    <a:ext uri="{9D8B030D-6E8A-4147-A177-3AD203B41FA5}">
                      <a16:colId xmlns:a16="http://schemas.microsoft.com/office/drawing/2014/main" val="1036565899"/>
                    </a:ext>
                  </a:extLst>
                </a:gridCol>
                <a:gridCol w="390501">
                  <a:extLst>
                    <a:ext uri="{9D8B030D-6E8A-4147-A177-3AD203B41FA5}">
                      <a16:colId xmlns:a16="http://schemas.microsoft.com/office/drawing/2014/main" val="1832300329"/>
                    </a:ext>
                  </a:extLst>
                </a:gridCol>
                <a:gridCol w="676274">
                  <a:extLst>
                    <a:ext uri="{9D8B030D-6E8A-4147-A177-3AD203B41FA5}">
                      <a16:colId xmlns:a16="http://schemas.microsoft.com/office/drawing/2014/main" val="1373664809"/>
                    </a:ext>
                  </a:extLst>
                </a:gridCol>
              </a:tblGrid>
              <a:tr h="1477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 </a:t>
                      </a:r>
                      <a:r>
                        <a:rPr lang="el-GR" altLang="ko-KR" sz="700" dirty="0"/>
                        <a:t>μ</a:t>
                      </a:r>
                      <a:r>
                        <a:rPr lang="en-US" altLang="ko-KR" sz="700" dirty="0"/>
                        <a:t> [eV]</a:t>
                      </a:r>
                      <a:endParaRPr lang="ko-KR" altLang="en-US"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l-GR" altLang="ko-KR" sz="700" dirty="0"/>
                        <a:t>σ</a:t>
                      </a:r>
                      <a:r>
                        <a:rPr lang="en-US" altLang="ko-KR" sz="700" dirty="0"/>
                        <a:t> [eV]</a:t>
                      </a:r>
                      <a:endParaRPr lang="ko-KR" altLang="en-US"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err="1"/>
                        <a:t>N</a:t>
                      </a:r>
                      <a:r>
                        <a:rPr lang="en-US" altLang="ko-KR" sz="700" baseline="-25000" dirty="0" err="1"/>
                        <a:t>t</a:t>
                      </a:r>
                      <a:r>
                        <a:rPr lang="en-US" altLang="ko-KR" sz="700" dirty="0"/>
                        <a:t> [cm</a:t>
                      </a:r>
                      <a:r>
                        <a:rPr lang="en-US" altLang="ko-KR" sz="700" baseline="30000" dirty="0"/>
                        <a:t>-3</a:t>
                      </a:r>
                      <a:r>
                        <a:rPr lang="en-US" altLang="ko-KR" sz="700" dirty="0"/>
                        <a:t>]</a:t>
                      </a:r>
                      <a:endParaRPr lang="ko-KR" altLang="en-US"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166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0.84</a:t>
                      </a:r>
                      <a:endParaRPr lang="ko-KR" altLang="en-US" sz="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0.2</a:t>
                      </a:r>
                      <a:endParaRPr lang="ko-KR" altLang="en-US" sz="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1.15 × 10</a:t>
                      </a:r>
                      <a:r>
                        <a:rPr lang="en-US" altLang="ko-KR" sz="600" baseline="30000" dirty="0"/>
                        <a:t>19</a:t>
                      </a:r>
                      <a:endParaRPr lang="ko-KR" altLang="en-US" sz="600" baseline="3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089072"/>
                  </a:ext>
                </a:extLst>
              </a:tr>
              <a:tr h="1364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1.8</a:t>
                      </a:r>
                      <a:endParaRPr lang="ko-KR" altLang="en-US" sz="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0.05</a:t>
                      </a:r>
                      <a:endParaRPr lang="ko-KR" altLang="en-US" sz="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3.5 × 10</a:t>
                      </a:r>
                      <a:r>
                        <a:rPr lang="en-US" altLang="ko-KR" sz="600" baseline="30000" dirty="0"/>
                        <a:t>19</a:t>
                      </a:r>
                      <a:endParaRPr lang="ko-KR" altLang="en-US" sz="600" baseline="3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10317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C39B739-D61D-A8B5-B665-EB04059027C7}"/>
              </a:ext>
            </a:extLst>
          </p:cNvPr>
          <p:cNvSpPr txBox="1"/>
          <p:nvPr/>
        </p:nvSpPr>
        <p:spPr>
          <a:xfrm>
            <a:off x="684634" y="5484178"/>
            <a:ext cx="3604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ko-KR" alt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개체 1">
            <a:extLst>
              <a:ext uri="{FF2B5EF4-FFF2-40B4-BE49-F238E27FC236}">
                <a16:creationId xmlns:a16="http://schemas.microsoft.com/office/drawing/2014/main" id="{FFBBF567-4CE9-BBCA-BFB1-7935533AED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7995038"/>
              </p:ext>
            </p:extLst>
          </p:nvPr>
        </p:nvGraphicFramePr>
        <p:xfrm>
          <a:off x="1754707" y="5547691"/>
          <a:ext cx="1490637" cy="1309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4722409" imgH="2488474" progId="Origin50.Graph">
                  <p:embed/>
                </p:oleObj>
              </mc:Choice>
              <mc:Fallback>
                <p:oleObj name="Graph" r:id="rId3" imgW="4722409" imgH="2488474" progId="Origin50.Graph">
                  <p:embed/>
                  <p:pic>
                    <p:nvPicPr>
                      <p:cNvPr id="2" name="개체 1">
                        <a:extLst>
                          <a:ext uri="{FF2B5EF4-FFF2-40B4-BE49-F238E27FC236}">
                            <a16:creationId xmlns:a16="http://schemas.microsoft.com/office/drawing/2014/main" id="{1AC33133-8D65-1B94-57AA-17E0ABA7F4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54707" y="5547691"/>
                        <a:ext cx="1490637" cy="13095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8085F340-FAEE-8561-CC64-7B8D9FCF1A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7693473"/>
              </p:ext>
            </p:extLst>
          </p:nvPr>
        </p:nvGraphicFramePr>
        <p:xfrm>
          <a:off x="696036" y="5555602"/>
          <a:ext cx="1195151" cy="1123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6830479" imgH="2980257" progId="Origin50.Graph">
                  <p:embed/>
                </p:oleObj>
              </mc:Choice>
              <mc:Fallback>
                <p:oleObj name="Graph" r:id="rId5" imgW="6830479" imgH="2980257" progId="Origin50.Graph">
                  <p:embed/>
                  <p:pic>
                    <p:nvPicPr>
                      <p:cNvPr id="6" name="개체 5">
                        <a:extLst>
                          <a:ext uri="{FF2B5EF4-FFF2-40B4-BE49-F238E27FC236}">
                            <a16:creationId xmlns:a16="http://schemas.microsoft.com/office/drawing/2014/main" id="{017634A6-0E54-B13E-9486-AE982B676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6036" y="5555602"/>
                        <a:ext cx="1195151" cy="11238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75CDC15-8716-1555-EC79-B72E61FDAE35}"/>
              </a:ext>
            </a:extLst>
          </p:cNvPr>
          <p:cNvSpPr txBox="1"/>
          <p:nvPr/>
        </p:nvSpPr>
        <p:spPr>
          <a:xfrm>
            <a:off x="1905414" y="5484178"/>
            <a:ext cx="3604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lang="ko-KR" alt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378BE0-AB87-BF55-F88E-896A136FAD82}"/>
              </a:ext>
            </a:extLst>
          </p:cNvPr>
          <p:cNvSpPr txBox="1"/>
          <p:nvPr/>
        </p:nvSpPr>
        <p:spPr>
          <a:xfrm>
            <a:off x="684634" y="1954523"/>
            <a:ext cx="3604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ko-KR" alt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C9C19EED-F9DE-8FF8-55E2-86BE953A543F}"/>
              </a:ext>
            </a:extLst>
          </p:cNvPr>
          <p:cNvSpPr txBox="1"/>
          <p:nvPr/>
        </p:nvSpPr>
        <p:spPr>
          <a:xfrm>
            <a:off x="471489" y="5013149"/>
            <a:ext cx="332519" cy="198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>
                <a:latin typeface="Arial" panose="020B0604020202020204" pitchFamily="34" charset="0"/>
                <a:cs typeface="Arial" panose="020B0604020202020204" pitchFamily="34" charset="0"/>
              </a:rPr>
              <a:t>(e)</a:t>
            </a:r>
            <a:endParaRPr lang="ko-KR" altLang="en-US" sz="7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CE4F56A-5EBA-89C3-0BFB-3682418043B3}"/>
              </a:ext>
            </a:extLst>
          </p:cNvPr>
          <p:cNvGrpSpPr/>
          <p:nvPr/>
        </p:nvGrpSpPr>
        <p:grpSpPr>
          <a:xfrm>
            <a:off x="534987" y="2097837"/>
            <a:ext cx="3094038" cy="1063612"/>
            <a:chOff x="534987" y="5063338"/>
            <a:chExt cx="3094038" cy="1063612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66" name="개체 65">
                  <a:extLst>
                    <a:ext uri="{FF2B5EF4-FFF2-40B4-BE49-F238E27FC236}">
                      <a16:creationId xmlns:a16="http://schemas.microsoft.com/office/drawing/2014/main" id="{53425263-3E34-2652-799F-E0AC3F4F1EC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04874202"/>
                    </p:ext>
                  </p:extLst>
                </p:nvPr>
              </p:nvGraphicFramePr>
              <p:xfrm>
                <a:off x="534987" y="5063338"/>
                <a:ext cx="3094038" cy="106361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Graph" r:id="rId7" imgW="6788458" imgH="2335684" progId="Origin50.Graph">
                        <p:embed/>
                      </p:oleObj>
                    </mc:Choice>
                    <mc:Fallback>
                      <p:oleObj name="Graph" r:id="rId7" imgW="6788458" imgH="2335684" progId="Origin50.Graph">
                        <p:embed/>
                        <p:pic>
                          <p:nvPicPr>
                            <p:cNvPr id="66" name="개체 65">
                              <a:extLst>
                                <a:ext uri="{FF2B5EF4-FFF2-40B4-BE49-F238E27FC236}">
                                  <a16:creationId xmlns:a16="http://schemas.microsoft.com/office/drawing/2014/main" id="{53425263-3E34-2652-799F-E0AC3F4F1EC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34987" y="5063338"/>
                              <a:ext cx="3094038" cy="106361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66" name="개체 65">
                  <a:extLst>
                    <a:ext uri="{FF2B5EF4-FFF2-40B4-BE49-F238E27FC236}">
                      <a16:creationId xmlns:a16="http://schemas.microsoft.com/office/drawing/2014/main" id="{53425263-3E34-2652-799F-E0AC3F4F1EC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04874202"/>
                    </p:ext>
                  </p:extLst>
                </p:nvPr>
              </p:nvGraphicFramePr>
              <p:xfrm>
                <a:off x="534987" y="5063338"/>
                <a:ext cx="3094038" cy="106361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Graph" r:id="rId9" imgW="6788458" imgH="2335684" progId="Origin50.Graph">
                        <p:embed/>
                      </p:oleObj>
                    </mc:Choice>
                    <mc:Fallback>
                      <p:oleObj name="Graph" r:id="rId9" imgW="6788458" imgH="2335684" progId="Origin50.Graph">
                        <p:embed/>
                        <p:pic>
                          <p:nvPicPr>
                            <p:cNvPr id="66" name="개체 65">
                              <a:extLst>
                                <a:ext uri="{FF2B5EF4-FFF2-40B4-BE49-F238E27FC236}">
                                  <a16:creationId xmlns:a16="http://schemas.microsoft.com/office/drawing/2014/main" id="{53425263-3E34-2652-799F-E0AC3F4F1EC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34987" y="5063338"/>
                              <a:ext cx="3094038" cy="106361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CA2325B-9B44-51DF-304A-DB0DF2126C5A}"/>
                    </a:ext>
                  </a:extLst>
                </p:cNvPr>
                <p:cNvSpPr txBox="1"/>
                <p:nvPr/>
              </p:nvSpPr>
              <p:spPr>
                <a:xfrm>
                  <a:off x="1219352" y="5592574"/>
                  <a:ext cx="1065102" cy="2000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7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7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7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𝑐h</m:t>
                          </m:r>
                        </m:sub>
                      </m:sSub>
                      <m:r>
                        <a:rPr lang="en-US" altLang="ko-KR" sz="7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ko-KR" sz="7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7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𝜈</m:t>
                          </m:r>
                        </m:e>
                        <m:sub>
                          <m:r>
                            <a:rPr lang="en-US" altLang="ko-KR" sz="7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𝑐h</m:t>
                          </m:r>
                        </m:sub>
                      </m:sSub>
                      <m:r>
                        <a:rPr lang="en-US" altLang="ko-KR" sz="7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×</m:t>
                      </m:r>
                      <m:sSub>
                        <m:sSubPr>
                          <m:ctrlPr>
                            <a:rPr lang="en-US" altLang="ko-KR" sz="7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7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ko-KR" sz="7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𝑇𝐶</m:t>
                              </m:r>
                            </m:e>
                          </m:d>
                        </m:e>
                        <m:sub>
                          <m:r>
                            <a:rPr lang="en-US" altLang="ko-KR" sz="7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𝑐h</m:t>
                          </m:r>
                        </m:sub>
                      </m:sSub>
                    </m:oMath>
                  </a14:m>
                  <a:r>
                    <a:rPr lang="ko-KR" altLang="en-US" sz="7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CA2325B-9B44-51DF-304A-DB0DF2126C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9352" y="5592574"/>
                  <a:ext cx="1065102" cy="20005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FEF9A05-DF28-807E-52E7-393860474F16}"/>
                    </a:ext>
                  </a:extLst>
                </p:cNvPr>
                <p:cNvSpPr txBox="1"/>
                <p:nvPr/>
              </p:nvSpPr>
              <p:spPr>
                <a:xfrm>
                  <a:off x="2141573" y="5586885"/>
                  <a:ext cx="1106459" cy="2000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7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7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7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𝑊𝐿</m:t>
                          </m:r>
                        </m:sub>
                      </m:sSub>
                      <m:r>
                        <a:rPr lang="en-US" altLang="ko-KR" sz="7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ko-KR" sz="7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7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𝜈</m:t>
                          </m:r>
                        </m:e>
                        <m:sub>
                          <m:r>
                            <a:rPr lang="en-US" altLang="ko-KR" sz="7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𝑊𝐿</m:t>
                          </m:r>
                        </m:sub>
                      </m:sSub>
                      <m:r>
                        <a:rPr lang="en-US" altLang="ko-KR" sz="7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×</m:t>
                      </m:r>
                      <m:sSub>
                        <m:sSubPr>
                          <m:ctrlPr>
                            <a:rPr lang="en-US" altLang="ko-KR" sz="7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7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ko-KR" sz="7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𝑇𝐶</m:t>
                              </m:r>
                            </m:e>
                          </m:d>
                        </m:e>
                        <m:sub>
                          <m:r>
                            <a:rPr lang="en-US" altLang="ko-KR" sz="7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𝑊𝐿</m:t>
                          </m:r>
                        </m:sub>
                      </m:sSub>
                    </m:oMath>
                  </a14:m>
                  <a:r>
                    <a:rPr lang="ko-KR" altLang="en-US" sz="7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FEF9A05-DF28-807E-52E7-393860474F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1573" y="5586885"/>
                  <a:ext cx="1106459" cy="20005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곱하기 기호 11">
              <a:extLst>
                <a:ext uri="{FF2B5EF4-FFF2-40B4-BE49-F238E27FC236}">
                  <a16:creationId xmlns:a16="http://schemas.microsoft.com/office/drawing/2014/main" id="{6E9F9247-568F-76BC-2660-6EFD3C8BAEA3}"/>
                </a:ext>
              </a:extLst>
            </p:cNvPr>
            <p:cNvSpPr/>
            <p:nvPr/>
          </p:nvSpPr>
          <p:spPr>
            <a:xfrm>
              <a:off x="1939504" y="5550399"/>
              <a:ext cx="108857" cy="108857"/>
            </a:xfrm>
            <a:prstGeom prst="mathMultiply">
              <a:avLst>
                <a:gd name="adj1" fmla="val 6378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379F0D7C-4733-8E5B-F0E5-404856AC15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0625" y="5604827"/>
              <a:ext cx="74887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9DC054B0-48B8-5D71-AABB-A023CF866E98}"/>
                </a:ext>
              </a:extLst>
            </p:cNvPr>
            <p:cNvCxnSpPr>
              <a:cxnSpLocks/>
            </p:cNvCxnSpPr>
            <p:nvPr/>
          </p:nvCxnSpPr>
          <p:spPr>
            <a:xfrm>
              <a:off x="2048361" y="5604827"/>
              <a:ext cx="119966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03EB853-228A-3FBE-60F2-B13D18A6AEAF}"/>
              </a:ext>
            </a:extLst>
          </p:cNvPr>
          <p:cNvSpPr txBox="1"/>
          <p:nvPr/>
        </p:nvSpPr>
        <p:spPr>
          <a:xfrm>
            <a:off x="1118916" y="3873154"/>
            <a:ext cx="22539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Other Parameters</a:t>
            </a:r>
            <a:endParaRPr lang="ko-KR" altLang="en-US" sz="1400" dirty="0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B2A64102-3009-1181-DA5D-5B2EFC8B96DD}"/>
              </a:ext>
            </a:extLst>
          </p:cNvPr>
          <p:cNvSpPr/>
          <p:nvPr/>
        </p:nvSpPr>
        <p:spPr>
          <a:xfrm>
            <a:off x="978420" y="3307124"/>
            <a:ext cx="776287" cy="309562"/>
          </a:xfrm>
          <a:custGeom>
            <a:avLst/>
            <a:gdLst>
              <a:gd name="csX0" fmla="*/ 0 w 776287"/>
              <a:gd name="csY0" fmla="*/ 309562 h 309562"/>
              <a:gd name="csX1" fmla="*/ 0 w 776287"/>
              <a:gd name="csY1" fmla="*/ 161925 h 309562"/>
              <a:gd name="csX2" fmla="*/ 685800 w 776287"/>
              <a:gd name="csY2" fmla="*/ 238125 h 309562"/>
              <a:gd name="csX3" fmla="*/ 685800 w 776287"/>
              <a:gd name="csY3" fmla="*/ 0 h 309562"/>
              <a:gd name="csX4" fmla="*/ 776287 w 776287"/>
              <a:gd name="csY4" fmla="*/ 0 h 309562"/>
              <a:gd name="csX5" fmla="*/ 776287 w 776287"/>
              <a:gd name="csY5" fmla="*/ 304800 h 309562"/>
              <a:gd name="csX6" fmla="*/ 0 w 776287"/>
              <a:gd name="csY6" fmla="*/ 309562 h 3095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776287" h="309562">
                <a:moveTo>
                  <a:pt x="0" y="309562"/>
                </a:moveTo>
                <a:lnTo>
                  <a:pt x="0" y="161925"/>
                </a:lnTo>
                <a:lnTo>
                  <a:pt x="685800" y="238125"/>
                </a:lnTo>
                <a:lnTo>
                  <a:pt x="685800" y="0"/>
                </a:lnTo>
                <a:lnTo>
                  <a:pt x="776287" y="0"/>
                </a:lnTo>
                <a:lnTo>
                  <a:pt x="776287" y="304800"/>
                </a:lnTo>
                <a:lnTo>
                  <a:pt x="0" y="309562"/>
                </a:lnTo>
                <a:close/>
              </a:path>
            </a:pathLst>
          </a:custGeom>
          <a:solidFill>
            <a:srgbClr val="F1D36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D7A2743-1EB3-7279-A55E-50E052EECFF4}"/>
              </a:ext>
            </a:extLst>
          </p:cNvPr>
          <p:cNvCxnSpPr>
            <a:cxnSpLocks/>
          </p:cNvCxnSpPr>
          <p:nvPr/>
        </p:nvCxnSpPr>
        <p:spPr>
          <a:xfrm>
            <a:off x="854115" y="3619846"/>
            <a:ext cx="10641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23994BD-F94A-7C41-450E-EBDF18DFB03C}"/>
              </a:ext>
            </a:extLst>
          </p:cNvPr>
          <p:cNvSpPr txBox="1"/>
          <p:nvPr/>
        </p:nvSpPr>
        <p:spPr>
          <a:xfrm>
            <a:off x="1270972" y="3497895"/>
            <a:ext cx="721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700" b="1" dirty="0" err="1"/>
              <a:t>n</a:t>
            </a:r>
            <a:r>
              <a:rPr lang="en-US" altLang="ko-KR" sz="700" b="1" baseline="-25000" dirty="0" err="1"/>
              <a:t>t</a:t>
            </a:r>
            <a:endParaRPr lang="ko-KR" altLang="en-US" sz="700" b="1" baseline="-25000" dirty="0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2A2D6978-618F-27AB-667E-497F46FCFAD5}"/>
              </a:ext>
            </a:extLst>
          </p:cNvPr>
          <p:cNvCxnSpPr>
            <a:cxnSpLocks/>
          </p:cNvCxnSpPr>
          <p:nvPr/>
        </p:nvCxnSpPr>
        <p:spPr>
          <a:xfrm>
            <a:off x="984771" y="3383252"/>
            <a:ext cx="760771" cy="0"/>
          </a:xfrm>
          <a:prstGeom prst="straightConnector1">
            <a:avLst/>
          </a:prstGeom>
          <a:ln w="9525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7C00377-887B-7B53-5E7A-C388903212D4}"/>
              </a:ext>
            </a:extLst>
          </p:cNvPr>
          <p:cNvSpPr txBox="1"/>
          <p:nvPr/>
        </p:nvSpPr>
        <p:spPr>
          <a:xfrm>
            <a:off x="1161507" y="3213761"/>
            <a:ext cx="4072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/>
              <a:t>t</a:t>
            </a:r>
            <a:r>
              <a:rPr lang="en-US" altLang="ko-KR" sz="800" baseline="-25000"/>
              <a:t>CTN</a:t>
            </a:r>
            <a:endParaRPr lang="ko-KR" altLang="en-US" sz="800" baseline="-25000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9BAC843F-4411-418C-035D-054202E50C8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56547" y="3304240"/>
            <a:ext cx="1416361" cy="323826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3C379FFB-9D70-842C-D59F-669976DC5C58}"/>
              </a:ext>
            </a:extLst>
          </p:cNvPr>
          <p:cNvSpPr txBox="1"/>
          <p:nvPr/>
        </p:nvSpPr>
        <p:spPr>
          <a:xfrm>
            <a:off x="684634" y="3113950"/>
            <a:ext cx="3604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ko-KR" alt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26C588-7931-6050-311F-BE73C1337BB8}"/>
              </a:ext>
            </a:extLst>
          </p:cNvPr>
          <p:cNvSpPr txBox="1"/>
          <p:nvPr/>
        </p:nvSpPr>
        <p:spPr>
          <a:xfrm>
            <a:off x="684634" y="3829828"/>
            <a:ext cx="3604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lang="ko-KR" alt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560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">
            <a:extLst>
              <a:ext uri="{FF2B5EF4-FFF2-40B4-BE49-F238E27FC236}">
                <a16:creationId xmlns:a16="http://schemas.microsoft.com/office/drawing/2014/main" id="{30A4816D-8366-D19E-BB79-F36BEDFC7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</p:spPr>
        <p:txBody>
          <a:bodyPr/>
          <a:lstStyle/>
          <a:p>
            <a:r>
              <a:rPr lang="en-US" altLang="ko-KR" dirty="0"/>
              <a:t>Fig. 3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6D2634E-94A8-D896-51C9-F6AD15EA0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256" y="8090602"/>
            <a:ext cx="2045312" cy="1287993"/>
          </a:xfrm>
          <a:prstGeom prst="rect">
            <a:avLst/>
          </a:prstGeom>
        </p:spPr>
      </p:pic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73FD4604-57CA-A9EF-41FA-D20245AC6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657427"/>
              </p:ext>
            </p:extLst>
          </p:nvPr>
        </p:nvGraphicFramePr>
        <p:xfrm>
          <a:off x="4966814" y="3838582"/>
          <a:ext cx="1490637" cy="563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3862">
                  <a:extLst>
                    <a:ext uri="{9D8B030D-6E8A-4147-A177-3AD203B41FA5}">
                      <a16:colId xmlns:a16="http://schemas.microsoft.com/office/drawing/2014/main" val="1036565899"/>
                    </a:ext>
                  </a:extLst>
                </a:gridCol>
                <a:gridCol w="390501">
                  <a:extLst>
                    <a:ext uri="{9D8B030D-6E8A-4147-A177-3AD203B41FA5}">
                      <a16:colId xmlns:a16="http://schemas.microsoft.com/office/drawing/2014/main" val="1832300329"/>
                    </a:ext>
                  </a:extLst>
                </a:gridCol>
                <a:gridCol w="676274">
                  <a:extLst>
                    <a:ext uri="{9D8B030D-6E8A-4147-A177-3AD203B41FA5}">
                      <a16:colId xmlns:a16="http://schemas.microsoft.com/office/drawing/2014/main" val="1373664809"/>
                    </a:ext>
                  </a:extLst>
                </a:gridCol>
              </a:tblGrid>
              <a:tr h="1477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 </a:t>
                      </a:r>
                      <a:r>
                        <a:rPr lang="el-GR" altLang="ko-KR" sz="700" dirty="0"/>
                        <a:t>μ</a:t>
                      </a:r>
                      <a:r>
                        <a:rPr lang="en-US" altLang="ko-KR" sz="700" dirty="0"/>
                        <a:t> [eV]</a:t>
                      </a:r>
                      <a:endParaRPr lang="ko-KR" altLang="en-US"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l-GR" altLang="ko-KR" sz="700" dirty="0"/>
                        <a:t>σ</a:t>
                      </a:r>
                      <a:r>
                        <a:rPr lang="en-US" altLang="ko-KR" sz="700" dirty="0"/>
                        <a:t> [eV]</a:t>
                      </a:r>
                      <a:endParaRPr lang="ko-KR" altLang="en-US"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err="1"/>
                        <a:t>N</a:t>
                      </a:r>
                      <a:r>
                        <a:rPr lang="en-US" altLang="ko-KR" sz="700" baseline="-25000" dirty="0" err="1"/>
                        <a:t>t</a:t>
                      </a:r>
                      <a:r>
                        <a:rPr lang="en-US" altLang="ko-KR" sz="700" dirty="0"/>
                        <a:t> [cm</a:t>
                      </a:r>
                      <a:r>
                        <a:rPr lang="en-US" altLang="ko-KR" sz="700" baseline="30000" dirty="0"/>
                        <a:t>-3</a:t>
                      </a:r>
                      <a:r>
                        <a:rPr lang="en-US" altLang="ko-KR" sz="700" dirty="0"/>
                        <a:t>]</a:t>
                      </a:r>
                      <a:endParaRPr lang="ko-KR" altLang="en-US"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166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0.84</a:t>
                      </a:r>
                      <a:endParaRPr lang="ko-KR" altLang="en-US" sz="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0.2</a:t>
                      </a:r>
                      <a:endParaRPr lang="ko-KR" altLang="en-US" sz="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1.15 × 10</a:t>
                      </a:r>
                      <a:r>
                        <a:rPr lang="en-US" altLang="ko-KR" sz="600" baseline="30000" dirty="0"/>
                        <a:t>19</a:t>
                      </a:r>
                      <a:endParaRPr lang="ko-KR" altLang="en-US" sz="600" baseline="3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089072"/>
                  </a:ext>
                </a:extLst>
              </a:tr>
              <a:tr h="1364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1.8</a:t>
                      </a:r>
                      <a:endParaRPr lang="ko-KR" altLang="en-US" sz="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0.05</a:t>
                      </a:r>
                      <a:endParaRPr lang="ko-KR" altLang="en-US" sz="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3.5 × 10</a:t>
                      </a:r>
                      <a:r>
                        <a:rPr lang="en-US" altLang="ko-KR" sz="600" baseline="30000" dirty="0"/>
                        <a:t>19</a:t>
                      </a:r>
                      <a:endParaRPr lang="ko-KR" altLang="en-US" sz="600" baseline="3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10317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6E802A9-74FD-7888-C9ED-71EE57D06572}"/>
              </a:ext>
            </a:extLst>
          </p:cNvPr>
          <p:cNvSpPr txBox="1"/>
          <p:nvPr/>
        </p:nvSpPr>
        <p:spPr>
          <a:xfrm>
            <a:off x="684634" y="2817178"/>
            <a:ext cx="3604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ko-KR" alt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81AD86-F09B-F4D0-5449-FA9C0A6D6076}"/>
              </a:ext>
            </a:extLst>
          </p:cNvPr>
          <p:cNvSpPr txBox="1"/>
          <p:nvPr/>
        </p:nvSpPr>
        <p:spPr>
          <a:xfrm>
            <a:off x="1905414" y="2817178"/>
            <a:ext cx="3604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lang="ko-KR" alt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87C180F-2D19-7ED7-55A5-47A734777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36" y="2037271"/>
            <a:ext cx="2388358" cy="8394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B1AD94-6D16-AB48-D166-299515E182A9}"/>
              </a:ext>
            </a:extLst>
          </p:cNvPr>
          <p:cNvSpPr txBox="1"/>
          <p:nvPr/>
        </p:nvSpPr>
        <p:spPr>
          <a:xfrm>
            <a:off x="684634" y="1954523"/>
            <a:ext cx="3604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ko-KR" alt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04824797-986D-386C-6AF1-4BB0E95210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175544"/>
              </p:ext>
            </p:extLst>
          </p:nvPr>
        </p:nvGraphicFramePr>
        <p:xfrm>
          <a:off x="621911" y="2959483"/>
          <a:ext cx="1368826" cy="966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6841724" imgH="4833106" progId="Origin50.Graph">
                  <p:embed/>
                </p:oleObj>
              </mc:Choice>
              <mc:Fallback>
                <p:oleObj name="Graph" r:id="rId4" imgW="6841724" imgH="4833106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21911" y="2959483"/>
                        <a:ext cx="1368826" cy="9667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개체 6">
            <a:extLst>
              <a:ext uri="{FF2B5EF4-FFF2-40B4-BE49-F238E27FC236}">
                <a16:creationId xmlns:a16="http://schemas.microsoft.com/office/drawing/2014/main" id="{BB27341B-A4C5-6C0F-F5B3-A72DEBEA6A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3690956"/>
              </p:ext>
            </p:extLst>
          </p:nvPr>
        </p:nvGraphicFramePr>
        <p:xfrm>
          <a:off x="1869426" y="2959482"/>
          <a:ext cx="1368826" cy="966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6841724" imgH="4833106" progId="Origin50.Graph">
                  <p:embed/>
                </p:oleObj>
              </mc:Choice>
              <mc:Fallback>
                <p:oleObj name="Graph" r:id="rId6" imgW="6841724" imgH="4833106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69426" y="2959482"/>
                        <a:ext cx="1368826" cy="9667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9006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2535</TotalTime>
  <Words>237</Words>
  <Application>Microsoft Office PowerPoint</Application>
  <PresentationFormat>A4 용지(210x297mm)</PresentationFormat>
  <Paragraphs>100</Paragraphs>
  <Slides>4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4</vt:i4>
      </vt:variant>
    </vt:vector>
  </HeadingPairs>
  <TitlesOfParts>
    <vt:vector size="14" baseType="lpstr">
      <vt:lpstr>맑은 고딕</vt:lpstr>
      <vt:lpstr>Aptos</vt:lpstr>
      <vt:lpstr>Aptos Display</vt:lpstr>
      <vt:lpstr>Arial</vt:lpstr>
      <vt:lpstr>Calibri</vt:lpstr>
      <vt:lpstr>Cambria Math</vt:lpstr>
      <vt:lpstr>Times New Roman</vt:lpstr>
      <vt:lpstr>Office 테마</vt:lpstr>
      <vt:lpstr>Graph</vt:lpstr>
      <vt:lpstr>Origin Graph</vt:lpstr>
      <vt:lpstr>Modeling of Attempt-to-Escape Frequency: Tunneling Emission of Trapped Electrons in Tunneling Oxides of 3-D NAND Flash Memory</vt:lpstr>
      <vt:lpstr>Fig. 1</vt:lpstr>
      <vt:lpstr>Fig. 2</vt:lpstr>
      <vt:lpstr>Fig.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MYUNG JIN</dc:creator>
  <cp:lastModifiedBy>MYUNG JIN</cp:lastModifiedBy>
  <cp:revision>22</cp:revision>
  <dcterms:created xsi:type="dcterms:W3CDTF">2024-12-18T11:05:27Z</dcterms:created>
  <dcterms:modified xsi:type="dcterms:W3CDTF">2026-03-30T15:37:12Z</dcterms:modified>
</cp:coreProperties>
</file>